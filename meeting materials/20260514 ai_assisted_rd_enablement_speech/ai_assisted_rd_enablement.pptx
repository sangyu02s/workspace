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9" r:id="rId21"/>
    <p:sldId id="275" r:id="rId22"/>
    <p:sldId id="276" r:id="rId23"/>
    <p:sldId id="277" r:id="rId24"/>
    <p:sldId id="278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3" d="100"/>
          <a:sy n="153" d="100"/>
        </p:scale>
        <p:origin x="576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656832"/>
          </a:xfrm>
          <a:prstGeom prst="rect">
            <a:avLst/>
          </a:prstGeom>
          <a:solidFill>
            <a:srgbClr val="C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68096" y="1097280"/>
            <a:ext cx="6766560" cy="640080"/>
          </a:xfrm>
          <a:prstGeom prst="rect">
            <a:avLst/>
          </a:prstGeom>
          <a:noFill/>
        </p:spPr>
        <p:txBody>
          <a:bodyPr wrap="square" lIns="25603" tIns="25603" rIns="25603" bIns="25603" anchor="t">
            <a:normAutofit lnSpcReduction="10000"/>
          </a:bodyPr>
          <a:lstStyle/>
          <a:p>
            <a:pPr algn="l">
              <a:lnSpc>
                <a:spcPct val="107000"/>
              </a:lnSpc>
              <a:spcAft>
                <a:spcPts val="120"/>
              </a:spcAft>
            </a:pPr>
            <a:r>
              <a:rPr sz="3934" b="1">
                <a:solidFill>
                  <a:srgbClr val="1A202C"/>
                </a:solidFill>
                <a:latin typeface="Microsoft YaHei"/>
              </a:rPr>
              <a:t>AI 辅助研发赋能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828800"/>
            <a:ext cx="1005840" cy="73152"/>
          </a:xfrm>
          <a:prstGeom prst="rect">
            <a:avLst/>
          </a:prstGeom>
          <a:solidFill>
            <a:srgbClr val="C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2039112"/>
            <a:ext cx="6583680" cy="329184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1800" b="0">
                <a:solidFill>
                  <a:srgbClr val="5F6773"/>
                </a:solidFill>
                <a:latin typeface="Microsoft YaHei"/>
              </a:rPr>
              <a:t>从大模型演进、AI Agent 到 OpenSpec 需求开发实践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" y="2651760"/>
            <a:ext cx="4389120" cy="530352"/>
          </a:xfrm>
          <a:prstGeom prst="roundRect">
            <a:avLst/>
          </a:prstGeom>
          <a:solidFill>
            <a:srgbClr val="FFF4F4"/>
          </a:solidFill>
          <a:ln>
            <a:solidFill>
              <a:srgbClr val="EE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788920"/>
            <a:ext cx="3977639" cy="201168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1023" b="1">
                <a:solidFill>
                  <a:srgbClr val="C4141C"/>
                </a:solidFill>
                <a:latin typeface="Microsoft YaHei"/>
              </a:rPr>
              <a:t>Author: My ChatGPT and 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547872"/>
            <a:ext cx="2286000" cy="201168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1003" b="1">
                <a:solidFill>
                  <a:srgbClr val="1A202C"/>
                </a:solidFill>
                <a:latin typeface="Microsoft YaHei"/>
              </a:rPr>
              <a:t>提纲 / Outline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52360" y="1097280"/>
            <a:ext cx="41148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680960" y="1325880"/>
            <a:ext cx="3639312" cy="329184"/>
          </a:xfrm>
          <a:prstGeom prst="roundRect">
            <a:avLst/>
          </a:prstGeom>
          <a:solidFill>
            <a:srgbClr val="FAFBFC"/>
          </a:solidFill>
          <a:ln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845552" y="1408176"/>
            <a:ext cx="2286000" cy="128016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620" b="0">
                <a:solidFill>
                  <a:srgbClr val="5F6773"/>
                </a:solidFill>
                <a:latin typeface="Microsoft YaHei"/>
              </a:rPr>
              <a:t>ai_assisted_rd_enablement.md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18120" y="2084831"/>
            <a:ext cx="777240" cy="310896"/>
          </a:xfrm>
          <a:prstGeom prst="roundRect">
            <a:avLst/>
          </a:prstGeom>
          <a:solidFill>
            <a:srgbClr val="FFF4F4"/>
          </a:solidFill>
          <a:ln>
            <a:solidFill>
              <a:srgbClr val="EE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891272" y="2185416"/>
            <a:ext cx="640080" cy="109728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 fontScale="92500" lnSpcReduction="20000"/>
          </a:bodyPr>
          <a:lstStyle/>
          <a:p>
            <a:pPr algn="ctr">
              <a:lnSpc>
                <a:spcPct val="102000"/>
              </a:lnSpc>
              <a:spcAft>
                <a:spcPts val="40"/>
              </a:spcAft>
            </a:pPr>
            <a:r>
              <a:rPr sz="620" b="1">
                <a:solidFill>
                  <a:srgbClr val="C4141C"/>
                </a:solidFill>
                <a:latin typeface="Microsoft YaHei"/>
              </a:rPr>
              <a:t>Prompt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49640" y="2560320"/>
            <a:ext cx="777240" cy="310896"/>
          </a:xfrm>
          <a:prstGeom prst="roundRect">
            <a:avLst/>
          </a:prstGeom>
          <a:solidFill>
            <a:srgbClr val="FAFBFC"/>
          </a:solidFill>
          <a:ln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22792" y="2660904"/>
            <a:ext cx="640080" cy="109728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 fontScale="92500" lnSpcReduction="20000"/>
          </a:bodyPr>
          <a:lstStyle/>
          <a:p>
            <a:pPr algn="ctr">
              <a:lnSpc>
                <a:spcPct val="102000"/>
              </a:lnSpc>
              <a:spcAft>
                <a:spcPts val="40"/>
              </a:spcAft>
            </a:pPr>
            <a:r>
              <a:rPr sz="620" b="1">
                <a:solidFill>
                  <a:srgbClr val="5F6773"/>
                </a:solidFill>
                <a:latin typeface="Microsoft YaHei"/>
              </a:rPr>
              <a:t>Context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81160" y="2084831"/>
            <a:ext cx="777240" cy="310896"/>
          </a:xfrm>
          <a:prstGeom prst="roundRect">
            <a:avLst/>
          </a:prstGeom>
          <a:solidFill>
            <a:srgbClr val="FFF4F4"/>
          </a:solidFill>
          <a:ln>
            <a:solidFill>
              <a:srgbClr val="EE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354312" y="2185416"/>
            <a:ext cx="640080" cy="109728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 fontScale="92500" lnSpcReduction="20000"/>
          </a:bodyPr>
          <a:lstStyle/>
          <a:p>
            <a:pPr algn="ctr">
              <a:lnSpc>
                <a:spcPct val="102000"/>
              </a:lnSpc>
              <a:spcAft>
                <a:spcPts val="40"/>
              </a:spcAft>
            </a:pPr>
            <a:r>
              <a:rPr sz="620" b="1">
                <a:solidFill>
                  <a:srgbClr val="C4141C"/>
                </a:solidFill>
                <a:latin typeface="Microsoft YaHei"/>
              </a:rPr>
              <a:t>Agent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12680" y="2560320"/>
            <a:ext cx="777240" cy="310896"/>
          </a:xfrm>
          <a:prstGeom prst="roundRect">
            <a:avLst/>
          </a:prstGeom>
          <a:solidFill>
            <a:srgbClr val="FFF4F4"/>
          </a:solidFill>
          <a:ln>
            <a:solidFill>
              <a:srgbClr val="EE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085832" y="2660904"/>
            <a:ext cx="640080" cy="109728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 fontScale="92500" lnSpcReduction="20000"/>
          </a:bodyPr>
          <a:lstStyle/>
          <a:p>
            <a:pPr algn="ctr">
              <a:lnSpc>
                <a:spcPct val="102000"/>
              </a:lnSpc>
              <a:spcAft>
                <a:spcPts val="40"/>
              </a:spcAft>
            </a:pPr>
            <a:r>
              <a:rPr sz="620" b="1" dirty="0" err="1">
                <a:solidFill>
                  <a:srgbClr val="C4141C"/>
                </a:solidFill>
                <a:latin typeface="Microsoft YaHei"/>
              </a:rPr>
              <a:t>OpenSpec</a:t>
            </a:r>
            <a:endParaRPr sz="620" b="1" dirty="0">
              <a:solidFill>
                <a:srgbClr val="C4141C"/>
              </a:solidFill>
              <a:latin typeface="Microsoft YaHei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10744200" y="2084831"/>
            <a:ext cx="777240" cy="310896"/>
          </a:xfrm>
          <a:prstGeom prst="roundRect">
            <a:avLst/>
          </a:prstGeom>
          <a:solidFill>
            <a:srgbClr val="FAFBFC"/>
          </a:solidFill>
          <a:ln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817352" y="2185416"/>
            <a:ext cx="640080" cy="109728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 fontScale="92500" lnSpcReduction="20000"/>
          </a:bodyPr>
          <a:lstStyle/>
          <a:p>
            <a:pPr algn="ctr">
              <a:lnSpc>
                <a:spcPct val="102000"/>
              </a:lnSpc>
              <a:spcAft>
                <a:spcPts val="40"/>
              </a:spcAft>
            </a:pPr>
            <a:r>
              <a:rPr sz="620" b="1">
                <a:solidFill>
                  <a:srgbClr val="5F6773"/>
                </a:solidFill>
                <a:latin typeface="Microsoft YaHei"/>
              </a:rPr>
              <a:t>Review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18120" y="3218688"/>
            <a:ext cx="3246120" cy="438912"/>
          </a:xfrm>
          <a:prstGeom prst="roundRect">
            <a:avLst/>
          </a:prstGeom>
          <a:solidFill>
            <a:srgbClr val="FFF4F4"/>
          </a:solidFill>
          <a:ln>
            <a:solidFill>
              <a:srgbClr val="EE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065008" y="3346704"/>
            <a:ext cx="2743200" cy="128016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620" b="1">
                <a:solidFill>
                  <a:srgbClr val="C4141C"/>
                </a:solidFill>
                <a:latin typeface="Microsoft YaHei"/>
              </a:rPr>
              <a:t>Prompt → Context → Tools → Human Review</a:t>
            </a:r>
          </a:p>
        </p:txBody>
      </p:sp>
      <p:sp>
        <p:nvSpPr>
          <p:cNvPr id="36" name="Oval 35"/>
          <p:cNvSpPr/>
          <p:nvPr/>
        </p:nvSpPr>
        <p:spPr>
          <a:xfrm>
            <a:off x="7818120" y="4069080"/>
            <a:ext cx="64008" cy="64008"/>
          </a:xfrm>
          <a:prstGeom prst="ellipse">
            <a:avLst/>
          </a:prstGeom>
          <a:solidFill>
            <a:srgbClr val="C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955279" y="4014215"/>
            <a:ext cx="3291840" cy="146304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644" b="0">
                <a:solidFill>
                  <a:srgbClr val="5F6773"/>
                </a:solidFill>
                <a:latin typeface="Microsoft YaHei"/>
              </a:rPr>
              <a:t>让 AI 多干活，但别让 AI 独自拍板</a:t>
            </a:r>
          </a:p>
        </p:txBody>
      </p:sp>
      <p:sp>
        <p:nvSpPr>
          <p:cNvPr id="38" name="Oval 37"/>
          <p:cNvSpPr/>
          <p:nvPr/>
        </p:nvSpPr>
        <p:spPr>
          <a:xfrm>
            <a:off x="7818120" y="4398264"/>
            <a:ext cx="64008" cy="64008"/>
          </a:xfrm>
          <a:prstGeom prst="ellipse">
            <a:avLst/>
          </a:prstGeom>
          <a:solidFill>
            <a:srgbClr val="C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955279" y="4343400"/>
            <a:ext cx="3291840" cy="146304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644" b="0">
                <a:solidFill>
                  <a:srgbClr val="5F6773"/>
                </a:solidFill>
                <a:latin typeface="Microsoft YaHei"/>
              </a:rPr>
              <a:t>先澄清需求，再让 Agent 执行</a:t>
            </a:r>
          </a:p>
        </p:txBody>
      </p:sp>
      <p:sp>
        <p:nvSpPr>
          <p:cNvPr id="40" name="Oval 39"/>
          <p:cNvSpPr/>
          <p:nvPr/>
        </p:nvSpPr>
        <p:spPr>
          <a:xfrm>
            <a:off x="7818120" y="4727448"/>
            <a:ext cx="64008" cy="64008"/>
          </a:xfrm>
          <a:prstGeom prst="ellipse">
            <a:avLst/>
          </a:prstGeom>
          <a:solidFill>
            <a:srgbClr val="C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955279" y="4672583"/>
            <a:ext cx="3291840" cy="146304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644" b="0">
                <a:solidFill>
                  <a:srgbClr val="5F6773"/>
                </a:solidFill>
                <a:latin typeface="Microsoft YaHei"/>
              </a:rPr>
              <a:t>用规范、测试与 Review 驯服 AI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455664"/>
            <a:ext cx="61264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>
                <a:solidFill>
                  <a:srgbClr val="5C6471"/>
                </a:solidFill>
                <a:latin typeface="Microsoft YaHei"/>
              </a:rPr>
              <a:t>本次目标：带大家入门 AI 辅助研发，把工具真正用起来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42248" y="6455664"/>
            <a:ext cx="1133856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80">
                <a:solidFill>
                  <a:srgbClr val="5C6471"/>
                </a:solidFill>
                <a:latin typeface="Microsoft YaHei"/>
              </a:rPr>
              <a:t>2026 年 5 月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104120" y="6464808"/>
            <a:ext cx="9144" cy="128016"/>
          </a:xfrm>
          <a:prstGeom prst="rect">
            <a:avLst/>
          </a:prstGeom>
          <a:solidFill>
            <a:srgbClr val="D7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9568" y="6382512"/>
            <a:ext cx="266315" cy="201168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0552176" y="6437376"/>
            <a:ext cx="758952" cy="1280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0" b="1">
                <a:solidFill>
                  <a:srgbClr val="1A202C"/>
                </a:solidFill>
                <a:latin typeface="Arial"/>
              </a:rPr>
              <a:t>HUAWEI</a:t>
            </a:r>
          </a:p>
        </p:txBody>
      </p:sp>
      <p:sp>
        <p:nvSpPr>
          <p:cNvPr id="47" name="Oval 46"/>
          <p:cNvSpPr/>
          <p:nvPr/>
        </p:nvSpPr>
        <p:spPr>
          <a:xfrm>
            <a:off x="841248" y="3831336"/>
            <a:ext cx="201168" cy="201168"/>
          </a:xfrm>
          <a:prstGeom prst="ellipse">
            <a:avLst/>
          </a:prstGeom>
          <a:solidFill>
            <a:srgbClr val="C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133856" y="3803904"/>
            <a:ext cx="38404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C4141C"/>
                </a:solidFill>
                <a:latin typeface="Microsoft YaHei"/>
              </a:rPr>
              <a:t>01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91056" y="3803904"/>
            <a:ext cx="5394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C6471"/>
                </a:solidFill>
                <a:latin typeface="Microsoft YaHei"/>
              </a:rPr>
              <a:t>AI 发展与代码辅助开发演进</a:t>
            </a:r>
          </a:p>
        </p:txBody>
      </p:sp>
      <p:sp>
        <p:nvSpPr>
          <p:cNvPr id="50" name="Oval 49"/>
          <p:cNvSpPr/>
          <p:nvPr/>
        </p:nvSpPr>
        <p:spPr>
          <a:xfrm>
            <a:off x="841248" y="4215384"/>
            <a:ext cx="201168" cy="201168"/>
          </a:xfrm>
          <a:prstGeom prst="ellipse">
            <a:avLst/>
          </a:prstGeom>
          <a:solidFill>
            <a:srgbClr val="C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133856" y="4187952"/>
            <a:ext cx="38404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C4141C"/>
                </a:solidFill>
                <a:latin typeface="Microsoft YaHei"/>
              </a:rPr>
              <a:t>02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91056" y="4187952"/>
            <a:ext cx="5394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C6471"/>
                </a:solidFill>
                <a:latin typeface="Microsoft YaHei"/>
              </a:rPr>
              <a:t>AI Agent：概念、机制与实践</a:t>
            </a:r>
          </a:p>
        </p:txBody>
      </p:sp>
      <p:sp>
        <p:nvSpPr>
          <p:cNvPr id="53" name="Oval 52"/>
          <p:cNvSpPr/>
          <p:nvPr/>
        </p:nvSpPr>
        <p:spPr>
          <a:xfrm>
            <a:off x="841248" y="4599432"/>
            <a:ext cx="201168" cy="201168"/>
          </a:xfrm>
          <a:prstGeom prst="ellipse">
            <a:avLst/>
          </a:prstGeom>
          <a:solidFill>
            <a:srgbClr val="C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133856" y="4572000"/>
            <a:ext cx="38404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C4141C"/>
                </a:solidFill>
                <a:latin typeface="Microsoft YaHei"/>
              </a:rPr>
              <a:t>03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591056" y="4572000"/>
            <a:ext cx="5394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C6471"/>
                </a:solidFill>
                <a:latin typeface="Microsoft YaHei"/>
              </a:rPr>
              <a:t>OpenSpec：规格驱动需求开发</a:t>
            </a:r>
          </a:p>
        </p:txBody>
      </p:sp>
      <p:sp>
        <p:nvSpPr>
          <p:cNvPr id="56" name="Oval 55"/>
          <p:cNvSpPr/>
          <p:nvPr/>
        </p:nvSpPr>
        <p:spPr>
          <a:xfrm>
            <a:off x="841248" y="4983480"/>
            <a:ext cx="201168" cy="201168"/>
          </a:xfrm>
          <a:prstGeom prst="ellipse">
            <a:avLst/>
          </a:prstGeom>
          <a:solidFill>
            <a:srgbClr val="C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133856" y="4956048"/>
            <a:ext cx="38404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C4141C"/>
                </a:solidFill>
                <a:latin typeface="Microsoft YaHei"/>
              </a:rPr>
              <a:t>04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91056" y="4956048"/>
            <a:ext cx="5394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5C6471"/>
                </a:solidFill>
                <a:latin typeface="Microsoft YaHei"/>
              </a:rPr>
              <a:t>赋能总结：价值、误区与拥抱方式</a:t>
            </a:r>
          </a:p>
        </p:txBody>
      </p:sp>
      <p:sp>
        <p:nvSpPr>
          <p:cNvPr id="59" name="Oval 58"/>
          <p:cNvSpPr/>
          <p:nvPr/>
        </p:nvSpPr>
        <p:spPr>
          <a:xfrm>
            <a:off x="841248" y="5367528"/>
            <a:ext cx="201168" cy="201168"/>
          </a:xfrm>
          <a:prstGeom prst="ellipse">
            <a:avLst/>
          </a:prstGeom>
          <a:solidFill>
            <a:srgbClr val="C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133856" y="5340096"/>
            <a:ext cx="38404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C4141C"/>
                </a:solidFill>
                <a:latin typeface="Microsoft YaHei"/>
              </a:rPr>
              <a:t>05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591056" y="5340096"/>
            <a:ext cx="5394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60" b="0">
                <a:solidFill>
                  <a:srgbClr val="5C6471"/>
                </a:solidFill>
                <a:latin typeface="Microsoft YaHei"/>
              </a:rPr>
              <a:t>AI Agent 协作开发范式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86384" y="1609344"/>
            <a:ext cx="1828800" cy="182880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878" b="1">
                <a:solidFill>
                  <a:srgbClr val="C4141C"/>
                </a:solidFill>
                <a:latin typeface="Microsoft YaHei"/>
              </a:rPr>
              <a:t>SECTION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04672" y="1901952"/>
            <a:ext cx="804672" cy="54864"/>
          </a:xfrm>
          <a:prstGeom prst="rect">
            <a:avLst/>
          </a:prstGeom>
          <a:solidFill>
            <a:srgbClr val="C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86383" y="2139696"/>
            <a:ext cx="7197031" cy="749808"/>
          </a:xfrm>
          <a:prstGeom prst="rect">
            <a:avLst/>
          </a:prstGeom>
          <a:noFill/>
        </p:spPr>
        <p:txBody>
          <a:bodyPr wrap="square" lIns="25603" tIns="25603" rIns="25603" bIns="25603" anchor="t">
            <a:normAutofit/>
          </a:bodyPr>
          <a:lstStyle/>
          <a:p>
            <a:pPr algn="l">
              <a:lnSpc>
                <a:spcPct val="107000"/>
              </a:lnSpc>
              <a:spcAft>
                <a:spcPts val="120"/>
              </a:spcAft>
            </a:pPr>
            <a:r>
              <a:rPr sz="3100" b="1" dirty="0" err="1">
                <a:solidFill>
                  <a:srgbClr val="1A202C"/>
                </a:solidFill>
                <a:latin typeface="Microsoft YaHei"/>
              </a:rPr>
              <a:t>第一部分｜AI</a:t>
            </a:r>
            <a:r>
              <a:rPr sz="3100" b="1" dirty="0">
                <a:solidFill>
                  <a:srgbClr val="1A202C"/>
                </a:solidFill>
                <a:latin typeface="Microsoft YaHei"/>
              </a:rPr>
              <a:t> </a:t>
            </a:r>
            <a:r>
              <a:rPr sz="3100" b="1" dirty="0" err="1">
                <a:solidFill>
                  <a:srgbClr val="1A202C"/>
                </a:solidFill>
                <a:latin typeface="Microsoft YaHei"/>
              </a:rPr>
              <a:t>发展与代码辅助开发演进</a:t>
            </a:r>
            <a:endParaRPr sz="3100" b="1" dirty="0">
              <a:solidFill>
                <a:srgbClr val="1A202C"/>
              </a:solidFill>
              <a:latin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3054096"/>
            <a:ext cx="7863840" cy="310896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1644" b="0" dirty="0">
                <a:solidFill>
                  <a:srgbClr val="5F6773"/>
                </a:solidFill>
                <a:latin typeface="Microsoft YaHei"/>
              </a:rPr>
              <a:t>从 ChatGPT </a:t>
            </a:r>
            <a:r>
              <a:rPr sz="1644" b="0" dirty="0" err="1">
                <a:solidFill>
                  <a:srgbClr val="5F6773"/>
                </a:solidFill>
                <a:latin typeface="Microsoft YaHei"/>
              </a:rPr>
              <a:t>问世到</a:t>
            </a:r>
            <a:r>
              <a:rPr sz="1644" b="0" dirty="0">
                <a:solidFill>
                  <a:srgbClr val="5F6773"/>
                </a:solidFill>
                <a:latin typeface="Microsoft YaHei"/>
              </a:rPr>
              <a:t> Coding Agent </a:t>
            </a:r>
            <a:r>
              <a:rPr sz="1644" b="0" dirty="0" err="1">
                <a:solidFill>
                  <a:srgbClr val="5F6773"/>
                </a:solidFill>
                <a:latin typeface="Microsoft YaHei"/>
              </a:rPr>
              <a:t>逐步走进研发工作流</a:t>
            </a:r>
            <a:endParaRPr sz="1644" b="0" dirty="0">
              <a:solidFill>
                <a:srgbClr val="5F6773"/>
              </a:solidFill>
              <a:latin typeface="Microsoft YaHe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2011680"/>
            <a:ext cx="411480" cy="164592"/>
          </a:xfrm>
          <a:prstGeom prst="round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549640" y="2606040"/>
            <a:ext cx="685800" cy="164592"/>
          </a:xfrm>
          <a:prstGeom prst="roundRect">
            <a:avLst/>
          </a:prstGeom>
          <a:solidFill>
            <a:srgbClr val="C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549640" y="3200400"/>
            <a:ext cx="1051560" cy="164592"/>
          </a:xfrm>
          <a:prstGeom prst="round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046720" y="4224528"/>
            <a:ext cx="2560320" cy="457200"/>
          </a:xfrm>
          <a:prstGeom prst="roundRect">
            <a:avLst/>
          </a:prstGeom>
          <a:solidFill>
            <a:srgbClr val="FFF4F4"/>
          </a:solidFill>
          <a:ln>
            <a:solidFill>
              <a:srgbClr val="EE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02752" y="4370832"/>
            <a:ext cx="2057400" cy="109728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 fontScale="92500" lnSpcReduction="20000"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638" b="1">
                <a:solidFill>
                  <a:srgbClr val="C4141C"/>
                </a:solidFill>
                <a:latin typeface="Microsoft YaHei"/>
              </a:rPr>
              <a:t>从知识到流程，从工具到方法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55664"/>
            <a:ext cx="61264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>
                <a:solidFill>
                  <a:srgbClr val="5C6471"/>
                </a:solidFill>
                <a:latin typeface="Microsoft YaHei"/>
              </a:rPr>
              <a:t>本次目标：带大家入门 AI 辅助研发，把工具真正用起来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42248" y="6455664"/>
            <a:ext cx="1133856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80">
                <a:solidFill>
                  <a:srgbClr val="5C6471"/>
                </a:solidFill>
                <a:latin typeface="Microsoft YaHei"/>
              </a:rPr>
              <a:t>2026 年 5 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104120" y="6464808"/>
            <a:ext cx="9144" cy="128016"/>
          </a:xfrm>
          <a:prstGeom prst="rect">
            <a:avLst/>
          </a:prstGeom>
          <a:solidFill>
            <a:srgbClr val="D7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9568" y="6382512"/>
            <a:ext cx="266315" cy="201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552176" y="6437376"/>
            <a:ext cx="758952" cy="1280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0" b="1">
                <a:solidFill>
                  <a:srgbClr val="1A202C"/>
                </a:solidFill>
                <a:latin typeface="Arial"/>
              </a:rPr>
              <a:t>HUAWEI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94360" y="411480"/>
            <a:ext cx="9052560" cy="502920"/>
          </a:xfrm>
          <a:prstGeom prst="rect">
            <a:avLst/>
          </a:prstGeom>
          <a:noFill/>
          <a:ln/>
        </p:spPr>
        <p:txBody>
          <a:bodyPr wrap="square" lIns="25603" tIns="25603" rIns="25603" bIns="25603" rtlCol="0" anchor="t">
            <a:normAutofit lnSpcReduction="10000"/>
          </a:bodyPr>
          <a:lstStyle/>
          <a:p>
            <a:pPr marL="0" indent="0" algn="l">
              <a:lnSpc>
                <a:spcPct val="107000"/>
              </a:lnSpc>
              <a:spcAft>
                <a:spcPts val="120"/>
              </a:spcAft>
              <a:buNone/>
            </a:pPr>
            <a:r>
              <a:rPr lang="en-US" sz="2947" b="1" dirty="0" err="1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过去三年：AI</a:t>
            </a:r>
            <a:r>
              <a:rPr lang="en-US" sz="2947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从“会对话”走向“会执行”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12648" y="960120"/>
            <a:ext cx="8503920" cy="292608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 algn="l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14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大模型能力完成四次连续跃迁，逐步从自然语言入口进入真实工作流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12648" y="1353312"/>
            <a:ext cx="530352" cy="50292"/>
          </a:xfrm>
          <a:prstGeom prst="rect">
            <a:avLst/>
          </a:prstGeom>
          <a:solidFill>
            <a:srgbClr val="D719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6" name="Shape 4"/>
          <p:cNvSpPr/>
          <p:nvPr/>
        </p:nvSpPr>
        <p:spPr>
          <a:xfrm>
            <a:off x="612648" y="1572768"/>
            <a:ext cx="10972800" cy="621792"/>
          </a:xfrm>
          <a:prstGeom prst="roundRect">
            <a:avLst>
              <a:gd name="adj" fmla="val 17647"/>
            </a:avLst>
          </a:prstGeom>
          <a:solidFill>
            <a:srgbClr val="FAFAFA"/>
          </a:solidFill>
          <a:ln w="12700">
            <a:solidFill>
              <a:srgbClr val="ECEFF3"/>
            </a:solidFill>
            <a:prstDash val="solid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7" name="Text 5"/>
          <p:cNvSpPr/>
          <p:nvPr/>
        </p:nvSpPr>
        <p:spPr>
          <a:xfrm>
            <a:off x="868680" y="1719072"/>
            <a:ext cx="10469880" cy="256032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 algn="l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128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核心变化不是“AI 更会写答案”，而是它开始理解更复杂的上下文、调用工具、参与工作流，并围绕目标持续推进任务。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12648" y="2487168"/>
            <a:ext cx="260604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blurRad="25400" dist="50800" dir="2700000" algn="bl" rotWithShape="0">
              <a:srgbClr val="000000">
                <a:alpha val="8000"/>
              </a:srgbClr>
            </a:outerShdw>
          </a:effectLst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9" name="Shape 7"/>
          <p:cNvSpPr/>
          <p:nvPr/>
        </p:nvSpPr>
        <p:spPr>
          <a:xfrm>
            <a:off x="795528" y="2670048"/>
            <a:ext cx="438912" cy="256032"/>
          </a:xfrm>
          <a:prstGeom prst="roundRect">
            <a:avLst>
              <a:gd name="adj" fmla="val 28571"/>
            </a:avLst>
          </a:prstGeom>
          <a:solidFill>
            <a:srgbClr val="FFF1F2"/>
          </a:solidFill>
          <a:ln w="7620">
            <a:solidFill>
              <a:srgbClr val="FDE2E4"/>
            </a:solidFill>
            <a:prstDash val="solid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10" name="Text 8"/>
          <p:cNvSpPr/>
          <p:nvPr/>
        </p:nvSpPr>
        <p:spPr>
          <a:xfrm>
            <a:off x="868680" y="2711196"/>
            <a:ext cx="329184" cy="137160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 algn="ctr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b="1" dirty="0">
                <a:solidFill>
                  <a:srgbClr val="D719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95528" y="3054096"/>
            <a:ext cx="2240280" cy="256032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 algn="l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13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对话式入口化</a:t>
            </a:r>
            <a:endParaRPr lang="en-US" sz="1530" dirty="0"/>
          </a:p>
        </p:txBody>
      </p:sp>
      <p:sp>
        <p:nvSpPr>
          <p:cNvPr id="12" name="Text 10"/>
          <p:cNvSpPr/>
          <p:nvPr/>
        </p:nvSpPr>
        <p:spPr>
          <a:xfrm>
            <a:off x="795528" y="3392424"/>
            <a:ext cx="2240280" cy="228600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 algn="l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1030" b="1" dirty="0">
                <a:solidFill>
                  <a:srgbClr val="D719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2022.11 · ChatGPT 发布</a:t>
            </a:r>
            <a:endParaRPr lang="en-US" sz="1030" dirty="0"/>
          </a:p>
        </p:txBody>
      </p:sp>
      <p:sp>
        <p:nvSpPr>
          <p:cNvPr id="13" name="Text 11"/>
          <p:cNvSpPr/>
          <p:nvPr/>
        </p:nvSpPr>
        <p:spPr>
          <a:xfrm>
            <a:off x="795528" y="3749040"/>
            <a:ext cx="2240280" cy="347472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 algn="l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12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终于“说人话”了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5528" y="4242816"/>
            <a:ext cx="2240280" cy="0"/>
          </a:xfrm>
          <a:prstGeom prst="line">
            <a:avLst/>
          </a:prstGeom>
          <a:noFill/>
          <a:ln w="12700">
            <a:solidFill>
              <a:srgbClr val="F0F1F4"/>
            </a:solidFill>
            <a:prstDash val="solid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15" name="Text 13"/>
          <p:cNvSpPr/>
          <p:nvPr/>
        </p:nvSpPr>
        <p:spPr>
          <a:xfrm>
            <a:off x="795528" y="4389120"/>
            <a:ext cx="2240280" cy="475488"/>
          </a:xfrm>
          <a:prstGeom prst="rect">
            <a:avLst/>
          </a:prstGeom>
          <a:noFill/>
          <a:ln/>
        </p:spPr>
        <p:txBody>
          <a:bodyPr wrap="square" lIns="25603" tIns="25603" rIns="25603" bIns="25603" rtlCol="0" anchor="t">
            <a:normAutofit fontScale="92500" lnSpcReduction="20000"/>
          </a:bodyPr>
          <a:lstStyle/>
          <a:p>
            <a:pPr marL="0" indent="0" algn="l">
              <a:lnSpc>
                <a:spcPct val="107000"/>
              </a:lnSpc>
              <a:spcAft>
                <a:spcPts val="120"/>
              </a:spcAft>
              <a:buNone/>
            </a:pPr>
            <a:r>
              <a:rPr lang="en-US" sz="104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上线约 2 个月达到约 1 亿月活用户；大模型第一次以聊天窗口的形式站到每个人面前。</a:t>
            </a:r>
            <a:endParaRPr lang="en-US" sz="1040" dirty="0"/>
          </a:p>
        </p:txBody>
      </p:sp>
      <p:sp>
        <p:nvSpPr>
          <p:cNvPr id="16" name="Shape 14"/>
          <p:cNvSpPr/>
          <p:nvPr/>
        </p:nvSpPr>
        <p:spPr>
          <a:xfrm>
            <a:off x="3401568" y="2487168"/>
            <a:ext cx="260604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blurRad="25400" dist="50800" dir="2700000" algn="bl" rotWithShape="0">
              <a:srgbClr val="000000">
                <a:alpha val="8000"/>
              </a:srgbClr>
            </a:outerShdw>
          </a:effectLst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17" name="Shape 15"/>
          <p:cNvSpPr/>
          <p:nvPr/>
        </p:nvSpPr>
        <p:spPr>
          <a:xfrm>
            <a:off x="3584448" y="2670048"/>
            <a:ext cx="438912" cy="256032"/>
          </a:xfrm>
          <a:prstGeom prst="roundRect">
            <a:avLst>
              <a:gd name="adj" fmla="val 28571"/>
            </a:avLst>
          </a:prstGeom>
          <a:solidFill>
            <a:srgbClr val="FFF1F2"/>
          </a:solidFill>
          <a:ln w="7620">
            <a:solidFill>
              <a:srgbClr val="FDE2E4"/>
            </a:solidFill>
            <a:prstDash val="solid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18" name="Text 16"/>
          <p:cNvSpPr/>
          <p:nvPr/>
        </p:nvSpPr>
        <p:spPr>
          <a:xfrm>
            <a:off x="3657600" y="2711196"/>
            <a:ext cx="329184" cy="137160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 algn="ctr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b="1" dirty="0">
                <a:solidFill>
                  <a:srgbClr val="D719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584448" y="3054096"/>
            <a:ext cx="2240280" cy="256032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 algn="l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13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多模态与长上下文化</a:t>
            </a:r>
            <a:endParaRPr lang="en-US" sz="1530" dirty="0"/>
          </a:p>
        </p:txBody>
      </p:sp>
      <p:sp>
        <p:nvSpPr>
          <p:cNvPr id="20" name="Text 18"/>
          <p:cNvSpPr/>
          <p:nvPr/>
        </p:nvSpPr>
        <p:spPr>
          <a:xfrm>
            <a:off x="3584448" y="3392424"/>
            <a:ext cx="2240280" cy="228600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 algn="l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1030" b="1" dirty="0">
                <a:solidFill>
                  <a:srgbClr val="D719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 · GPT‑4 / GPT‑4V</a:t>
            </a:r>
            <a:endParaRPr lang="en-US" sz="1030" dirty="0"/>
          </a:p>
        </p:txBody>
      </p:sp>
      <p:sp>
        <p:nvSpPr>
          <p:cNvPr id="21" name="Text 19"/>
          <p:cNvSpPr/>
          <p:nvPr/>
        </p:nvSpPr>
        <p:spPr>
          <a:xfrm>
            <a:off x="3584448" y="3749040"/>
            <a:ext cx="2240280" cy="347472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 algn="l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12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开始“看得更多、记得更长”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584448" y="4242816"/>
            <a:ext cx="2240280" cy="0"/>
          </a:xfrm>
          <a:prstGeom prst="line">
            <a:avLst/>
          </a:prstGeom>
          <a:noFill/>
          <a:ln w="12700">
            <a:solidFill>
              <a:srgbClr val="F0F1F4"/>
            </a:solidFill>
            <a:prstDash val="solid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23" name="Text 21"/>
          <p:cNvSpPr/>
          <p:nvPr/>
        </p:nvSpPr>
        <p:spPr>
          <a:xfrm>
            <a:off x="3584448" y="4389120"/>
            <a:ext cx="2240280" cy="475488"/>
          </a:xfrm>
          <a:prstGeom prst="rect">
            <a:avLst/>
          </a:prstGeom>
          <a:noFill/>
          <a:ln/>
        </p:spPr>
        <p:txBody>
          <a:bodyPr wrap="square" lIns="25603" tIns="25603" rIns="25603" bIns="25603" rtlCol="0" anchor="t">
            <a:normAutofit lnSpcReduction="10000"/>
          </a:bodyPr>
          <a:lstStyle/>
          <a:p>
            <a:pPr marL="0" indent="0" algn="l">
              <a:lnSpc>
                <a:spcPct val="107000"/>
              </a:lnSpc>
              <a:spcAft>
                <a:spcPts val="120"/>
              </a:spcAft>
              <a:buNone/>
            </a:pPr>
            <a:r>
              <a:rPr lang="en-US" sz="927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图片、代码、长文档、日志和报错信息可以被放进同一个分析空间，输入从一句话变成一个工作场景。</a:t>
            </a:r>
            <a:endParaRPr lang="en-US" sz="1040" dirty="0"/>
          </a:p>
        </p:txBody>
      </p:sp>
      <p:sp>
        <p:nvSpPr>
          <p:cNvPr id="24" name="Shape 22"/>
          <p:cNvSpPr/>
          <p:nvPr/>
        </p:nvSpPr>
        <p:spPr>
          <a:xfrm>
            <a:off x="6190488" y="2487168"/>
            <a:ext cx="260604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blurRad="25400" dist="50800" dir="2700000" algn="bl" rotWithShape="0">
              <a:srgbClr val="000000">
                <a:alpha val="8000"/>
              </a:srgbClr>
            </a:outerShdw>
          </a:effectLst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25" name="Shape 23"/>
          <p:cNvSpPr/>
          <p:nvPr/>
        </p:nvSpPr>
        <p:spPr>
          <a:xfrm>
            <a:off x="6373368" y="2670048"/>
            <a:ext cx="438912" cy="256032"/>
          </a:xfrm>
          <a:prstGeom prst="roundRect">
            <a:avLst>
              <a:gd name="adj" fmla="val 28571"/>
            </a:avLst>
          </a:prstGeom>
          <a:solidFill>
            <a:srgbClr val="FFF1F2"/>
          </a:solidFill>
          <a:ln w="7620">
            <a:solidFill>
              <a:srgbClr val="FDE2E4"/>
            </a:solidFill>
            <a:prstDash val="solid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26" name="Text 24"/>
          <p:cNvSpPr/>
          <p:nvPr/>
        </p:nvSpPr>
        <p:spPr>
          <a:xfrm>
            <a:off x="6446520" y="2711196"/>
            <a:ext cx="329184" cy="137160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 algn="ctr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b="1" dirty="0">
                <a:solidFill>
                  <a:srgbClr val="D719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373368" y="3054096"/>
            <a:ext cx="2240280" cy="256032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 algn="l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13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工具调用与工作流化</a:t>
            </a:r>
            <a:endParaRPr lang="en-US" sz="1530" dirty="0"/>
          </a:p>
        </p:txBody>
      </p:sp>
      <p:sp>
        <p:nvSpPr>
          <p:cNvPr id="28" name="Text 26"/>
          <p:cNvSpPr/>
          <p:nvPr/>
        </p:nvSpPr>
        <p:spPr>
          <a:xfrm>
            <a:off x="6373368" y="3392424"/>
            <a:ext cx="2240280" cy="228600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 algn="l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1030" b="1" dirty="0">
                <a:solidFill>
                  <a:srgbClr val="D719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 · Plugins / Function Calling</a:t>
            </a:r>
            <a:endParaRPr lang="en-US" sz="1030" dirty="0"/>
          </a:p>
        </p:txBody>
      </p:sp>
      <p:sp>
        <p:nvSpPr>
          <p:cNvPr id="29" name="Text 27"/>
          <p:cNvSpPr/>
          <p:nvPr/>
        </p:nvSpPr>
        <p:spPr>
          <a:xfrm>
            <a:off x="6373368" y="3749040"/>
            <a:ext cx="2240280" cy="347472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 algn="l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12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不只回答，还能“动手”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73368" y="4242816"/>
            <a:ext cx="2240280" cy="0"/>
          </a:xfrm>
          <a:prstGeom prst="line">
            <a:avLst/>
          </a:prstGeom>
          <a:noFill/>
          <a:ln w="12700">
            <a:solidFill>
              <a:srgbClr val="F0F1F4"/>
            </a:solidFill>
            <a:prstDash val="solid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31" name="Text 29"/>
          <p:cNvSpPr/>
          <p:nvPr/>
        </p:nvSpPr>
        <p:spPr>
          <a:xfrm>
            <a:off x="6373368" y="4389120"/>
            <a:ext cx="2240280" cy="475488"/>
          </a:xfrm>
          <a:prstGeom prst="rect">
            <a:avLst/>
          </a:prstGeom>
          <a:noFill/>
          <a:ln/>
        </p:spPr>
        <p:txBody>
          <a:bodyPr wrap="square" lIns="25603" tIns="25603" rIns="25603" bIns="25603" rtlCol="0" anchor="t">
            <a:normAutofit fontScale="92500" lnSpcReduction="20000"/>
          </a:bodyPr>
          <a:lstStyle/>
          <a:p>
            <a:pPr marL="0" indent="0" algn="l">
              <a:lnSpc>
                <a:spcPct val="107000"/>
              </a:lnSpc>
              <a:spcAft>
                <a:spcPts val="120"/>
              </a:spcAft>
              <a:buNone/>
            </a:pPr>
            <a:r>
              <a:rPr lang="en-US" sz="104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从告诉你怎么做，变成查资料、处理文件、运行代码、连接外部系统，进入具体工作流。</a:t>
            </a:r>
            <a:endParaRPr lang="en-US" sz="1040" dirty="0"/>
          </a:p>
        </p:txBody>
      </p:sp>
      <p:sp>
        <p:nvSpPr>
          <p:cNvPr id="32" name="Shape 30"/>
          <p:cNvSpPr/>
          <p:nvPr/>
        </p:nvSpPr>
        <p:spPr>
          <a:xfrm>
            <a:off x="8979408" y="2487168"/>
            <a:ext cx="260604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  <a:effectLst>
            <a:outerShdw blurRad="25400" dist="50800" dir="2700000" algn="bl" rotWithShape="0">
              <a:srgbClr val="000000">
                <a:alpha val="8000"/>
              </a:srgbClr>
            </a:outerShdw>
          </a:effectLst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33" name="Shape 31"/>
          <p:cNvSpPr/>
          <p:nvPr/>
        </p:nvSpPr>
        <p:spPr>
          <a:xfrm>
            <a:off x="9162288" y="2670048"/>
            <a:ext cx="438912" cy="256032"/>
          </a:xfrm>
          <a:prstGeom prst="roundRect">
            <a:avLst>
              <a:gd name="adj" fmla="val 28571"/>
            </a:avLst>
          </a:prstGeom>
          <a:solidFill>
            <a:srgbClr val="FFF1F2"/>
          </a:solidFill>
          <a:ln w="7620">
            <a:solidFill>
              <a:srgbClr val="FDE2E4"/>
            </a:solidFill>
            <a:prstDash val="solid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34" name="Text 32"/>
          <p:cNvSpPr/>
          <p:nvPr/>
        </p:nvSpPr>
        <p:spPr>
          <a:xfrm>
            <a:off x="9235440" y="2711196"/>
            <a:ext cx="329184" cy="137160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 algn="ctr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b="1" dirty="0">
                <a:solidFill>
                  <a:srgbClr val="D719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9162288" y="3054096"/>
            <a:ext cx="2240280" cy="256032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 algn="l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13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化执行</a:t>
            </a:r>
            <a:endParaRPr lang="en-US" sz="1530" dirty="0"/>
          </a:p>
        </p:txBody>
      </p:sp>
      <p:sp>
        <p:nvSpPr>
          <p:cNvPr id="36" name="Text 34"/>
          <p:cNvSpPr/>
          <p:nvPr/>
        </p:nvSpPr>
        <p:spPr>
          <a:xfrm>
            <a:off x="9162288" y="3392424"/>
            <a:ext cx="2240280" cy="228600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 algn="l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1030" b="1" dirty="0">
                <a:solidFill>
                  <a:srgbClr val="D719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2024–2026 · Coding Agent</a:t>
            </a:r>
            <a:endParaRPr lang="en-US" sz="1030" dirty="0"/>
          </a:p>
        </p:txBody>
      </p:sp>
      <p:sp>
        <p:nvSpPr>
          <p:cNvPr id="37" name="Text 35"/>
          <p:cNvSpPr/>
          <p:nvPr/>
        </p:nvSpPr>
        <p:spPr>
          <a:xfrm>
            <a:off x="9162288" y="3749040"/>
            <a:ext cx="2240280" cy="347472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 algn="l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12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开始围绕目标规划并执行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162288" y="4242816"/>
            <a:ext cx="2240280" cy="0"/>
          </a:xfrm>
          <a:prstGeom prst="line">
            <a:avLst/>
          </a:prstGeom>
          <a:noFill/>
          <a:ln w="12700">
            <a:solidFill>
              <a:srgbClr val="F0F1F4"/>
            </a:solidFill>
            <a:prstDash val="solid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39" name="Text 37"/>
          <p:cNvSpPr/>
          <p:nvPr/>
        </p:nvSpPr>
        <p:spPr>
          <a:xfrm>
            <a:off x="9162288" y="4389120"/>
            <a:ext cx="2240280" cy="475488"/>
          </a:xfrm>
          <a:prstGeom prst="rect">
            <a:avLst/>
          </a:prstGeom>
          <a:noFill/>
          <a:ln/>
        </p:spPr>
        <p:txBody>
          <a:bodyPr wrap="square" lIns="25603" tIns="25603" rIns="25603" bIns="25603" rtlCol="0" anchor="t">
            <a:normAutofit fontScale="92500" lnSpcReduction="20000"/>
          </a:bodyPr>
          <a:lstStyle/>
          <a:p>
            <a:pPr marL="0" indent="0" algn="l">
              <a:lnSpc>
                <a:spcPct val="107000"/>
              </a:lnSpc>
              <a:spcAft>
                <a:spcPts val="120"/>
              </a:spcAft>
              <a:buNone/>
            </a:pPr>
            <a:r>
              <a:rPr lang="en-US" sz="104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从“帮我写函数”升级为“读仓库、定位问题、改代码、跑测试、提交可 review 的变更”。</a:t>
            </a:r>
            <a:endParaRPr lang="en-US" sz="1040" dirty="0"/>
          </a:p>
        </p:txBody>
      </p:sp>
      <p:sp>
        <p:nvSpPr>
          <p:cNvPr id="40" name="Shape 38"/>
          <p:cNvSpPr/>
          <p:nvPr/>
        </p:nvSpPr>
        <p:spPr>
          <a:xfrm>
            <a:off x="612648" y="5468112"/>
            <a:ext cx="9189720" cy="530352"/>
          </a:xfrm>
          <a:prstGeom prst="roundRect">
            <a:avLst>
              <a:gd name="adj" fmla="val 20690"/>
            </a:avLst>
          </a:prstGeom>
          <a:solidFill>
            <a:srgbClr val="FFF7F7"/>
          </a:solidFill>
          <a:ln w="12700">
            <a:solidFill>
              <a:srgbClr val="F7D7DA"/>
            </a:solidFill>
            <a:prstDash val="solid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41" name="Text 39"/>
          <p:cNvSpPr/>
          <p:nvPr/>
        </p:nvSpPr>
        <p:spPr>
          <a:xfrm>
            <a:off x="868680" y="5632704"/>
            <a:ext cx="7452360" cy="201168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 algn="l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985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一句话收束：AI 的价值正在从“生成内容”，转向“完成任务”。</a:t>
            </a:r>
            <a:endParaRPr lang="en-US" sz="1450" dirty="0"/>
          </a:p>
        </p:txBody>
      </p:sp>
      <p:sp>
        <p:nvSpPr>
          <p:cNvPr id="48" name="Rectangle 47"/>
          <p:cNvSpPr/>
          <p:nvPr/>
        </p:nvSpPr>
        <p:spPr>
          <a:xfrm>
            <a:off x="502920" y="576072"/>
            <a:ext cx="384048" cy="32004"/>
          </a:xfrm>
          <a:prstGeom prst="rect">
            <a:avLst/>
          </a:prstGeom>
          <a:solidFill>
            <a:srgbClr val="C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02920" y="6455664"/>
            <a:ext cx="61264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>
                <a:solidFill>
                  <a:srgbClr val="5C6471"/>
                </a:solidFill>
                <a:latin typeface="Microsoft YaHei"/>
              </a:rPr>
              <a:t>本次目标：带大家入门 AI 辅助研发，把工具真正用起来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42248" y="6455664"/>
            <a:ext cx="1133856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80">
                <a:solidFill>
                  <a:srgbClr val="5C6471"/>
                </a:solidFill>
                <a:latin typeface="Microsoft YaHei"/>
              </a:rPr>
              <a:t>2026 年 5 月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104120" y="6464808"/>
            <a:ext cx="9144" cy="128016"/>
          </a:xfrm>
          <a:prstGeom prst="rect">
            <a:avLst/>
          </a:prstGeom>
          <a:solidFill>
            <a:srgbClr val="D7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9568" y="6382512"/>
            <a:ext cx="266315" cy="201168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0552176" y="6437376"/>
            <a:ext cx="758952" cy="1280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0" b="1">
                <a:solidFill>
                  <a:srgbClr val="1A202C"/>
                </a:solidFill>
                <a:latin typeface="Arial"/>
              </a:rPr>
              <a:t>HUAWEI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6568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530352"/>
            <a:ext cx="457200" cy="228600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1070" b="1" dirty="0">
                <a:solidFill>
                  <a:srgbClr val="D00012"/>
                </a:solidFill>
                <a:latin typeface="Microsoft YaHei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60467" y="759307"/>
            <a:ext cx="530352" cy="0"/>
          </a:xfrm>
          <a:prstGeom prst="line">
            <a:avLst/>
          </a:prstGeom>
          <a:noFill/>
          <a:ln w="15240">
            <a:solidFill>
              <a:srgbClr val="D00012"/>
            </a:solidFill>
            <a:prstDash val="solid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7" name="Text 5"/>
          <p:cNvSpPr/>
          <p:nvPr/>
        </p:nvSpPr>
        <p:spPr>
          <a:xfrm>
            <a:off x="640080" y="932688"/>
            <a:ext cx="8686800" cy="420624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2466" b="1" dirty="0">
                <a:solidFill>
                  <a:srgbClr val="1519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代码辅助开发：从“自动补全”到“任务托管”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667512" y="1499616"/>
            <a:ext cx="9829800" cy="219456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101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代码编程是生成式 AI 最早深入影响的领域之一：从帮你写几行代码，走向理解项目、协助决策、执行工程任务。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67512" y="1847088"/>
            <a:ext cx="512064" cy="0"/>
          </a:xfrm>
          <a:prstGeom prst="line">
            <a:avLst/>
          </a:prstGeom>
          <a:noFill/>
          <a:ln w="38100">
            <a:solidFill>
              <a:srgbClr val="D00012"/>
            </a:solidFill>
            <a:prstDash val="solid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10" name="Shape 8"/>
          <p:cNvSpPr/>
          <p:nvPr/>
        </p:nvSpPr>
        <p:spPr>
          <a:xfrm>
            <a:off x="640080" y="2139696"/>
            <a:ext cx="3246120" cy="361188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50800" dir="2700000" algn="bl" rotWithShape="0">
              <a:srgbClr val="E5E7EB">
                <a:alpha val="25000"/>
              </a:srgbClr>
            </a:outerShdw>
          </a:effectLst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11" name="Shape 9"/>
          <p:cNvSpPr/>
          <p:nvPr/>
        </p:nvSpPr>
        <p:spPr>
          <a:xfrm>
            <a:off x="640080" y="2139696"/>
            <a:ext cx="64008" cy="3611880"/>
          </a:xfrm>
          <a:prstGeom prst="rect">
            <a:avLst/>
          </a:prstGeom>
          <a:solidFill>
            <a:srgbClr val="D00012"/>
          </a:solidFill>
          <a:ln w="12700">
            <a:solidFill>
              <a:srgbClr val="D00012"/>
            </a:solidFill>
            <a:prstDash val="solid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12" name="Text 10"/>
          <p:cNvSpPr/>
          <p:nvPr/>
        </p:nvSpPr>
        <p:spPr>
          <a:xfrm>
            <a:off x="859536" y="2368296"/>
            <a:ext cx="914400" cy="164592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78" b="1" dirty="0">
                <a:solidFill>
                  <a:srgbClr val="D000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本页讲什么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859536" y="2670048"/>
            <a:ext cx="2651760" cy="512064"/>
          </a:xfrm>
          <a:prstGeom prst="rect">
            <a:avLst/>
          </a:prstGeom>
          <a:noFill/>
          <a:ln/>
        </p:spPr>
        <p:txBody>
          <a:bodyPr wrap="square" lIns="25603" tIns="25603" rIns="25603" bIns="25603" rtlCol="0" anchor="t">
            <a:normAutofit lnSpcReduction="10000"/>
          </a:bodyPr>
          <a:lstStyle/>
          <a:p>
            <a:pPr marL="0" indent="0">
              <a:lnSpc>
                <a:spcPct val="107000"/>
              </a:lnSpc>
              <a:spcAft>
                <a:spcPts val="120"/>
              </a:spcAft>
              <a:buNone/>
            </a:pPr>
            <a:r>
              <a:rPr lang="en-US" sz="1501" b="1" dirty="0">
                <a:solidFill>
                  <a:srgbClr val="1519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编程工具的演进，本质上是开发者与工具关系的变化。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59536" y="3310128"/>
            <a:ext cx="2651760" cy="868680"/>
          </a:xfrm>
          <a:prstGeom prst="rect">
            <a:avLst/>
          </a:prstGeom>
          <a:noFill/>
          <a:ln/>
        </p:spPr>
        <p:txBody>
          <a:bodyPr wrap="square" lIns="25603" tIns="25603" rIns="25603" bIns="25603" rtlCol="0" anchor="t">
            <a:normAutofit/>
          </a:bodyPr>
          <a:lstStyle/>
          <a:p>
            <a:pPr marL="0" indent="0">
              <a:lnSpc>
                <a:spcPct val="107000"/>
              </a:lnSpc>
              <a:spcAft>
                <a:spcPts val="120"/>
              </a:spcAft>
              <a:buNone/>
            </a:pPr>
            <a:r>
              <a:rPr lang="en-US" sz="106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从“更聪明的 IDE </a:t>
            </a:r>
            <a:r>
              <a:rPr lang="en-US" sz="1060" dirty="0" err="1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</a:t>
            </a:r>
            <a:r>
              <a:rPr lang="en-US" sz="106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”，</a:t>
            </a:r>
          </a:p>
          <a:p>
            <a:pPr marL="0" indent="0">
              <a:lnSpc>
                <a:spcPct val="107000"/>
              </a:lnSpc>
              <a:spcAft>
                <a:spcPts val="120"/>
              </a:spcAft>
              <a:buNone/>
            </a:pPr>
            <a:r>
              <a:rPr lang="en-US" sz="1060" dirty="0" err="1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到“随叫随到的代码搭子</a:t>
            </a:r>
            <a:r>
              <a:rPr lang="en-US" sz="106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”，</a:t>
            </a:r>
          </a:p>
          <a:p>
            <a:pPr marL="0" indent="0">
              <a:lnSpc>
                <a:spcPct val="107000"/>
              </a:lnSpc>
              <a:spcAft>
                <a:spcPts val="120"/>
              </a:spcAft>
              <a:buNone/>
            </a:pPr>
            <a:r>
              <a:rPr lang="en-US" sz="1060" dirty="0" err="1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再到“读过项目文档的新同事</a:t>
            </a:r>
            <a:r>
              <a:rPr lang="en-US" sz="106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”，</a:t>
            </a:r>
          </a:p>
          <a:p>
            <a:pPr marL="0" indent="0">
              <a:lnSpc>
                <a:spcPct val="107000"/>
              </a:lnSpc>
              <a:spcAft>
                <a:spcPts val="120"/>
              </a:spcAft>
              <a:buNone/>
            </a:pPr>
            <a:r>
              <a:rPr lang="en-US" sz="1060" dirty="0" err="1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最后走向“可托管小任务的实习工程师</a:t>
            </a:r>
            <a:r>
              <a:rPr lang="en-US" sz="106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”。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859536" y="4689472"/>
            <a:ext cx="2633472" cy="822960"/>
          </a:xfrm>
          <a:prstGeom prst="roundRect">
            <a:avLst>
              <a:gd name="adj" fmla="val 11111"/>
            </a:avLst>
          </a:prstGeom>
          <a:solidFill>
            <a:srgbClr val="FFF1F2"/>
          </a:solidFill>
          <a:ln w="8890">
            <a:solidFill>
              <a:srgbClr val="FECACA"/>
            </a:solidFill>
            <a:prstDash val="solid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16" name="Text 14"/>
          <p:cNvSpPr/>
          <p:nvPr/>
        </p:nvSpPr>
        <p:spPr>
          <a:xfrm>
            <a:off x="1005840" y="4813034"/>
            <a:ext cx="530352" cy="137160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b="1" dirty="0">
                <a:solidFill>
                  <a:srgbClr val="D000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05840" y="5081958"/>
            <a:ext cx="2059745" cy="347472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Autofit/>
          </a:bodyPr>
          <a:lstStyle/>
          <a:p>
            <a:pPr marL="0" indent="0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800" b="1" dirty="0">
                <a:solidFill>
                  <a:srgbClr val="D000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的工作单位，正在从“一段代码”升级为“一个任务”。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160520" y="2057400"/>
            <a:ext cx="7205472" cy="3858768"/>
          </a:xfrm>
          <a:prstGeom prst="roundRect">
            <a:avLst>
              <a:gd name="adj" fmla="val 237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5240" dist="50800" dir="2700000" algn="bl" rotWithShape="0">
              <a:srgbClr val="E5E7EB">
                <a:alpha val="28000"/>
              </a:srgbClr>
            </a:outerShdw>
          </a:effectLst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19" name="Text 17"/>
          <p:cNvSpPr/>
          <p:nvPr/>
        </p:nvSpPr>
        <p:spPr>
          <a:xfrm>
            <a:off x="4443984" y="2286000"/>
            <a:ext cx="3017520" cy="201168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938" b="1" dirty="0">
                <a:solidFill>
                  <a:srgbClr val="1519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四个阶段：用程序员日常场景理解</a:t>
            </a:r>
            <a:endParaRPr lang="en-US" sz="1230" dirty="0"/>
          </a:p>
        </p:txBody>
      </p:sp>
      <p:sp>
        <p:nvSpPr>
          <p:cNvPr id="20" name="Text 18"/>
          <p:cNvSpPr/>
          <p:nvPr/>
        </p:nvSpPr>
        <p:spPr>
          <a:xfrm>
            <a:off x="7882128" y="2322576"/>
            <a:ext cx="2788920" cy="146304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 algn="r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dirty="0">
                <a:solidFill>
                  <a:srgbClr val="8A9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每一步都不是“更会聊天”，而是更贴近真实开发动作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4443984" y="2660904"/>
            <a:ext cx="6629400" cy="585216"/>
          </a:xfrm>
          <a:prstGeom prst="roundRect">
            <a:avLst>
              <a:gd name="adj" fmla="val 9375"/>
            </a:avLst>
          </a:prstGeom>
          <a:solidFill>
            <a:srgbClr val="F6F7F9"/>
          </a:solidFill>
          <a:ln w="8890">
            <a:solidFill>
              <a:srgbClr val="EDF0F3"/>
            </a:solidFill>
            <a:prstDash val="solid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22" name="Shape 20"/>
          <p:cNvSpPr/>
          <p:nvPr/>
        </p:nvSpPr>
        <p:spPr>
          <a:xfrm>
            <a:off x="4608576" y="2816352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23" name="Text 21"/>
          <p:cNvSpPr/>
          <p:nvPr/>
        </p:nvSpPr>
        <p:spPr>
          <a:xfrm>
            <a:off x="4658868" y="2916936"/>
            <a:ext cx="265176" cy="91440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 fontScale="70000" lnSpcReduction="20000"/>
          </a:bodyPr>
          <a:lstStyle/>
          <a:p>
            <a:pPr marL="0" indent="0" algn="ctr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b="1" dirty="0">
                <a:solidFill>
                  <a:srgbClr val="4B5563"/>
                </a:solidFill>
                <a:latin typeface="Microsoft YaHei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5138928" y="2752344"/>
            <a:ext cx="1389888" cy="164592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719" b="1" dirty="0">
                <a:solidFill>
                  <a:srgbClr val="1519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补全时代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6629400" y="2752344"/>
            <a:ext cx="1234440" cy="164592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67" b="1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更聪明的 IDE 提示</a:t>
            </a:r>
            <a:endParaRPr lang="en-US" sz="840" dirty="0"/>
          </a:p>
        </p:txBody>
      </p:sp>
      <p:sp>
        <p:nvSpPr>
          <p:cNvPr id="26" name="Text 24"/>
          <p:cNvSpPr/>
          <p:nvPr/>
        </p:nvSpPr>
        <p:spPr>
          <a:xfrm>
            <a:off x="5138928" y="2999232"/>
            <a:ext cx="2788920" cy="137160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dirty="0">
                <a:solidFill>
                  <a:srgbClr val="8A9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行级 / 函数级补全、样板代码、API 调用建议</a:t>
            </a:r>
            <a:endParaRPr lang="en-US" sz="720" dirty="0"/>
          </a:p>
        </p:txBody>
      </p:sp>
      <p:sp>
        <p:nvSpPr>
          <p:cNvPr id="27" name="Text 25"/>
          <p:cNvSpPr/>
          <p:nvPr/>
        </p:nvSpPr>
        <p:spPr>
          <a:xfrm>
            <a:off x="8247888" y="2770632"/>
            <a:ext cx="2496312" cy="274320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717" dirty="0">
                <a:solidFill>
                  <a:srgbClr val="1519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写下 def get_user_by_id(...)，AI 已经猜到要查数据库、判空、返回用户对象。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8247888" y="3090672"/>
            <a:ext cx="2487168" cy="118872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 fontScale="92500" lnSpcReduction="10000"/>
          </a:bodyPr>
          <a:lstStyle/>
          <a:p>
            <a:pPr marL="0" indent="0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b="1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从“提示变量名”到“补完一段逻辑”。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443984" y="3364992"/>
            <a:ext cx="6629400" cy="585216"/>
          </a:xfrm>
          <a:prstGeom prst="roundRect">
            <a:avLst>
              <a:gd name="adj" fmla="val 9375"/>
            </a:avLst>
          </a:prstGeom>
          <a:solidFill>
            <a:srgbClr val="F6F7F9"/>
          </a:solidFill>
          <a:ln w="8890">
            <a:solidFill>
              <a:srgbClr val="EDF0F3"/>
            </a:solidFill>
            <a:prstDash val="solid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30" name="Shape 28"/>
          <p:cNvSpPr/>
          <p:nvPr/>
        </p:nvSpPr>
        <p:spPr>
          <a:xfrm>
            <a:off x="4608576" y="352044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31" name="Text 29"/>
          <p:cNvSpPr/>
          <p:nvPr/>
        </p:nvSpPr>
        <p:spPr>
          <a:xfrm>
            <a:off x="4658868" y="3621024"/>
            <a:ext cx="265176" cy="91440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 fontScale="70000" lnSpcReduction="20000"/>
          </a:bodyPr>
          <a:lstStyle/>
          <a:p>
            <a:pPr marL="0" indent="0" algn="ctr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b="1" dirty="0">
                <a:solidFill>
                  <a:srgbClr val="4B5563"/>
                </a:solidFill>
                <a:latin typeface="Microsoft YaHei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20" dirty="0"/>
          </a:p>
        </p:txBody>
      </p:sp>
      <p:sp>
        <p:nvSpPr>
          <p:cNvPr id="32" name="Text 30"/>
          <p:cNvSpPr/>
          <p:nvPr/>
        </p:nvSpPr>
        <p:spPr>
          <a:xfrm>
            <a:off x="5138928" y="3456432"/>
            <a:ext cx="1389888" cy="164592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719" b="1" dirty="0">
                <a:solidFill>
                  <a:srgbClr val="1519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 + 多工具时代</a:t>
            </a:r>
            <a:endParaRPr lang="en-US" sz="1080" dirty="0"/>
          </a:p>
        </p:txBody>
      </p:sp>
      <p:sp>
        <p:nvSpPr>
          <p:cNvPr id="33" name="Text 31"/>
          <p:cNvSpPr/>
          <p:nvPr/>
        </p:nvSpPr>
        <p:spPr>
          <a:xfrm>
            <a:off x="6629400" y="3456432"/>
            <a:ext cx="1234440" cy="164592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67" b="1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随叫随到的代码搭子</a:t>
            </a:r>
            <a:endParaRPr lang="en-US" sz="840" dirty="0"/>
          </a:p>
        </p:txBody>
      </p:sp>
      <p:sp>
        <p:nvSpPr>
          <p:cNvPr id="34" name="Text 32"/>
          <p:cNvSpPr/>
          <p:nvPr/>
        </p:nvSpPr>
        <p:spPr>
          <a:xfrm>
            <a:off x="5138928" y="3703320"/>
            <a:ext cx="2788920" cy="137160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dirty="0">
                <a:solidFill>
                  <a:srgbClr val="8A9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解释代码、分析报错、生成测试、辅助重构</a:t>
            </a:r>
            <a:endParaRPr lang="en-US" sz="720" dirty="0"/>
          </a:p>
        </p:txBody>
      </p:sp>
      <p:sp>
        <p:nvSpPr>
          <p:cNvPr id="35" name="Text 33"/>
          <p:cNvSpPr/>
          <p:nvPr/>
        </p:nvSpPr>
        <p:spPr>
          <a:xfrm>
            <a:off x="8247888" y="3474720"/>
            <a:ext cx="2496312" cy="274320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717" dirty="0">
                <a:solidFill>
                  <a:srgbClr val="1519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接手七层 if-else 的祖传代码，直接问：这段在做什么？哪里有风险？能否拆函数并补单测？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8247888" y="3794760"/>
            <a:ext cx="2487168" cy="118872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 fontScale="92500" lnSpcReduction="10000"/>
          </a:bodyPr>
          <a:lstStyle/>
          <a:p>
            <a:pPr marL="0" indent="0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b="1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从“帮我写代码”到“帮我读、改、测”。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443984" y="4069080"/>
            <a:ext cx="6629400" cy="585216"/>
          </a:xfrm>
          <a:prstGeom prst="roundRect">
            <a:avLst>
              <a:gd name="adj" fmla="val 9375"/>
            </a:avLst>
          </a:prstGeom>
          <a:solidFill>
            <a:srgbClr val="F6F7F9"/>
          </a:solidFill>
          <a:ln w="8890">
            <a:solidFill>
              <a:srgbClr val="EDF0F3"/>
            </a:solidFill>
            <a:prstDash val="solid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38" name="Shape 36"/>
          <p:cNvSpPr/>
          <p:nvPr/>
        </p:nvSpPr>
        <p:spPr>
          <a:xfrm>
            <a:off x="4608576" y="4224528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39" name="Text 37"/>
          <p:cNvSpPr/>
          <p:nvPr/>
        </p:nvSpPr>
        <p:spPr>
          <a:xfrm>
            <a:off x="4658868" y="4325112"/>
            <a:ext cx="265176" cy="91440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 fontScale="70000" lnSpcReduction="20000"/>
          </a:bodyPr>
          <a:lstStyle/>
          <a:p>
            <a:pPr marL="0" indent="0" algn="ctr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b="1" dirty="0">
                <a:solidFill>
                  <a:srgbClr val="4B5563"/>
                </a:solidFill>
                <a:latin typeface="Microsoft YaHei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20" dirty="0"/>
          </a:p>
        </p:txBody>
      </p:sp>
      <p:sp>
        <p:nvSpPr>
          <p:cNvPr id="40" name="Text 38"/>
          <p:cNvSpPr/>
          <p:nvPr/>
        </p:nvSpPr>
        <p:spPr>
          <a:xfrm>
            <a:off x="5138928" y="4160520"/>
            <a:ext cx="1389888" cy="164592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719" b="1" dirty="0">
                <a:solidFill>
                  <a:srgbClr val="1519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代码库级理解</a:t>
            </a:r>
            <a:endParaRPr lang="en-US" sz="1080" dirty="0"/>
          </a:p>
        </p:txBody>
      </p:sp>
      <p:sp>
        <p:nvSpPr>
          <p:cNvPr id="41" name="Text 39"/>
          <p:cNvSpPr/>
          <p:nvPr/>
        </p:nvSpPr>
        <p:spPr>
          <a:xfrm>
            <a:off x="6629400" y="4160520"/>
            <a:ext cx="1234440" cy="164592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67" b="1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读过项目文档的新同事</a:t>
            </a:r>
            <a:endParaRPr lang="en-US" sz="840" dirty="0"/>
          </a:p>
        </p:txBody>
      </p:sp>
      <p:sp>
        <p:nvSpPr>
          <p:cNvPr id="42" name="Text 40"/>
          <p:cNvSpPr/>
          <p:nvPr/>
        </p:nvSpPr>
        <p:spPr>
          <a:xfrm>
            <a:off x="5138928" y="4407408"/>
            <a:ext cx="2788920" cy="137160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dirty="0">
                <a:solidFill>
                  <a:srgbClr val="8A9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结合仓库结构、依赖关系、Issue、错误栈和调用链</a:t>
            </a:r>
            <a:endParaRPr lang="en-US" sz="720" dirty="0"/>
          </a:p>
        </p:txBody>
      </p:sp>
      <p:sp>
        <p:nvSpPr>
          <p:cNvPr id="43" name="Text 41"/>
          <p:cNvSpPr/>
          <p:nvPr/>
        </p:nvSpPr>
        <p:spPr>
          <a:xfrm>
            <a:off x="8247888" y="4178808"/>
            <a:ext cx="2496312" cy="274320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717" dirty="0">
                <a:solidFill>
                  <a:srgbClr val="1519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 NullPointerException，不只看当前文件，而是顺着调用链找入口、相关文件和潜在影响面。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8247888" y="4498848"/>
            <a:ext cx="2487168" cy="118872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 fontScale="92500" lnSpcReduction="10000"/>
          </a:bodyPr>
          <a:lstStyle/>
          <a:p>
            <a:pPr marL="0" indent="0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b="1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从“看一段代码”到“看一个项目”。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443984" y="4773168"/>
            <a:ext cx="6629400" cy="585216"/>
          </a:xfrm>
          <a:prstGeom prst="roundRect">
            <a:avLst>
              <a:gd name="adj" fmla="val 9375"/>
            </a:avLst>
          </a:prstGeom>
          <a:solidFill>
            <a:srgbClr val="FFF8F8"/>
          </a:solidFill>
          <a:ln w="8890">
            <a:solidFill>
              <a:srgbClr val="FECACA"/>
            </a:solidFill>
            <a:prstDash val="solid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46" name="Shape 44"/>
          <p:cNvSpPr/>
          <p:nvPr/>
        </p:nvSpPr>
        <p:spPr>
          <a:xfrm>
            <a:off x="4608576" y="4928616"/>
            <a:ext cx="365760" cy="365760"/>
          </a:xfrm>
          <a:prstGeom prst="ellipse">
            <a:avLst/>
          </a:prstGeom>
          <a:solidFill>
            <a:srgbClr val="D00012"/>
          </a:solidFill>
          <a:ln w="12700">
            <a:solidFill>
              <a:srgbClr val="D00012"/>
            </a:solidFill>
            <a:prstDash val="solid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47" name="Text 45"/>
          <p:cNvSpPr/>
          <p:nvPr/>
        </p:nvSpPr>
        <p:spPr>
          <a:xfrm>
            <a:off x="4658868" y="5029200"/>
            <a:ext cx="265176" cy="91440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 fontScale="70000" lnSpcReduction="20000"/>
          </a:bodyPr>
          <a:lstStyle/>
          <a:p>
            <a:pPr marL="0" indent="0" algn="ctr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b="1" dirty="0">
                <a:solidFill>
                  <a:srgbClr val="FFFFFF"/>
                </a:solidFill>
                <a:latin typeface="Microsoft YaHei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20" dirty="0"/>
          </a:p>
        </p:txBody>
      </p:sp>
      <p:sp>
        <p:nvSpPr>
          <p:cNvPr id="48" name="Text 46"/>
          <p:cNvSpPr/>
          <p:nvPr/>
        </p:nvSpPr>
        <p:spPr>
          <a:xfrm>
            <a:off x="5138928" y="4864608"/>
            <a:ext cx="1389888" cy="164592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719" b="1" dirty="0">
                <a:solidFill>
                  <a:srgbClr val="D000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化开发</a:t>
            </a:r>
            <a:endParaRPr lang="en-US" sz="1080" dirty="0"/>
          </a:p>
        </p:txBody>
      </p:sp>
      <p:sp>
        <p:nvSpPr>
          <p:cNvPr id="49" name="Text 47"/>
          <p:cNvSpPr/>
          <p:nvPr/>
        </p:nvSpPr>
        <p:spPr>
          <a:xfrm>
            <a:off x="6629400" y="4864608"/>
            <a:ext cx="1234440" cy="164592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67" b="1" dirty="0">
                <a:solidFill>
                  <a:srgbClr val="D000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可托管小任务的实习工程师</a:t>
            </a:r>
            <a:endParaRPr lang="en-US" sz="840" dirty="0"/>
          </a:p>
        </p:txBody>
      </p:sp>
      <p:sp>
        <p:nvSpPr>
          <p:cNvPr id="50" name="Text 48"/>
          <p:cNvSpPr/>
          <p:nvPr/>
        </p:nvSpPr>
        <p:spPr>
          <a:xfrm>
            <a:off x="5138928" y="5111496"/>
            <a:ext cx="2788920" cy="137160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dirty="0">
                <a:solidFill>
                  <a:srgbClr val="8A9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读仓库、拆任务、改代码、跑测试、修失败、整理 PR 说明</a:t>
            </a:r>
            <a:endParaRPr lang="en-US" sz="720" dirty="0"/>
          </a:p>
        </p:txBody>
      </p:sp>
      <p:sp>
        <p:nvSpPr>
          <p:cNvPr id="51" name="Text 49"/>
          <p:cNvSpPr/>
          <p:nvPr/>
        </p:nvSpPr>
        <p:spPr>
          <a:xfrm>
            <a:off x="8247888" y="4882896"/>
            <a:ext cx="2496312" cy="274320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717" dirty="0">
                <a:solidFill>
                  <a:srgbClr val="1519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一句“给接口加分页参数，兼容原调用并补单测”，AI 尝试读代码、改实现、跑测试、产出变更。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8247888" y="5202936"/>
            <a:ext cx="2487168" cy="118872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 fontScale="92500" lnSpcReduction="10000"/>
          </a:bodyPr>
          <a:lstStyle/>
          <a:p>
            <a:pPr marL="0" indent="0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b="1" dirty="0">
                <a:solidFill>
                  <a:srgbClr val="D000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从“一段代码”到“一个可 Review 的任务”。</a:t>
            </a:r>
            <a:endParaRPr lang="en-US" sz="750" dirty="0"/>
          </a:p>
        </p:txBody>
      </p:sp>
      <p:sp>
        <p:nvSpPr>
          <p:cNvPr id="58" name="TextBox 57"/>
          <p:cNvSpPr txBox="1"/>
          <p:nvPr/>
        </p:nvSpPr>
        <p:spPr>
          <a:xfrm>
            <a:off x="502920" y="6455664"/>
            <a:ext cx="61264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>
                <a:solidFill>
                  <a:srgbClr val="5C6471"/>
                </a:solidFill>
                <a:latin typeface="Microsoft YaHei"/>
              </a:rPr>
              <a:t>本次目标：带大家入门 AI 辅助研发，把工具真正用起来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42248" y="6455664"/>
            <a:ext cx="1133856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80">
                <a:solidFill>
                  <a:srgbClr val="5C6471"/>
                </a:solidFill>
                <a:latin typeface="Microsoft YaHei"/>
              </a:rPr>
              <a:t>2026 年 5 月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104120" y="6464808"/>
            <a:ext cx="9144" cy="128016"/>
          </a:xfrm>
          <a:prstGeom prst="rect">
            <a:avLst/>
          </a:prstGeom>
          <a:solidFill>
            <a:srgbClr val="D7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9568" y="6382512"/>
            <a:ext cx="266315" cy="201168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10552176" y="6437376"/>
            <a:ext cx="758952" cy="1280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0" b="1">
                <a:solidFill>
                  <a:srgbClr val="1A202C"/>
                </a:solidFill>
                <a:latin typeface="Arial"/>
              </a:rPr>
              <a:t>HUAWEI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6568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530352"/>
            <a:ext cx="457200" cy="228600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1070" b="1" dirty="0">
                <a:solidFill>
                  <a:srgbClr val="D00012"/>
                </a:solidFill>
                <a:latin typeface="Microsoft YaHei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60474" y="759308"/>
            <a:ext cx="530352" cy="0"/>
          </a:xfrm>
          <a:prstGeom prst="line">
            <a:avLst/>
          </a:prstGeom>
          <a:noFill/>
          <a:ln w="15240">
            <a:solidFill>
              <a:srgbClr val="D00012"/>
            </a:solidFill>
            <a:prstDash val="solid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7" name="Text 5"/>
          <p:cNvSpPr/>
          <p:nvPr/>
        </p:nvSpPr>
        <p:spPr>
          <a:xfrm>
            <a:off x="640080" y="932688"/>
            <a:ext cx="7863840" cy="420624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2491" b="1" dirty="0">
                <a:solidFill>
                  <a:srgbClr val="1519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四个阶段背后的本质变化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67512" y="1499616"/>
            <a:ext cx="9829800" cy="219456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1004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编程工具的演进，不只是“写代码更快”，而是开发者与工具的关系正在变化：从提示、协作，到任务托管。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667512" y="1847088"/>
            <a:ext cx="512064" cy="0"/>
          </a:xfrm>
          <a:prstGeom prst="line">
            <a:avLst/>
          </a:prstGeom>
          <a:noFill/>
          <a:ln w="38100">
            <a:solidFill>
              <a:srgbClr val="D00012"/>
            </a:solidFill>
            <a:prstDash val="solid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10" name="Shape 8"/>
          <p:cNvSpPr/>
          <p:nvPr/>
        </p:nvSpPr>
        <p:spPr>
          <a:xfrm>
            <a:off x="640080" y="2121408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FF1F2"/>
          </a:solidFill>
          <a:ln w="10160">
            <a:solidFill>
              <a:srgbClr val="FECACA"/>
            </a:solidFill>
            <a:prstDash val="solid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11" name="Text 9"/>
          <p:cNvSpPr/>
          <p:nvPr/>
        </p:nvSpPr>
        <p:spPr>
          <a:xfrm>
            <a:off x="896112" y="2312931"/>
            <a:ext cx="658368" cy="146304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Autofit/>
          </a:bodyPr>
          <a:lstStyle/>
          <a:p>
            <a:pPr marL="0" indent="0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800" b="1" dirty="0">
                <a:solidFill>
                  <a:srgbClr val="D000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核心变化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700784" y="2267712"/>
            <a:ext cx="7955280" cy="246888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1294" b="1" dirty="0">
                <a:solidFill>
                  <a:srgbClr val="D000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的工作单位，正在从 “token / 函数” 变成 “变更集 / 任务 / 问题单”。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719072" y="2560320"/>
            <a:ext cx="7132320" cy="128016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越往后，人类越需要把精力放在目标定义、架构判断、质量审查与风险控制上。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640080" y="3136392"/>
            <a:ext cx="2542032" cy="2212848"/>
          </a:xfrm>
          <a:prstGeom prst="roundRect">
            <a:avLst>
              <a:gd name="adj" fmla="val 3719"/>
            </a:avLst>
          </a:prstGeom>
          <a:solidFill>
            <a:srgbClr val="FFFFFF"/>
          </a:solidFill>
          <a:ln w="11430">
            <a:solidFill>
              <a:srgbClr val="E5E7EB"/>
            </a:solidFill>
            <a:prstDash val="solid"/>
          </a:ln>
          <a:effectLst>
            <a:outerShdw blurRad="13970" dist="50800" dir="2700000" algn="bl" rotWithShape="0">
              <a:srgbClr val="E5E7EB">
                <a:alpha val="25000"/>
              </a:srgbClr>
            </a:outerShdw>
          </a:effectLst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15" name="Shape 13"/>
          <p:cNvSpPr/>
          <p:nvPr/>
        </p:nvSpPr>
        <p:spPr>
          <a:xfrm>
            <a:off x="822960" y="3337560"/>
            <a:ext cx="384048" cy="384048"/>
          </a:xfrm>
          <a:prstGeom prst="ellipse">
            <a:avLst/>
          </a:prstGeom>
          <a:solidFill>
            <a:srgbClr val="F6F7F9"/>
          </a:solidFill>
          <a:ln w="10160">
            <a:solidFill>
              <a:srgbClr val="CBD5E1"/>
            </a:solidFill>
            <a:prstDash val="solid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16" name="Text 14"/>
          <p:cNvSpPr/>
          <p:nvPr/>
        </p:nvSpPr>
        <p:spPr>
          <a:xfrm>
            <a:off x="884225" y="3442716"/>
            <a:ext cx="265176" cy="91440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 fontScale="70000" lnSpcReduction="20000"/>
          </a:bodyPr>
          <a:lstStyle/>
          <a:p>
            <a:pPr marL="0" indent="0" algn="ctr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b="1" dirty="0">
                <a:solidFill>
                  <a:srgbClr val="4B5563"/>
                </a:solidFill>
                <a:latin typeface="Microsoft YaHei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1335024" y="3319272"/>
            <a:ext cx="1508760" cy="182880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842" b="1" dirty="0">
                <a:solidFill>
                  <a:srgbClr val="1519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补全时代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1335024" y="3593592"/>
            <a:ext cx="1627632" cy="146304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dirty="0">
                <a:solidFill>
                  <a:srgbClr val="8A9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IDE 提示升级版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841248" y="3959352"/>
            <a:ext cx="658368" cy="109728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 fontScale="92500" lnSpcReduction="20000"/>
          </a:bodyPr>
          <a:lstStyle/>
          <a:p>
            <a:pPr marL="0" indent="0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b="1" dirty="0">
                <a:solidFill>
                  <a:srgbClr val="8A9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开发者关系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841248" y="4142232"/>
            <a:ext cx="2103120" cy="201168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875" b="1" dirty="0">
                <a:solidFill>
                  <a:srgbClr val="1519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提示，我来判断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41248" y="4471416"/>
            <a:ext cx="2103120" cy="292608"/>
          </a:xfrm>
          <a:prstGeom prst="roundRect">
            <a:avLst>
              <a:gd name="adj" fmla="val 18750"/>
            </a:avLst>
          </a:prstGeom>
          <a:solidFill>
            <a:srgbClr val="F6F7F9"/>
          </a:solidFill>
          <a:ln w="7620">
            <a:solidFill>
              <a:srgbClr val="EDF0F3"/>
            </a:solidFill>
            <a:prstDash val="solid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22" name="Text 20"/>
          <p:cNvSpPr/>
          <p:nvPr/>
        </p:nvSpPr>
        <p:spPr>
          <a:xfrm>
            <a:off x="960120" y="4558284"/>
            <a:ext cx="274320" cy="73152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 fontScale="55000" lnSpcReduction="20000"/>
          </a:bodyPr>
          <a:lstStyle/>
          <a:p>
            <a:pPr marL="0" indent="0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b="1" dirty="0">
                <a:solidFill>
                  <a:srgbClr val="8A9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单位：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1389888" y="4539996"/>
            <a:ext cx="1234440" cy="91440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 fontScale="70000" lnSpcReduction="20000"/>
          </a:bodyPr>
          <a:lstStyle/>
          <a:p>
            <a:pPr marL="0" indent="0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b="1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 / 函数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841248" y="4919472"/>
            <a:ext cx="2103120" cy="182880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737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接受补全、改样板代码、少查文档</a:t>
            </a:r>
            <a:endParaRPr lang="en-US" sz="730" dirty="0"/>
          </a:p>
        </p:txBody>
      </p:sp>
      <p:sp>
        <p:nvSpPr>
          <p:cNvPr id="25" name="Text 23"/>
          <p:cNvSpPr/>
          <p:nvPr/>
        </p:nvSpPr>
        <p:spPr>
          <a:xfrm>
            <a:off x="841248" y="5138928"/>
            <a:ext cx="2103120" cy="155448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b="1" dirty="0">
                <a:solidFill>
                  <a:srgbClr val="1519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从“记语法”转向“判断建议是否靠谱”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3236976" y="4270248"/>
            <a:ext cx="137160" cy="0"/>
          </a:xfrm>
          <a:prstGeom prst="line">
            <a:avLst/>
          </a:prstGeom>
          <a:noFill/>
          <a:ln w="15240">
            <a:solidFill>
              <a:srgbClr val="BFC5CE"/>
            </a:solidFill>
            <a:prstDash val="solid"/>
            <a:headEnd type="none"/>
            <a:tailEnd type="triangle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27" name="Shape 25"/>
          <p:cNvSpPr/>
          <p:nvPr/>
        </p:nvSpPr>
        <p:spPr>
          <a:xfrm>
            <a:off x="3419856" y="3136392"/>
            <a:ext cx="2542032" cy="2212848"/>
          </a:xfrm>
          <a:prstGeom prst="roundRect">
            <a:avLst>
              <a:gd name="adj" fmla="val 3719"/>
            </a:avLst>
          </a:prstGeom>
          <a:solidFill>
            <a:srgbClr val="FFFFFF"/>
          </a:solidFill>
          <a:ln w="11430">
            <a:solidFill>
              <a:srgbClr val="E5E7EB"/>
            </a:solidFill>
            <a:prstDash val="solid"/>
          </a:ln>
          <a:effectLst>
            <a:outerShdw blurRad="13970" dist="50800" dir="2700000" algn="bl" rotWithShape="0">
              <a:srgbClr val="E5E7EB">
                <a:alpha val="25000"/>
              </a:srgbClr>
            </a:outerShdw>
          </a:effectLst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28" name="Shape 26"/>
          <p:cNvSpPr/>
          <p:nvPr/>
        </p:nvSpPr>
        <p:spPr>
          <a:xfrm>
            <a:off x="3602736" y="3337560"/>
            <a:ext cx="384048" cy="384048"/>
          </a:xfrm>
          <a:prstGeom prst="ellipse">
            <a:avLst/>
          </a:prstGeom>
          <a:solidFill>
            <a:srgbClr val="F6F7F9"/>
          </a:solidFill>
          <a:ln w="10160">
            <a:solidFill>
              <a:srgbClr val="CBD5E1"/>
            </a:solidFill>
            <a:prstDash val="solid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29" name="Text 27"/>
          <p:cNvSpPr/>
          <p:nvPr/>
        </p:nvSpPr>
        <p:spPr>
          <a:xfrm>
            <a:off x="3664001" y="3442716"/>
            <a:ext cx="265176" cy="91440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 fontScale="70000" lnSpcReduction="20000"/>
          </a:bodyPr>
          <a:lstStyle/>
          <a:p>
            <a:pPr marL="0" indent="0" algn="ctr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b="1" dirty="0">
                <a:solidFill>
                  <a:srgbClr val="4B5563"/>
                </a:solidFill>
                <a:latin typeface="Microsoft YaHei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20" dirty="0"/>
          </a:p>
        </p:txBody>
      </p:sp>
      <p:sp>
        <p:nvSpPr>
          <p:cNvPr id="30" name="Text 28"/>
          <p:cNvSpPr/>
          <p:nvPr/>
        </p:nvSpPr>
        <p:spPr>
          <a:xfrm>
            <a:off x="4114800" y="3319272"/>
            <a:ext cx="1508760" cy="182880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842" b="1" dirty="0">
                <a:solidFill>
                  <a:srgbClr val="1519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 + 多工具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4114800" y="3593592"/>
            <a:ext cx="1627632" cy="146304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dirty="0">
                <a:solidFill>
                  <a:srgbClr val="8A9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随叫随到的代码搭子</a:t>
            </a:r>
            <a:endParaRPr lang="en-US" sz="780" dirty="0"/>
          </a:p>
        </p:txBody>
      </p:sp>
      <p:sp>
        <p:nvSpPr>
          <p:cNvPr id="32" name="Text 30"/>
          <p:cNvSpPr/>
          <p:nvPr/>
        </p:nvSpPr>
        <p:spPr>
          <a:xfrm>
            <a:off x="3621024" y="3959352"/>
            <a:ext cx="658368" cy="109728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 fontScale="92500" lnSpcReduction="20000"/>
          </a:bodyPr>
          <a:lstStyle/>
          <a:p>
            <a:pPr marL="0" indent="0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b="1" dirty="0">
                <a:solidFill>
                  <a:srgbClr val="8A9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开发者关系</a:t>
            </a:r>
            <a:endParaRPr lang="en-US" sz="720" dirty="0"/>
          </a:p>
        </p:txBody>
      </p:sp>
      <p:sp>
        <p:nvSpPr>
          <p:cNvPr id="33" name="Text 31"/>
          <p:cNvSpPr/>
          <p:nvPr/>
        </p:nvSpPr>
        <p:spPr>
          <a:xfrm>
            <a:off x="3621024" y="4142232"/>
            <a:ext cx="2103120" cy="201168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875" b="1" dirty="0">
                <a:solidFill>
                  <a:srgbClr val="1519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分析，我来决策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21024" y="4471416"/>
            <a:ext cx="2103120" cy="292608"/>
          </a:xfrm>
          <a:prstGeom prst="roundRect">
            <a:avLst>
              <a:gd name="adj" fmla="val 18750"/>
            </a:avLst>
          </a:prstGeom>
          <a:solidFill>
            <a:srgbClr val="F6F7F9"/>
          </a:solidFill>
          <a:ln w="7620">
            <a:solidFill>
              <a:srgbClr val="EDF0F3"/>
            </a:solidFill>
            <a:prstDash val="solid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35" name="Text 33"/>
          <p:cNvSpPr/>
          <p:nvPr/>
        </p:nvSpPr>
        <p:spPr>
          <a:xfrm>
            <a:off x="3739896" y="4558284"/>
            <a:ext cx="274320" cy="73152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 fontScale="55000" lnSpcReduction="20000"/>
          </a:bodyPr>
          <a:lstStyle/>
          <a:p>
            <a:pPr marL="0" indent="0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b="1" dirty="0">
                <a:solidFill>
                  <a:srgbClr val="8A9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单位：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4169664" y="4539996"/>
            <a:ext cx="1234440" cy="91440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 fontScale="70000" lnSpcReduction="20000"/>
          </a:bodyPr>
          <a:lstStyle/>
          <a:p>
            <a:pPr marL="0" indent="0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b="1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代码片段 / 文件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3621024" y="4919472"/>
            <a:ext cx="2103120" cy="182880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737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读祖传代码、解释报错、生成测试、重构函数</a:t>
            </a:r>
            <a:endParaRPr lang="en-US" sz="730" dirty="0"/>
          </a:p>
        </p:txBody>
      </p:sp>
      <p:sp>
        <p:nvSpPr>
          <p:cNvPr id="38" name="Text 36"/>
          <p:cNvSpPr/>
          <p:nvPr/>
        </p:nvSpPr>
        <p:spPr>
          <a:xfrm>
            <a:off x="3621024" y="5138928"/>
            <a:ext cx="2103120" cy="155448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b="1" dirty="0">
                <a:solidFill>
                  <a:srgbClr val="1519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从“单兵硬读”转向“带着 AI 一起拆问题”</a:t>
            </a:r>
            <a:endParaRPr lang="en-US" sz="740" dirty="0"/>
          </a:p>
        </p:txBody>
      </p:sp>
      <p:sp>
        <p:nvSpPr>
          <p:cNvPr id="39" name="Shape 37"/>
          <p:cNvSpPr/>
          <p:nvPr/>
        </p:nvSpPr>
        <p:spPr>
          <a:xfrm>
            <a:off x="6016752" y="4270248"/>
            <a:ext cx="137160" cy="0"/>
          </a:xfrm>
          <a:prstGeom prst="line">
            <a:avLst/>
          </a:prstGeom>
          <a:noFill/>
          <a:ln w="15240">
            <a:solidFill>
              <a:srgbClr val="BFC5CE"/>
            </a:solidFill>
            <a:prstDash val="solid"/>
            <a:headEnd type="none"/>
            <a:tailEnd type="triangle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40" name="Shape 38"/>
          <p:cNvSpPr/>
          <p:nvPr/>
        </p:nvSpPr>
        <p:spPr>
          <a:xfrm>
            <a:off x="6199632" y="3136392"/>
            <a:ext cx="2542032" cy="2212848"/>
          </a:xfrm>
          <a:prstGeom prst="roundRect">
            <a:avLst>
              <a:gd name="adj" fmla="val 3719"/>
            </a:avLst>
          </a:prstGeom>
          <a:solidFill>
            <a:srgbClr val="FFFFFF"/>
          </a:solidFill>
          <a:ln w="11430">
            <a:solidFill>
              <a:srgbClr val="E5E7EB"/>
            </a:solidFill>
            <a:prstDash val="solid"/>
          </a:ln>
          <a:effectLst>
            <a:outerShdw blurRad="13970" dist="50800" dir="2700000" algn="bl" rotWithShape="0">
              <a:srgbClr val="E5E7EB">
                <a:alpha val="25000"/>
              </a:srgbClr>
            </a:outerShdw>
          </a:effectLst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41" name="Shape 39"/>
          <p:cNvSpPr/>
          <p:nvPr/>
        </p:nvSpPr>
        <p:spPr>
          <a:xfrm>
            <a:off x="6382512" y="3337560"/>
            <a:ext cx="384048" cy="384048"/>
          </a:xfrm>
          <a:prstGeom prst="ellipse">
            <a:avLst/>
          </a:prstGeom>
          <a:solidFill>
            <a:srgbClr val="F6F7F9"/>
          </a:solidFill>
          <a:ln w="10160">
            <a:solidFill>
              <a:srgbClr val="CBD5E1"/>
            </a:solidFill>
            <a:prstDash val="solid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42" name="Text 40"/>
          <p:cNvSpPr/>
          <p:nvPr/>
        </p:nvSpPr>
        <p:spPr>
          <a:xfrm>
            <a:off x="6443777" y="3442716"/>
            <a:ext cx="265176" cy="91440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 fontScale="70000" lnSpcReduction="20000"/>
          </a:bodyPr>
          <a:lstStyle/>
          <a:p>
            <a:pPr marL="0" indent="0" algn="ctr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b="1" dirty="0">
                <a:solidFill>
                  <a:srgbClr val="4B5563"/>
                </a:solidFill>
                <a:latin typeface="Microsoft YaHei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20" dirty="0"/>
          </a:p>
        </p:txBody>
      </p:sp>
      <p:sp>
        <p:nvSpPr>
          <p:cNvPr id="43" name="Text 41"/>
          <p:cNvSpPr/>
          <p:nvPr/>
        </p:nvSpPr>
        <p:spPr>
          <a:xfrm>
            <a:off x="6894576" y="3319272"/>
            <a:ext cx="1508760" cy="182880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842" b="1" dirty="0">
                <a:solidFill>
                  <a:srgbClr val="1519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代码库级理解</a:t>
            </a:r>
            <a:endParaRPr lang="en-US" sz="1220" dirty="0"/>
          </a:p>
        </p:txBody>
      </p:sp>
      <p:sp>
        <p:nvSpPr>
          <p:cNvPr id="44" name="Text 42"/>
          <p:cNvSpPr/>
          <p:nvPr/>
        </p:nvSpPr>
        <p:spPr>
          <a:xfrm>
            <a:off x="6894576" y="3593592"/>
            <a:ext cx="1627632" cy="146304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dirty="0">
                <a:solidFill>
                  <a:srgbClr val="8A9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读过项目文档的新同事</a:t>
            </a:r>
            <a:endParaRPr lang="en-US" sz="780" dirty="0"/>
          </a:p>
        </p:txBody>
      </p:sp>
      <p:sp>
        <p:nvSpPr>
          <p:cNvPr id="45" name="Text 43"/>
          <p:cNvSpPr/>
          <p:nvPr/>
        </p:nvSpPr>
        <p:spPr>
          <a:xfrm>
            <a:off x="6400800" y="3959352"/>
            <a:ext cx="658368" cy="109728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 fontScale="92500" lnSpcReduction="20000"/>
          </a:bodyPr>
          <a:lstStyle/>
          <a:p>
            <a:pPr marL="0" indent="0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b="1" dirty="0">
                <a:solidFill>
                  <a:srgbClr val="8A9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开发者关系</a:t>
            </a:r>
            <a:endParaRPr lang="en-US" sz="720" dirty="0"/>
          </a:p>
        </p:txBody>
      </p:sp>
      <p:sp>
        <p:nvSpPr>
          <p:cNvPr id="46" name="Text 44"/>
          <p:cNvSpPr/>
          <p:nvPr/>
        </p:nvSpPr>
        <p:spPr>
          <a:xfrm>
            <a:off x="6400800" y="4142232"/>
            <a:ext cx="2103120" cy="201168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875" b="1" dirty="0">
                <a:solidFill>
                  <a:srgbClr val="1519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理解项目，我来审查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400800" y="4471416"/>
            <a:ext cx="2103120" cy="292608"/>
          </a:xfrm>
          <a:prstGeom prst="roundRect">
            <a:avLst>
              <a:gd name="adj" fmla="val 18750"/>
            </a:avLst>
          </a:prstGeom>
          <a:solidFill>
            <a:srgbClr val="F6F7F9"/>
          </a:solidFill>
          <a:ln w="7620">
            <a:solidFill>
              <a:srgbClr val="EDF0F3"/>
            </a:solidFill>
            <a:prstDash val="solid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48" name="Text 46"/>
          <p:cNvSpPr/>
          <p:nvPr/>
        </p:nvSpPr>
        <p:spPr>
          <a:xfrm>
            <a:off x="6519672" y="4558284"/>
            <a:ext cx="274320" cy="73152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 fontScale="55000" lnSpcReduction="20000"/>
          </a:bodyPr>
          <a:lstStyle/>
          <a:p>
            <a:pPr marL="0" indent="0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b="1" dirty="0">
                <a:solidFill>
                  <a:srgbClr val="8A9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单位：</a:t>
            </a:r>
            <a:endParaRPr lang="en-US" sz="720" dirty="0"/>
          </a:p>
        </p:txBody>
      </p:sp>
      <p:sp>
        <p:nvSpPr>
          <p:cNvPr id="49" name="Text 47"/>
          <p:cNvSpPr/>
          <p:nvPr/>
        </p:nvSpPr>
        <p:spPr>
          <a:xfrm>
            <a:off x="6949440" y="4539996"/>
            <a:ext cx="1234440" cy="91440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 fontScale="70000" lnSpcReduction="20000"/>
          </a:bodyPr>
          <a:lstStyle/>
          <a:p>
            <a:pPr marL="0" indent="0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b="1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/ 调用链</a:t>
            </a:r>
            <a:endParaRPr lang="en-US" sz="820" dirty="0"/>
          </a:p>
        </p:txBody>
      </p:sp>
      <p:sp>
        <p:nvSpPr>
          <p:cNvPr id="50" name="Text 48"/>
          <p:cNvSpPr/>
          <p:nvPr/>
        </p:nvSpPr>
        <p:spPr>
          <a:xfrm>
            <a:off x="6400800" y="4919472"/>
            <a:ext cx="2103120" cy="182880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737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关联仓库结构、Issue、日志、依赖和影响面</a:t>
            </a:r>
            <a:endParaRPr lang="en-US" sz="730" dirty="0"/>
          </a:p>
        </p:txBody>
      </p:sp>
      <p:sp>
        <p:nvSpPr>
          <p:cNvPr id="51" name="Text 49"/>
          <p:cNvSpPr/>
          <p:nvPr/>
        </p:nvSpPr>
        <p:spPr>
          <a:xfrm>
            <a:off x="6400800" y="5138928"/>
            <a:ext cx="2103120" cy="155448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b="1" dirty="0">
                <a:solidFill>
                  <a:srgbClr val="1519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从“局部修补”转向“工程上下文下的判断”</a:t>
            </a:r>
            <a:endParaRPr lang="en-US" sz="740" dirty="0"/>
          </a:p>
        </p:txBody>
      </p:sp>
      <p:sp>
        <p:nvSpPr>
          <p:cNvPr id="52" name="Shape 50"/>
          <p:cNvSpPr/>
          <p:nvPr/>
        </p:nvSpPr>
        <p:spPr>
          <a:xfrm>
            <a:off x="8796528" y="4270248"/>
            <a:ext cx="137160" cy="0"/>
          </a:xfrm>
          <a:prstGeom prst="line">
            <a:avLst/>
          </a:prstGeom>
          <a:noFill/>
          <a:ln w="15240">
            <a:solidFill>
              <a:srgbClr val="BFC5CE"/>
            </a:solidFill>
            <a:prstDash val="solid"/>
            <a:headEnd type="none"/>
            <a:tailEnd type="triangle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53" name="Shape 51"/>
          <p:cNvSpPr/>
          <p:nvPr/>
        </p:nvSpPr>
        <p:spPr>
          <a:xfrm>
            <a:off x="8979408" y="3136392"/>
            <a:ext cx="2542032" cy="2212848"/>
          </a:xfrm>
          <a:prstGeom prst="roundRect">
            <a:avLst>
              <a:gd name="adj" fmla="val 3719"/>
            </a:avLst>
          </a:prstGeom>
          <a:solidFill>
            <a:srgbClr val="FFF8F8"/>
          </a:solidFill>
          <a:ln w="11430">
            <a:solidFill>
              <a:srgbClr val="FECACA"/>
            </a:solidFill>
            <a:prstDash val="solid"/>
          </a:ln>
          <a:effectLst>
            <a:outerShdw blurRad="13970" dist="50800" dir="2700000" algn="bl" rotWithShape="0">
              <a:srgbClr val="E5E7EB">
                <a:alpha val="25000"/>
              </a:srgbClr>
            </a:outerShdw>
          </a:effectLst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54" name="Shape 52"/>
          <p:cNvSpPr/>
          <p:nvPr/>
        </p:nvSpPr>
        <p:spPr>
          <a:xfrm>
            <a:off x="9162288" y="3337560"/>
            <a:ext cx="384048" cy="384048"/>
          </a:xfrm>
          <a:prstGeom prst="ellipse">
            <a:avLst/>
          </a:prstGeom>
          <a:solidFill>
            <a:srgbClr val="D00012"/>
          </a:solidFill>
          <a:ln w="10160">
            <a:solidFill>
              <a:srgbClr val="D00012"/>
            </a:solidFill>
            <a:prstDash val="solid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55" name="Text 53"/>
          <p:cNvSpPr/>
          <p:nvPr/>
        </p:nvSpPr>
        <p:spPr>
          <a:xfrm>
            <a:off x="9223553" y="3442716"/>
            <a:ext cx="265176" cy="91440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 fontScale="70000" lnSpcReduction="20000"/>
          </a:bodyPr>
          <a:lstStyle/>
          <a:p>
            <a:pPr marL="0" indent="0" algn="ctr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b="1" dirty="0">
                <a:solidFill>
                  <a:srgbClr val="FFFFFF"/>
                </a:solidFill>
                <a:latin typeface="Microsoft YaHei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20" dirty="0"/>
          </a:p>
        </p:txBody>
      </p:sp>
      <p:sp>
        <p:nvSpPr>
          <p:cNvPr id="56" name="Text 54"/>
          <p:cNvSpPr/>
          <p:nvPr/>
        </p:nvSpPr>
        <p:spPr>
          <a:xfrm>
            <a:off x="9674352" y="3319272"/>
            <a:ext cx="1508760" cy="182880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842" b="1" dirty="0">
                <a:solidFill>
                  <a:srgbClr val="D000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化开发</a:t>
            </a:r>
            <a:endParaRPr lang="en-US" sz="1220" dirty="0"/>
          </a:p>
        </p:txBody>
      </p:sp>
      <p:sp>
        <p:nvSpPr>
          <p:cNvPr id="57" name="Text 55"/>
          <p:cNvSpPr/>
          <p:nvPr/>
        </p:nvSpPr>
        <p:spPr>
          <a:xfrm>
            <a:off x="9674352" y="3593592"/>
            <a:ext cx="1627632" cy="146304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dirty="0">
                <a:solidFill>
                  <a:srgbClr val="8A9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可托管小任务的实习工程师</a:t>
            </a:r>
            <a:endParaRPr lang="en-US" sz="780" dirty="0"/>
          </a:p>
        </p:txBody>
      </p:sp>
      <p:sp>
        <p:nvSpPr>
          <p:cNvPr id="58" name="Text 56"/>
          <p:cNvSpPr/>
          <p:nvPr/>
        </p:nvSpPr>
        <p:spPr>
          <a:xfrm>
            <a:off x="9180576" y="3959352"/>
            <a:ext cx="658368" cy="109728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 fontScale="92500" lnSpcReduction="20000"/>
          </a:bodyPr>
          <a:lstStyle/>
          <a:p>
            <a:pPr marL="0" indent="0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b="1" dirty="0">
                <a:solidFill>
                  <a:srgbClr val="8A9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开发者关系</a:t>
            </a:r>
            <a:endParaRPr lang="en-US" sz="720" dirty="0"/>
          </a:p>
        </p:txBody>
      </p:sp>
      <p:sp>
        <p:nvSpPr>
          <p:cNvPr id="59" name="Text 57"/>
          <p:cNvSpPr/>
          <p:nvPr/>
        </p:nvSpPr>
        <p:spPr>
          <a:xfrm>
            <a:off x="9180576" y="4142232"/>
            <a:ext cx="2103120" cy="201168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875" b="1" dirty="0">
                <a:solidFill>
                  <a:srgbClr val="D000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执行任务，我来验收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9180576" y="4471416"/>
            <a:ext cx="210312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7620">
            <a:solidFill>
              <a:srgbClr val="FECACA"/>
            </a:solidFill>
            <a:prstDash val="solid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61" name="Text 59"/>
          <p:cNvSpPr/>
          <p:nvPr/>
        </p:nvSpPr>
        <p:spPr>
          <a:xfrm>
            <a:off x="9299448" y="4558284"/>
            <a:ext cx="274320" cy="73152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 fontScale="55000" lnSpcReduction="20000"/>
          </a:bodyPr>
          <a:lstStyle/>
          <a:p>
            <a:pPr marL="0" indent="0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b="1" dirty="0">
                <a:solidFill>
                  <a:srgbClr val="8A9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单位：</a:t>
            </a:r>
            <a:endParaRPr lang="en-US" sz="720" dirty="0"/>
          </a:p>
        </p:txBody>
      </p:sp>
      <p:sp>
        <p:nvSpPr>
          <p:cNvPr id="62" name="Text 60"/>
          <p:cNvSpPr/>
          <p:nvPr/>
        </p:nvSpPr>
        <p:spPr>
          <a:xfrm>
            <a:off x="9729216" y="4539996"/>
            <a:ext cx="1234440" cy="91440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 fontScale="70000" lnSpcReduction="20000"/>
          </a:bodyPr>
          <a:lstStyle/>
          <a:p>
            <a:pPr marL="0" indent="0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b="1" dirty="0">
                <a:solidFill>
                  <a:srgbClr val="D000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变更集 / 问题单</a:t>
            </a:r>
            <a:endParaRPr lang="en-US" sz="820" dirty="0"/>
          </a:p>
        </p:txBody>
      </p:sp>
      <p:sp>
        <p:nvSpPr>
          <p:cNvPr id="63" name="Text 61"/>
          <p:cNvSpPr/>
          <p:nvPr/>
        </p:nvSpPr>
        <p:spPr>
          <a:xfrm>
            <a:off x="9180576" y="4919472"/>
            <a:ext cx="2103120" cy="182880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737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拆任务、改代码、跑测试、修失败、整理 PR</a:t>
            </a:r>
            <a:endParaRPr lang="en-US" sz="730" dirty="0"/>
          </a:p>
        </p:txBody>
      </p:sp>
      <p:sp>
        <p:nvSpPr>
          <p:cNvPr id="64" name="Text 62"/>
          <p:cNvSpPr/>
          <p:nvPr/>
        </p:nvSpPr>
        <p:spPr>
          <a:xfrm>
            <a:off x="9180576" y="5138928"/>
            <a:ext cx="2103120" cy="155448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b="1" dirty="0">
                <a:solidFill>
                  <a:srgbClr val="D000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从“亲自写每一步”转向“定义目标并验收结果”</a:t>
            </a:r>
            <a:endParaRPr lang="en-US" sz="740" dirty="0"/>
          </a:p>
        </p:txBody>
      </p:sp>
      <p:sp>
        <p:nvSpPr>
          <p:cNvPr id="65" name="Shape 63"/>
          <p:cNvSpPr/>
          <p:nvPr/>
        </p:nvSpPr>
        <p:spPr>
          <a:xfrm>
            <a:off x="640080" y="5577840"/>
            <a:ext cx="8138160" cy="411480"/>
          </a:xfrm>
          <a:prstGeom prst="roundRect">
            <a:avLst>
              <a:gd name="adj" fmla="val 13333"/>
            </a:avLst>
          </a:prstGeom>
          <a:solidFill>
            <a:srgbClr val="FAFBFC"/>
          </a:solidFill>
          <a:ln w="8890">
            <a:solidFill>
              <a:srgbClr val="E5E7EB"/>
            </a:solidFill>
            <a:prstDash val="solid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66" name="Text 64"/>
          <p:cNvSpPr/>
          <p:nvPr/>
        </p:nvSpPr>
        <p:spPr>
          <a:xfrm>
            <a:off x="877824" y="5719572"/>
            <a:ext cx="960120" cy="91440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 fontScale="70000" lnSpcReduction="20000"/>
          </a:bodyPr>
          <a:lstStyle/>
          <a:p>
            <a:pPr marL="0" indent="0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b="1" dirty="0">
                <a:solidFill>
                  <a:srgbClr val="D000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讲给团队听的落点：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2039112" y="5717192"/>
            <a:ext cx="6190488" cy="128016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越像“会做事的同事”，开发者越要像“任务负责人”：定义目标、拆清边界、验收质量。</a:t>
            </a:r>
            <a:endParaRPr lang="en-US" sz="900" dirty="0"/>
          </a:p>
        </p:txBody>
      </p:sp>
      <p:sp>
        <p:nvSpPr>
          <p:cNvPr id="73" name="TextBox 72"/>
          <p:cNvSpPr txBox="1"/>
          <p:nvPr/>
        </p:nvSpPr>
        <p:spPr>
          <a:xfrm>
            <a:off x="502920" y="6455664"/>
            <a:ext cx="61264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>
                <a:solidFill>
                  <a:srgbClr val="5C6471"/>
                </a:solidFill>
                <a:latin typeface="Microsoft YaHei"/>
              </a:rPr>
              <a:t>本次目标：带大家入门 AI 辅助研发，把工具真正用起来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842248" y="6455664"/>
            <a:ext cx="1133856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80">
                <a:solidFill>
                  <a:srgbClr val="5C6471"/>
                </a:solidFill>
                <a:latin typeface="Microsoft YaHei"/>
              </a:rPr>
              <a:t>2026 年 5 月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104120" y="6464808"/>
            <a:ext cx="9144" cy="128016"/>
          </a:xfrm>
          <a:prstGeom prst="rect">
            <a:avLst/>
          </a:prstGeom>
          <a:solidFill>
            <a:srgbClr val="D7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6" name="Picture 7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9568" y="6382512"/>
            <a:ext cx="266315" cy="201168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10552176" y="6437376"/>
            <a:ext cx="758952" cy="1280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0" b="1">
                <a:solidFill>
                  <a:srgbClr val="1A202C"/>
                </a:solidFill>
                <a:latin typeface="Arial"/>
              </a:rPr>
              <a:t>HUAWEI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86384" y="1609344"/>
            <a:ext cx="1828800" cy="182880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878" b="1">
                <a:solidFill>
                  <a:srgbClr val="C4141C"/>
                </a:solidFill>
                <a:latin typeface="Microsoft YaHei"/>
              </a:rPr>
              <a:t>SECTION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04672" y="1901952"/>
            <a:ext cx="804672" cy="54864"/>
          </a:xfrm>
          <a:prstGeom prst="rect">
            <a:avLst/>
          </a:prstGeom>
          <a:solidFill>
            <a:srgbClr val="C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86384" y="2139696"/>
            <a:ext cx="7380586" cy="749808"/>
          </a:xfrm>
          <a:prstGeom prst="rect">
            <a:avLst/>
          </a:prstGeom>
          <a:noFill/>
        </p:spPr>
        <p:txBody>
          <a:bodyPr wrap="square" lIns="25603" tIns="25603" rIns="25603" bIns="25603" anchor="t">
            <a:normAutofit/>
          </a:bodyPr>
          <a:lstStyle/>
          <a:p>
            <a:pPr algn="l">
              <a:lnSpc>
                <a:spcPct val="107000"/>
              </a:lnSpc>
              <a:spcAft>
                <a:spcPts val="120"/>
              </a:spcAft>
            </a:pPr>
            <a:r>
              <a:rPr sz="3100" b="1" dirty="0" err="1">
                <a:solidFill>
                  <a:srgbClr val="1A202C"/>
                </a:solidFill>
                <a:latin typeface="Microsoft YaHei"/>
              </a:rPr>
              <a:t>第二部分｜AI</a:t>
            </a:r>
            <a:r>
              <a:rPr sz="3100" b="1" dirty="0">
                <a:solidFill>
                  <a:srgbClr val="1A202C"/>
                </a:solidFill>
                <a:latin typeface="Microsoft YaHei"/>
              </a:rPr>
              <a:t> </a:t>
            </a:r>
            <a:r>
              <a:rPr sz="3100" b="1" dirty="0" err="1">
                <a:solidFill>
                  <a:srgbClr val="1A202C"/>
                </a:solidFill>
                <a:latin typeface="Microsoft YaHei"/>
              </a:rPr>
              <a:t>Agent：概念、机制与实践</a:t>
            </a:r>
            <a:endParaRPr sz="3100" b="1" dirty="0">
              <a:solidFill>
                <a:srgbClr val="1A202C"/>
              </a:solidFill>
              <a:latin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3054096"/>
            <a:ext cx="7863840" cy="310896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1644" b="0">
                <a:solidFill>
                  <a:srgbClr val="5F6773"/>
                </a:solidFill>
                <a:latin typeface="Microsoft YaHei"/>
              </a:rPr>
              <a:t>从模型与上下文，到 opencode CLI、MCP 与 Agent 工作流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49640" y="2011680"/>
            <a:ext cx="411480" cy="164592"/>
          </a:xfrm>
          <a:prstGeom prst="round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549640" y="2606040"/>
            <a:ext cx="685800" cy="164592"/>
          </a:xfrm>
          <a:prstGeom prst="roundRect">
            <a:avLst/>
          </a:prstGeom>
          <a:solidFill>
            <a:srgbClr val="C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549640" y="3200400"/>
            <a:ext cx="1051560" cy="164592"/>
          </a:xfrm>
          <a:prstGeom prst="round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046720" y="4224528"/>
            <a:ext cx="2560320" cy="457200"/>
          </a:xfrm>
          <a:prstGeom prst="roundRect">
            <a:avLst/>
          </a:prstGeom>
          <a:solidFill>
            <a:srgbClr val="FFF4F4"/>
          </a:solidFill>
          <a:ln>
            <a:solidFill>
              <a:srgbClr val="EE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02752" y="4370832"/>
            <a:ext cx="2057400" cy="109728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 fontScale="92500" lnSpcReduction="20000"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638" b="1">
                <a:solidFill>
                  <a:srgbClr val="C4141C"/>
                </a:solidFill>
                <a:latin typeface="Microsoft YaHei"/>
              </a:rPr>
              <a:t>从知识到流程，从工具到方法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55664"/>
            <a:ext cx="61264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>
                <a:solidFill>
                  <a:srgbClr val="5C6471"/>
                </a:solidFill>
                <a:latin typeface="Microsoft YaHei"/>
              </a:rPr>
              <a:t>本次目标：带大家入门 AI 辅助研发，把工具真正用起来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42248" y="6455664"/>
            <a:ext cx="1133856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80">
                <a:solidFill>
                  <a:srgbClr val="5C6471"/>
                </a:solidFill>
                <a:latin typeface="Microsoft YaHei"/>
              </a:rPr>
              <a:t>2026 年 5 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104120" y="6464808"/>
            <a:ext cx="9144" cy="128016"/>
          </a:xfrm>
          <a:prstGeom prst="rect">
            <a:avLst/>
          </a:prstGeom>
          <a:solidFill>
            <a:srgbClr val="D7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9568" y="6382512"/>
            <a:ext cx="266315" cy="201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552176" y="6437376"/>
            <a:ext cx="758952" cy="1280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0" b="1">
                <a:solidFill>
                  <a:srgbClr val="1A202C"/>
                </a:solidFill>
                <a:latin typeface="Arial"/>
              </a:rPr>
              <a:t>HUAWEI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6568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658368" y="438912"/>
            <a:ext cx="2743200" cy="219456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 fontScale="92500" lnSpcReduction="10000"/>
          </a:bodyPr>
          <a:lstStyle/>
          <a:p>
            <a:pPr marL="0" indent="0" algn="l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1395" b="1" dirty="0">
                <a:solidFill>
                  <a:srgbClr val="6872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 AI Agent？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877824"/>
            <a:ext cx="5303520" cy="457200"/>
          </a:xfrm>
          <a:prstGeom prst="rect">
            <a:avLst/>
          </a:prstGeom>
          <a:noFill/>
          <a:ln/>
        </p:spPr>
        <p:txBody>
          <a:bodyPr wrap="square" lIns="25603" tIns="25603" rIns="25603" bIns="25603" rtlCol="0" anchor="t">
            <a:normAutofit lnSpcReduction="10000"/>
          </a:bodyPr>
          <a:lstStyle/>
          <a:p>
            <a:pPr marL="0" indent="0" algn="l">
              <a:lnSpc>
                <a:spcPct val="107000"/>
              </a:lnSpc>
              <a:spcAft>
                <a:spcPts val="120"/>
              </a:spcAft>
              <a:buNone/>
            </a:pPr>
            <a:r>
              <a:rPr lang="en-US" sz="2656" b="1" dirty="0">
                <a:solidFill>
                  <a:srgbClr val="171D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从“回答问题”到“执行任务”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499616"/>
            <a:ext cx="502920" cy="50292"/>
          </a:xfrm>
          <a:prstGeom prst="rect">
            <a:avLst/>
          </a:prstGeom>
          <a:solidFill>
            <a:srgbClr val="D20A11"/>
          </a:solidFill>
          <a:ln w="12700">
            <a:solidFill>
              <a:srgbClr val="D20A11">
                <a:alpha val="0"/>
              </a:srgbClr>
            </a:solidFill>
            <a:prstDash val="solid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6" name="Text 4"/>
          <p:cNvSpPr/>
          <p:nvPr/>
        </p:nvSpPr>
        <p:spPr>
          <a:xfrm>
            <a:off x="658368" y="1719072"/>
            <a:ext cx="5349240" cy="480060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 fontScale="92500"/>
          </a:bodyPr>
          <a:lstStyle/>
          <a:p>
            <a:pPr marL="0" indent="0" algn="l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1234" dirty="0">
                <a:solidFill>
                  <a:srgbClr val="323B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</a:t>
            </a:r>
            <a:r>
              <a:rPr lang="en-US" sz="1234" dirty="0" err="1">
                <a:solidFill>
                  <a:srgbClr val="323B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不是“更会聊天的机器人</a:t>
            </a:r>
            <a:r>
              <a:rPr lang="en-US" sz="1234" dirty="0">
                <a:solidFill>
                  <a:srgbClr val="323B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”，</a:t>
            </a:r>
          </a:p>
          <a:p>
            <a:pPr marL="0" indent="0" algn="l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1234" dirty="0" err="1">
                <a:solidFill>
                  <a:srgbClr val="323B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而是一个能围绕目标拆解步骤、调用工具、执行动作，并根据结果继续调整的系统</a:t>
            </a:r>
            <a:r>
              <a:rPr lang="en-US" sz="1234" dirty="0">
                <a:solidFill>
                  <a:srgbClr val="323B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658368" y="2359152"/>
            <a:ext cx="5349240" cy="841248"/>
          </a:xfrm>
          <a:prstGeom prst="roundRect">
            <a:avLst>
              <a:gd name="adj" fmla="val 6522"/>
            </a:avLst>
          </a:prstGeom>
          <a:solidFill>
            <a:srgbClr val="FAFBFC"/>
          </a:solidFill>
          <a:ln w="12700">
            <a:solidFill>
              <a:srgbClr val="E3E7ED"/>
            </a:solidFill>
            <a:prstDash val="solid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8" name="Shape 6"/>
          <p:cNvSpPr/>
          <p:nvPr/>
        </p:nvSpPr>
        <p:spPr>
          <a:xfrm>
            <a:off x="896112" y="2542032"/>
            <a:ext cx="841248" cy="219456"/>
          </a:xfrm>
          <a:prstGeom prst="roundRect">
            <a:avLst>
              <a:gd name="adj" fmla="val 25000"/>
            </a:avLst>
          </a:prstGeom>
          <a:solidFill>
            <a:srgbClr val="FFF7F7"/>
          </a:solidFill>
          <a:ln w="8890">
            <a:solidFill>
              <a:srgbClr val="F2D5D7"/>
            </a:solidFill>
            <a:prstDash val="solid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9" name="Text 7"/>
          <p:cNvSpPr/>
          <p:nvPr/>
        </p:nvSpPr>
        <p:spPr>
          <a:xfrm>
            <a:off x="896112" y="2574036"/>
            <a:ext cx="841248" cy="91440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 fontScale="70000" lnSpcReduction="20000"/>
          </a:bodyPr>
          <a:lstStyle/>
          <a:p>
            <a:pPr marL="0" indent="0" algn="ctr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b="1" dirty="0">
                <a:solidFill>
                  <a:srgbClr val="D20A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一句话定义</a:t>
            </a:r>
            <a:endParaRPr lang="en-US" sz="840" dirty="0"/>
          </a:p>
        </p:txBody>
      </p:sp>
      <p:sp>
        <p:nvSpPr>
          <p:cNvPr id="10" name="Text 8"/>
          <p:cNvSpPr/>
          <p:nvPr/>
        </p:nvSpPr>
        <p:spPr>
          <a:xfrm>
            <a:off x="1920240" y="2487168"/>
            <a:ext cx="3611880" cy="256032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 algn="l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1315" b="1" dirty="0">
                <a:solidFill>
                  <a:srgbClr val="171D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目标导向 + 上下文理解 + 工具调用 + 反馈循环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920240" y="2788920"/>
            <a:ext cx="3611880" cy="164592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 algn="l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714" dirty="0">
                <a:solidFill>
                  <a:srgbClr val="6872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从“给答案”升级为“尝试把任务往前推进”。</a:t>
            </a:r>
            <a:endParaRPr lang="en-US" sz="1060" dirty="0"/>
          </a:p>
        </p:txBody>
      </p:sp>
      <p:sp>
        <p:nvSpPr>
          <p:cNvPr id="12" name="Shape 10"/>
          <p:cNvSpPr/>
          <p:nvPr/>
        </p:nvSpPr>
        <p:spPr>
          <a:xfrm>
            <a:off x="658368" y="3438144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  <a:effectLst>
            <a:outerShdw blurRad="12700" dist="50800" dir="2700000" algn="bl" rotWithShape="0">
              <a:srgbClr val="E7EBF0">
                <a:alpha val="20000"/>
              </a:srgbClr>
            </a:outerShdw>
          </a:effectLst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 dirty="0"/>
          </a:p>
        </p:txBody>
      </p:sp>
      <p:sp>
        <p:nvSpPr>
          <p:cNvPr id="13" name="Text 11"/>
          <p:cNvSpPr/>
          <p:nvPr/>
        </p:nvSpPr>
        <p:spPr>
          <a:xfrm>
            <a:off x="896112" y="3639312"/>
            <a:ext cx="2011680" cy="182880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 algn="l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848" b="1" dirty="0">
                <a:solidFill>
                  <a:srgbClr val="171D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通常由这些能力组成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96112" y="4032504"/>
            <a:ext cx="64008" cy="64008"/>
          </a:xfrm>
          <a:prstGeom prst="ellipse">
            <a:avLst/>
          </a:prstGeom>
          <a:solidFill>
            <a:srgbClr val="D20A11"/>
          </a:solidFill>
          <a:ln w="12700">
            <a:solidFill>
              <a:srgbClr val="D20A11">
                <a:alpha val="0"/>
              </a:srgbClr>
            </a:solidFill>
            <a:prstDash val="solid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15" name="Text 13"/>
          <p:cNvSpPr/>
          <p:nvPr/>
        </p:nvSpPr>
        <p:spPr>
          <a:xfrm>
            <a:off x="1024128" y="3977640"/>
            <a:ext cx="1389888" cy="146304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 algn="l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dirty="0">
                <a:solidFill>
                  <a:srgbClr val="323B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目标：知道要完成什么</a:t>
            </a:r>
            <a:endParaRPr lang="en-US" sz="890" dirty="0"/>
          </a:p>
        </p:txBody>
      </p:sp>
      <p:sp>
        <p:nvSpPr>
          <p:cNvPr id="16" name="Shape 14"/>
          <p:cNvSpPr/>
          <p:nvPr/>
        </p:nvSpPr>
        <p:spPr>
          <a:xfrm>
            <a:off x="2523744" y="4032504"/>
            <a:ext cx="64008" cy="64008"/>
          </a:xfrm>
          <a:prstGeom prst="ellipse">
            <a:avLst/>
          </a:prstGeom>
          <a:solidFill>
            <a:srgbClr val="D20A11"/>
          </a:solidFill>
          <a:ln w="12700">
            <a:solidFill>
              <a:srgbClr val="D20A11">
                <a:alpha val="0"/>
              </a:srgbClr>
            </a:solidFill>
            <a:prstDash val="solid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17" name="Text 15"/>
          <p:cNvSpPr/>
          <p:nvPr/>
        </p:nvSpPr>
        <p:spPr>
          <a:xfrm>
            <a:off x="2651760" y="3977640"/>
            <a:ext cx="1389888" cy="146304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 algn="l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dirty="0">
                <a:solidFill>
                  <a:srgbClr val="323B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上下文：读代码/文档/日志</a:t>
            </a:r>
            <a:endParaRPr lang="en-US" sz="890" dirty="0"/>
          </a:p>
        </p:txBody>
      </p:sp>
      <p:sp>
        <p:nvSpPr>
          <p:cNvPr id="18" name="Shape 16"/>
          <p:cNvSpPr/>
          <p:nvPr/>
        </p:nvSpPr>
        <p:spPr>
          <a:xfrm>
            <a:off x="4151376" y="4032504"/>
            <a:ext cx="64008" cy="64008"/>
          </a:xfrm>
          <a:prstGeom prst="ellipse">
            <a:avLst/>
          </a:prstGeom>
          <a:solidFill>
            <a:srgbClr val="D20A11"/>
          </a:solidFill>
          <a:ln w="12700">
            <a:solidFill>
              <a:srgbClr val="D20A11">
                <a:alpha val="0"/>
              </a:srgbClr>
            </a:solidFill>
            <a:prstDash val="solid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19" name="Text 17"/>
          <p:cNvSpPr/>
          <p:nvPr/>
        </p:nvSpPr>
        <p:spPr>
          <a:xfrm>
            <a:off x="4279392" y="3977640"/>
            <a:ext cx="1389888" cy="146304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 algn="l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dirty="0">
                <a:solidFill>
                  <a:srgbClr val="323B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计划：拆成可执行步骤</a:t>
            </a:r>
            <a:endParaRPr lang="en-US" sz="890" dirty="0"/>
          </a:p>
        </p:txBody>
      </p:sp>
      <p:sp>
        <p:nvSpPr>
          <p:cNvPr id="20" name="Shape 18"/>
          <p:cNvSpPr/>
          <p:nvPr/>
        </p:nvSpPr>
        <p:spPr>
          <a:xfrm>
            <a:off x="896112" y="4471416"/>
            <a:ext cx="64008" cy="64008"/>
          </a:xfrm>
          <a:prstGeom prst="ellipse">
            <a:avLst/>
          </a:prstGeom>
          <a:solidFill>
            <a:srgbClr val="687284"/>
          </a:solidFill>
          <a:ln w="12700">
            <a:solidFill>
              <a:srgbClr val="687284">
                <a:alpha val="0"/>
              </a:srgbClr>
            </a:solidFill>
            <a:prstDash val="solid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21" name="Text 19"/>
          <p:cNvSpPr/>
          <p:nvPr/>
        </p:nvSpPr>
        <p:spPr>
          <a:xfrm>
            <a:off x="1024128" y="4416552"/>
            <a:ext cx="1389888" cy="146304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 algn="l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dirty="0">
                <a:solidFill>
                  <a:srgbClr val="323B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工具：搜索/文件/终端/API</a:t>
            </a:r>
            <a:endParaRPr lang="en-US" sz="890" dirty="0"/>
          </a:p>
        </p:txBody>
      </p:sp>
      <p:sp>
        <p:nvSpPr>
          <p:cNvPr id="22" name="Shape 20"/>
          <p:cNvSpPr/>
          <p:nvPr/>
        </p:nvSpPr>
        <p:spPr>
          <a:xfrm>
            <a:off x="2523744" y="4471416"/>
            <a:ext cx="64008" cy="64008"/>
          </a:xfrm>
          <a:prstGeom prst="ellipse">
            <a:avLst/>
          </a:prstGeom>
          <a:solidFill>
            <a:srgbClr val="687284"/>
          </a:solidFill>
          <a:ln w="12700">
            <a:solidFill>
              <a:srgbClr val="687284">
                <a:alpha val="0"/>
              </a:srgbClr>
            </a:solidFill>
            <a:prstDash val="solid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23" name="Text 21"/>
          <p:cNvSpPr/>
          <p:nvPr/>
        </p:nvSpPr>
        <p:spPr>
          <a:xfrm>
            <a:off x="2651760" y="4416552"/>
            <a:ext cx="1389888" cy="146304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 algn="l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dirty="0">
                <a:solidFill>
                  <a:srgbClr val="323B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执行：改代码/跑命令</a:t>
            </a:r>
            <a:endParaRPr lang="en-US" sz="890" dirty="0"/>
          </a:p>
        </p:txBody>
      </p:sp>
      <p:sp>
        <p:nvSpPr>
          <p:cNvPr id="24" name="Shape 22"/>
          <p:cNvSpPr/>
          <p:nvPr/>
        </p:nvSpPr>
        <p:spPr>
          <a:xfrm>
            <a:off x="4151376" y="4471416"/>
            <a:ext cx="64008" cy="64008"/>
          </a:xfrm>
          <a:prstGeom prst="ellipse">
            <a:avLst/>
          </a:prstGeom>
          <a:solidFill>
            <a:srgbClr val="687284"/>
          </a:solidFill>
          <a:ln w="12700">
            <a:solidFill>
              <a:srgbClr val="687284">
                <a:alpha val="0"/>
              </a:srgbClr>
            </a:solidFill>
            <a:prstDash val="solid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25" name="Text 23"/>
          <p:cNvSpPr/>
          <p:nvPr/>
        </p:nvSpPr>
        <p:spPr>
          <a:xfrm>
            <a:off x="4279392" y="4416552"/>
            <a:ext cx="1389888" cy="146304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 algn="l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dirty="0">
                <a:solidFill>
                  <a:srgbClr val="323B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反馈：根据结果修正</a:t>
            </a:r>
            <a:endParaRPr lang="en-US" sz="890" dirty="0"/>
          </a:p>
        </p:txBody>
      </p:sp>
      <p:sp>
        <p:nvSpPr>
          <p:cNvPr id="26" name="Shape 24"/>
          <p:cNvSpPr/>
          <p:nvPr/>
        </p:nvSpPr>
        <p:spPr>
          <a:xfrm>
            <a:off x="658368" y="5285232"/>
            <a:ext cx="5349240" cy="768096"/>
          </a:xfrm>
          <a:prstGeom prst="roundRect">
            <a:avLst>
              <a:gd name="adj" fmla="val 7143"/>
            </a:avLst>
          </a:prstGeom>
          <a:solidFill>
            <a:srgbClr val="FFF4F4"/>
          </a:solidFill>
          <a:ln w="12700">
            <a:solidFill>
              <a:srgbClr val="F4D3D6"/>
            </a:solidFill>
            <a:prstDash val="solid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27" name="Text 25"/>
          <p:cNvSpPr/>
          <p:nvPr/>
        </p:nvSpPr>
        <p:spPr>
          <a:xfrm>
            <a:off x="896112" y="5486400"/>
            <a:ext cx="685800" cy="137160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 algn="l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b="1" dirty="0">
                <a:solidFill>
                  <a:srgbClr val="D20A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关键边界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645920" y="5469615"/>
            <a:ext cx="3977640" cy="365760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 algn="l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800" b="1" dirty="0">
                <a:solidFill>
                  <a:srgbClr val="171D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</a:t>
            </a:r>
            <a:r>
              <a:rPr lang="en-US" sz="800" b="1" dirty="0" err="1">
                <a:solidFill>
                  <a:srgbClr val="171D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能执行，不代表能负责</a:t>
            </a:r>
            <a:r>
              <a:rPr lang="en-US" sz="800" b="1" dirty="0">
                <a:solidFill>
                  <a:srgbClr val="171D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</a:p>
          <a:p>
            <a:pPr marL="0" indent="0" algn="l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800" b="1" dirty="0" err="1">
                <a:solidFill>
                  <a:srgbClr val="171D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需求澄清、架构取舍、质量风险和上线决策，仍然需要开发者把关</a:t>
            </a:r>
            <a:r>
              <a:rPr lang="en-US" sz="800" b="1" dirty="0">
                <a:solidFill>
                  <a:srgbClr val="171D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400800" y="566928"/>
            <a:ext cx="4389120" cy="256032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 algn="l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1423" b="1" dirty="0">
                <a:solidFill>
                  <a:srgbClr val="171D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同一个需求，普通助手和 Agent 的差别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419088" y="914400"/>
            <a:ext cx="3474720" cy="182880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 algn="l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833" dirty="0">
                <a:solidFill>
                  <a:srgbClr val="6872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例子：给用户列表接口增加分页能力</a:t>
            </a:r>
            <a:endParaRPr lang="en-US" sz="1180" dirty="0"/>
          </a:p>
        </p:txBody>
      </p:sp>
      <p:sp>
        <p:nvSpPr>
          <p:cNvPr id="31" name="Shape 29"/>
          <p:cNvSpPr/>
          <p:nvPr/>
        </p:nvSpPr>
        <p:spPr>
          <a:xfrm>
            <a:off x="6419088" y="1298448"/>
            <a:ext cx="5138928" cy="1609344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  <a:effectLst>
            <a:outerShdw blurRad="12700" dist="50800" dir="2700000" algn="bl" rotWithShape="0">
              <a:srgbClr val="E7EBF0">
                <a:alpha val="20000"/>
              </a:srgbClr>
            </a:outerShdw>
          </a:effectLst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32" name="Shape 30"/>
          <p:cNvSpPr/>
          <p:nvPr/>
        </p:nvSpPr>
        <p:spPr>
          <a:xfrm>
            <a:off x="6656832" y="1517904"/>
            <a:ext cx="896112" cy="219456"/>
          </a:xfrm>
          <a:prstGeom prst="roundRect">
            <a:avLst>
              <a:gd name="adj" fmla="val 25000"/>
            </a:avLst>
          </a:prstGeom>
          <a:solidFill>
            <a:srgbClr val="FFF7F7"/>
          </a:solidFill>
          <a:ln w="8890">
            <a:solidFill>
              <a:srgbClr val="F2D5D7"/>
            </a:solidFill>
            <a:prstDash val="solid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33" name="Text 31"/>
          <p:cNvSpPr/>
          <p:nvPr/>
        </p:nvSpPr>
        <p:spPr>
          <a:xfrm>
            <a:off x="6656832" y="1549908"/>
            <a:ext cx="896112" cy="91440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 fontScale="70000" lnSpcReduction="20000"/>
          </a:bodyPr>
          <a:lstStyle/>
          <a:p>
            <a:pPr marL="0" indent="0" algn="ctr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b="1" dirty="0">
                <a:solidFill>
                  <a:srgbClr val="D20A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 AI 助手</a:t>
            </a:r>
            <a:endParaRPr lang="en-US" sz="840" dirty="0"/>
          </a:p>
        </p:txBody>
      </p:sp>
      <p:sp>
        <p:nvSpPr>
          <p:cNvPr id="34" name="Text 32"/>
          <p:cNvSpPr/>
          <p:nvPr/>
        </p:nvSpPr>
        <p:spPr>
          <a:xfrm>
            <a:off x="6656832" y="1847088"/>
            <a:ext cx="2103120" cy="201168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 algn="l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1012" b="1" dirty="0">
                <a:solidFill>
                  <a:srgbClr val="171D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你问一句，它答一句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656832" y="2212848"/>
            <a:ext cx="2423160" cy="182880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 algn="l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809" dirty="0">
                <a:solidFill>
                  <a:srgbClr val="6872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“帮我写一个分页查询函数。”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9253728" y="1682496"/>
            <a:ext cx="1938528" cy="804672"/>
          </a:xfrm>
          <a:prstGeom prst="roundRect">
            <a:avLst>
              <a:gd name="adj" fmla="val 4545"/>
            </a:avLst>
          </a:prstGeom>
          <a:solidFill>
            <a:srgbClr val="FAFBFC"/>
          </a:solidFill>
          <a:ln w="12700">
            <a:solidFill>
              <a:srgbClr val="E7EBF0"/>
            </a:solidFill>
            <a:prstDash val="solid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37" name="Text 35"/>
          <p:cNvSpPr/>
          <p:nvPr/>
        </p:nvSpPr>
        <p:spPr>
          <a:xfrm>
            <a:off x="9436608" y="1828800"/>
            <a:ext cx="1353312" cy="146304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 algn="ctr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44" b="1" dirty="0">
                <a:solidFill>
                  <a:srgbClr val="171D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返回一段代码建议</a:t>
            </a:r>
            <a:endParaRPr lang="en-US" sz="1040" dirty="0"/>
          </a:p>
        </p:txBody>
      </p:sp>
      <p:sp>
        <p:nvSpPr>
          <p:cNvPr id="38" name="Text 36"/>
          <p:cNvSpPr/>
          <p:nvPr/>
        </p:nvSpPr>
        <p:spPr>
          <a:xfrm>
            <a:off x="9400032" y="2084832"/>
            <a:ext cx="1417320" cy="256032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 algn="ctr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62" dirty="0">
                <a:solidFill>
                  <a:srgbClr val="6872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复制 / 改造 / 运行 / 测试</a:t>
            </a:r>
            <a:endParaRPr lang="en-US" sz="850" dirty="0"/>
          </a:p>
          <a:p>
            <a:pPr marL="0" indent="0" algn="ctr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62" dirty="0">
                <a:solidFill>
                  <a:srgbClr val="6872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仍主要由开发者完成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419088" y="3182112"/>
            <a:ext cx="5138928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  <a:effectLst>
            <a:outerShdw blurRad="12700" dist="50800" dir="2700000" algn="bl" rotWithShape="0">
              <a:srgbClr val="E7EBF0">
                <a:alpha val="20000"/>
              </a:srgbClr>
            </a:outerShdw>
          </a:effectLst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40" name="Shape 38"/>
          <p:cNvSpPr/>
          <p:nvPr/>
        </p:nvSpPr>
        <p:spPr>
          <a:xfrm>
            <a:off x="6656832" y="3401568"/>
            <a:ext cx="658368" cy="219456"/>
          </a:xfrm>
          <a:prstGeom prst="roundRect">
            <a:avLst>
              <a:gd name="adj" fmla="val 25000"/>
            </a:avLst>
          </a:prstGeom>
          <a:solidFill>
            <a:srgbClr val="FFF7F7"/>
          </a:solidFill>
          <a:ln w="8890">
            <a:solidFill>
              <a:srgbClr val="F2D5D7"/>
            </a:solidFill>
            <a:prstDash val="solid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41" name="Text 39"/>
          <p:cNvSpPr/>
          <p:nvPr/>
        </p:nvSpPr>
        <p:spPr>
          <a:xfrm>
            <a:off x="6656832" y="3433572"/>
            <a:ext cx="658368" cy="91440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 fontScale="70000" lnSpcReduction="20000"/>
          </a:bodyPr>
          <a:lstStyle/>
          <a:p>
            <a:pPr marL="0" indent="0" algn="ctr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b="1" dirty="0">
                <a:solidFill>
                  <a:srgbClr val="D20A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Agent</a:t>
            </a:r>
            <a:endParaRPr lang="en-US" sz="840" dirty="0"/>
          </a:p>
        </p:txBody>
      </p:sp>
      <p:sp>
        <p:nvSpPr>
          <p:cNvPr id="42" name="Text 40"/>
          <p:cNvSpPr/>
          <p:nvPr/>
        </p:nvSpPr>
        <p:spPr>
          <a:xfrm>
            <a:off x="6656832" y="3712464"/>
            <a:ext cx="3108960" cy="201168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 algn="l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1012" b="1" dirty="0">
                <a:solidFill>
                  <a:srgbClr val="171D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你给目标，它推进一串工程动作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656832" y="4041648"/>
            <a:ext cx="4206240" cy="182880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 algn="l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809" dirty="0">
                <a:solidFill>
                  <a:srgbClr val="6872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“兼容旧调用，补单测，跑测试，并整理变更说明。”</a:t>
            </a:r>
            <a:endParaRPr lang="en-US" sz="1080" dirty="0"/>
          </a:p>
        </p:txBody>
      </p:sp>
      <p:sp>
        <p:nvSpPr>
          <p:cNvPr id="44" name="Shape 42"/>
          <p:cNvSpPr/>
          <p:nvPr/>
        </p:nvSpPr>
        <p:spPr>
          <a:xfrm>
            <a:off x="6656832" y="4462272"/>
            <a:ext cx="56692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45" name="Text 43"/>
          <p:cNvSpPr/>
          <p:nvPr/>
        </p:nvSpPr>
        <p:spPr>
          <a:xfrm>
            <a:off x="6871716" y="4549140"/>
            <a:ext cx="137160" cy="91440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 fontScale="70000" lnSpcReduction="20000"/>
          </a:bodyPr>
          <a:lstStyle/>
          <a:p>
            <a:pPr marL="0" indent="0" algn="ctr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b="1" dirty="0">
                <a:solidFill>
                  <a:srgbClr val="6872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638544" y="4928616"/>
            <a:ext cx="603504" cy="109728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 fontScale="92500" lnSpcReduction="20000"/>
          </a:bodyPr>
          <a:lstStyle/>
          <a:p>
            <a:pPr marL="0" indent="0" algn="ctr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b="1" dirty="0">
                <a:solidFill>
                  <a:srgbClr val="171D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读仓库</a:t>
            </a:r>
            <a:endParaRPr lang="en-US" sz="830" dirty="0"/>
          </a:p>
        </p:txBody>
      </p:sp>
      <p:sp>
        <p:nvSpPr>
          <p:cNvPr id="47" name="Text 45"/>
          <p:cNvSpPr/>
          <p:nvPr/>
        </p:nvSpPr>
        <p:spPr>
          <a:xfrm>
            <a:off x="6583680" y="5120640"/>
            <a:ext cx="713232" cy="109728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 fontScale="92500" lnSpcReduction="20000"/>
          </a:bodyPr>
          <a:lstStyle/>
          <a:p>
            <a:pPr marL="0" indent="0" algn="ctr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dirty="0">
                <a:solidFill>
                  <a:srgbClr val="6872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定位接口/调用方</a:t>
            </a:r>
            <a:endParaRPr lang="en-US" sz="720" dirty="0"/>
          </a:p>
        </p:txBody>
      </p:sp>
      <p:sp>
        <p:nvSpPr>
          <p:cNvPr id="48" name="Text 46"/>
          <p:cNvSpPr/>
          <p:nvPr/>
        </p:nvSpPr>
        <p:spPr>
          <a:xfrm>
            <a:off x="7242048" y="4562856"/>
            <a:ext cx="146304" cy="91440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 fontScale="55000" lnSpcReduction="20000"/>
          </a:bodyPr>
          <a:lstStyle/>
          <a:p>
            <a:pPr marL="0" indent="0" algn="ctr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744" dirty="0">
                <a:solidFill>
                  <a:srgbClr val="8B95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7443216" y="4462272"/>
            <a:ext cx="56692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50" name="Text 48"/>
          <p:cNvSpPr/>
          <p:nvPr/>
        </p:nvSpPr>
        <p:spPr>
          <a:xfrm>
            <a:off x="7658100" y="4549140"/>
            <a:ext cx="137160" cy="91440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 fontScale="70000" lnSpcReduction="20000"/>
          </a:bodyPr>
          <a:lstStyle/>
          <a:p>
            <a:pPr marL="0" indent="0" algn="ctr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b="1" dirty="0">
                <a:solidFill>
                  <a:srgbClr val="6872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424928" y="4928616"/>
            <a:ext cx="603504" cy="109728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 fontScale="92500" lnSpcReduction="20000"/>
          </a:bodyPr>
          <a:lstStyle/>
          <a:p>
            <a:pPr marL="0" indent="0" algn="ctr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b="1" dirty="0">
                <a:solidFill>
                  <a:srgbClr val="171D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拟计划</a:t>
            </a:r>
            <a:endParaRPr lang="en-US" sz="830" dirty="0"/>
          </a:p>
        </p:txBody>
      </p:sp>
      <p:sp>
        <p:nvSpPr>
          <p:cNvPr id="52" name="Text 50"/>
          <p:cNvSpPr/>
          <p:nvPr/>
        </p:nvSpPr>
        <p:spPr>
          <a:xfrm>
            <a:off x="7370064" y="5120640"/>
            <a:ext cx="713232" cy="109728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 fontScale="92500" lnSpcReduction="20000"/>
          </a:bodyPr>
          <a:lstStyle/>
          <a:p>
            <a:pPr marL="0" indent="0" algn="ctr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dirty="0">
                <a:solidFill>
                  <a:srgbClr val="6872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列出修改范围</a:t>
            </a:r>
            <a:endParaRPr lang="en-US" sz="720" dirty="0"/>
          </a:p>
        </p:txBody>
      </p:sp>
      <p:sp>
        <p:nvSpPr>
          <p:cNvPr id="53" name="Text 51"/>
          <p:cNvSpPr/>
          <p:nvPr/>
        </p:nvSpPr>
        <p:spPr>
          <a:xfrm>
            <a:off x="8028432" y="4562856"/>
            <a:ext cx="146304" cy="91440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 fontScale="55000" lnSpcReduction="20000"/>
          </a:bodyPr>
          <a:lstStyle/>
          <a:p>
            <a:pPr marL="0" indent="0" algn="ctr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744" dirty="0">
                <a:solidFill>
                  <a:srgbClr val="8B95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8229600" y="4462272"/>
            <a:ext cx="566928" cy="384048"/>
          </a:xfrm>
          <a:prstGeom prst="roundRect">
            <a:avLst>
              <a:gd name="adj" fmla="val 11905"/>
            </a:avLst>
          </a:prstGeom>
          <a:solidFill>
            <a:srgbClr val="FFF4F4"/>
          </a:solidFill>
          <a:ln w="12700">
            <a:solidFill>
              <a:srgbClr val="D20A11"/>
            </a:solidFill>
            <a:prstDash val="solid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55" name="Text 53"/>
          <p:cNvSpPr/>
          <p:nvPr/>
        </p:nvSpPr>
        <p:spPr>
          <a:xfrm>
            <a:off x="8444484" y="4549140"/>
            <a:ext cx="137160" cy="91440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 fontScale="70000" lnSpcReduction="20000"/>
          </a:bodyPr>
          <a:lstStyle/>
          <a:p>
            <a:pPr marL="0" indent="0" algn="ctr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b="1" dirty="0">
                <a:solidFill>
                  <a:srgbClr val="D20A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8211312" y="4928616"/>
            <a:ext cx="603504" cy="109728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 fontScale="92500" lnSpcReduction="20000"/>
          </a:bodyPr>
          <a:lstStyle/>
          <a:p>
            <a:pPr marL="0" indent="0" algn="ctr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b="1" dirty="0">
                <a:solidFill>
                  <a:srgbClr val="D20A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改代码</a:t>
            </a:r>
            <a:endParaRPr lang="en-US" sz="830" dirty="0"/>
          </a:p>
        </p:txBody>
      </p:sp>
      <p:sp>
        <p:nvSpPr>
          <p:cNvPr id="57" name="Text 55"/>
          <p:cNvSpPr/>
          <p:nvPr/>
        </p:nvSpPr>
        <p:spPr>
          <a:xfrm>
            <a:off x="8156448" y="5120640"/>
            <a:ext cx="713232" cy="109728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 fontScale="92500" lnSpcReduction="20000"/>
          </a:bodyPr>
          <a:lstStyle/>
          <a:p>
            <a:pPr marL="0" indent="0" algn="ctr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dirty="0">
                <a:solidFill>
                  <a:srgbClr val="6872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实现分页逻辑</a:t>
            </a:r>
            <a:endParaRPr lang="en-US" sz="720" dirty="0"/>
          </a:p>
        </p:txBody>
      </p:sp>
      <p:sp>
        <p:nvSpPr>
          <p:cNvPr id="58" name="Text 56"/>
          <p:cNvSpPr/>
          <p:nvPr/>
        </p:nvSpPr>
        <p:spPr>
          <a:xfrm>
            <a:off x="8814816" y="4562856"/>
            <a:ext cx="146304" cy="91440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 fontScale="55000" lnSpcReduction="20000"/>
          </a:bodyPr>
          <a:lstStyle/>
          <a:p>
            <a:pPr marL="0" indent="0" algn="ctr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744" dirty="0">
                <a:solidFill>
                  <a:srgbClr val="8B95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9015984" y="4462272"/>
            <a:ext cx="56692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60" name="Text 58"/>
          <p:cNvSpPr/>
          <p:nvPr/>
        </p:nvSpPr>
        <p:spPr>
          <a:xfrm>
            <a:off x="9230868" y="4549140"/>
            <a:ext cx="137160" cy="91440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 fontScale="70000" lnSpcReduction="20000"/>
          </a:bodyPr>
          <a:lstStyle/>
          <a:p>
            <a:pPr marL="0" indent="0" algn="ctr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b="1" dirty="0">
                <a:solidFill>
                  <a:srgbClr val="6872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8997696" y="4928616"/>
            <a:ext cx="603504" cy="109728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 fontScale="92500" lnSpcReduction="20000"/>
          </a:bodyPr>
          <a:lstStyle/>
          <a:p>
            <a:pPr marL="0" indent="0" algn="ctr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b="1" dirty="0">
                <a:solidFill>
                  <a:srgbClr val="171D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补测试</a:t>
            </a:r>
            <a:endParaRPr lang="en-US" sz="830" dirty="0"/>
          </a:p>
        </p:txBody>
      </p:sp>
      <p:sp>
        <p:nvSpPr>
          <p:cNvPr id="62" name="Text 60"/>
          <p:cNvSpPr/>
          <p:nvPr/>
        </p:nvSpPr>
        <p:spPr>
          <a:xfrm>
            <a:off x="8942832" y="5120640"/>
            <a:ext cx="713232" cy="109728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 fontScale="92500" lnSpcReduction="20000"/>
          </a:bodyPr>
          <a:lstStyle/>
          <a:p>
            <a:pPr marL="0" indent="0" algn="ctr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dirty="0">
                <a:solidFill>
                  <a:srgbClr val="6872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覆盖边界用例</a:t>
            </a:r>
            <a:endParaRPr lang="en-US" sz="720" dirty="0"/>
          </a:p>
        </p:txBody>
      </p:sp>
      <p:sp>
        <p:nvSpPr>
          <p:cNvPr id="63" name="Text 61"/>
          <p:cNvSpPr/>
          <p:nvPr/>
        </p:nvSpPr>
        <p:spPr>
          <a:xfrm>
            <a:off x="9601200" y="4562856"/>
            <a:ext cx="146304" cy="91440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 fontScale="55000" lnSpcReduction="20000"/>
          </a:bodyPr>
          <a:lstStyle/>
          <a:p>
            <a:pPr marL="0" indent="0" algn="ctr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744" dirty="0">
                <a:solidFill>
                  <a:srgbClr val="8B95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9802368" y="4462272"/>
            <a:ext cx="56692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65" name="Text 63"/>
          <p:cNvSpPr/>
          <p:nvPr/>
        </p:nvSpPr>
        <p:spPr>
          <a:xfrm>
            <a:off x="10017252" y="4549140"/>
            <a:ext cx="137160" cy="91440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 fontScale="70000" lnSpcReduction="20000"/>
          </a:bodyPr>
          <a:lstStyle/>
          <a:p>
            <a:pPr marL="0" indent="0" algn="ctr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b="1" dirty="0">
                <a:solidFill>
                  <a:srgbClr val="6872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9784080" y="4928616"/>
            <a:ext cx="603504" cy="109728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 fontScale="92500" lnSpcReduction="20000"/>
          </a:bodyPr>
          <a:lstStyle/>
          <a:p>
            <a:pPr marL="0" indent="0" algn="ctr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b="1" dirty="0">
                <a:solidFill>
                  <a:srgbClr val="171D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跑测试</a:t>
            </a:r>
            <a:endParaRPr lang="en-US" sz="830" dirty="0"/>
          </a:p>
        </p:txBody>
      </p:sp>
      <p:sp>
        <p:nvSpPr>
          <p:cNvPr id="67" name="Text 65"/>
          <p:cNvSpPr/>
          <p:nvPr/>
        </p:nvSpPr>
        <p:spPr>
          <a:xfrm>
            <a:off x="9729216" y="5120640"/>
            <a:ext cx="713232" cy="109728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 fontScale="92500" lnSpcReduction="20000"/>
          </a:bodyPr>
          <a:lstStyle/>
          <a:p>
            <a:pPr marL="0" indent="0" algn="ctr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dirty="0">
                <a:solidFill>
                  <a:srgbClr val="6872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失败后继续修</a:t>
            </a:r>
            <a:endParaRPr lang="en-US" sz="720" dirty="0"/>
          </a:p>
        </p:txBody>
      </p:sp>
      <p:sp>
        <p:nvSpPr>
          <p:cNvPr id="68" name="Text 66"/>
          <p:cNvSpPr/>
          <p:nvPr/>
        </p:nvSpPr>
        <p:spPr>
          <a:xfrm>
            <a:off x="10387584" y="4562856"/>
            <a:ext cx="146304" cy="91440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 fontScale="55000" lnSpcReduction="20000"/>
          </a:bodyPr>
          <a:lstStyle/>
          <a:p>
            <a:pPr marL="0" indent="0" algn="ctr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744" dirty="0">
                <a:solidFill>
                  <a:srgbClr val="8B95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10588752" y="4462272"/>
            <a:ext cx="56692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70" name="Text 68"/>
          <p:cNvSpPr/>
          <p:nvPr/>
        </p:nvSpPr>
        <p:spPr>
          <a:xfrm>
            <a:off x="10803636" y="4549140"/>
            <a:ext cx="137160" cy="91440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 fontScale="70000" lnSpcReduction="20000"/>
          </a:bodyPr>
          <a:lstStyle/>
          <a:p>
            <a:pPr marL="0" indent="0" algn="ctr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b="1" dirty="0">
                <a:solidFill>
                  <a:srgbClr val="6872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10570464" y="4928616"/>
            <a:ext cx="603504" cy="109728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 fontScale="92500" lnSpcReduction="20000"/>
          </a:bodyPr>
          <a:lstStyle/>
          <a:p>
            <a:pPr marL="0" indent="0" algn="ctr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b="1" dirty="0">
                <a:solidFill>
                  <a:srgbClr val="171D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</a:t>
            </a:r>
            <a:endParaRPr lang="en-US" sz="830" dirty="0"/>
          </a:p>
        </p:txBody>
      </p:sp>
      <p:sp>
        <p:nvSpPr>
          <p:cNvPr id="72" name="Text 70"/>
          <p:cNvSpPr/>
          <p:nvPr/>
        </p:nvSpPr>
        <p:spPr>
          <a:xfrm>
            <a:off x="10515600" y="5120640"/>
            <a:ext cx="713232" cy="109728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 fontScale="92500" lnSpcReduction="20000"/>
          </a:bodyPr>
          <a:lstStyle/>
          <a:p>
            <a:pPr marL="0" indent="0" algn="ctr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dirty="0">
                <a:solidFill>
                  <a:srgbClr val="6872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 PR 说明</a:t>
            </a:r>
            <a:endParaRPr lang="en-US" sz="720" dirty="0"/>
          </a:p>
        </p:txBody>
      </p:sp>
      <p:sp>
        <p:nvSpPr>
          <p:cNvPr id="73" name="Shape 71"/>
          <p:cNvSpPr/>
          <p:nvPr/>
        </p:nvSpPr>
        <p:spPr>
          <a:xfrm>
            <a:off x="6419088" y="5797296"/>
            <a:ext cx="5138928" cy="493776"/>
          </a:xfrm>
          <a:prstGeom prst="roundRect">
            <a:avLst>
              <a:gd name="adj" fmla="val 11111"/>
            </a:avLst>
          </a:prstGeom>
          <a:solidFill>
            <a:srgbClr val="FAFBFC"/>
          </a:solidFill>
          <a:ln w="12700">
            <a:solidFill>
              <a:srgbClr val="E3E7ED"/>
            </a:solidFill>
            <a:prstDash val="solid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74" name="Text 72"/>
          <p:cNvSpPr/>
          <p:nvPr/>
        </p:nvSpPr>
        <p:spPr>
          <a:xfrm>
            <a:off x="6656832" y="5934456"/>
            <a:ext cx="329184" cy="91440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 fontScale="70000" lnSpcReduction="20000"/>
          </a:bodyPr>
          <a:lstStyle/>
          <a:p>
            <a:pPr marL="0" indent="0" algn="l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b="1" dirty="0">
                <a:solidFill>
                  <a:srgbClr val="D20A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类比</a:t>
            </a:r>
            <a:endParaRPr lang="en-US" sz="920" dirty="0"/>
          </a:p>
        </p:txBody>
      </p:sp>
      <p:sp>
        <p:nvSpPr>
          <p:cNvPr id="75" name="Text 73"/>
          <p:cNvSpPr/>
          <p:nvPr/>
        </p:nvSpPr>
        <p:spPr>
          <a:xfrm>
            <a:off x="7059168" y="5926314"/>
            <a:ext cx="3968496" cy="164592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 algn="l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732" b="1" dirty="0">
                <a:solidFill>
                  <a:srgbClr val="171D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普通助手像“答疑同学”；Agent 更像“可接小任务的实习生”。</a:t>
            </a:r>
            <a:endParaRPr lang="en-US" sz="1140" dirty="0"/>
          </a:p>
        </p:txBody>
      </p:sp>
      <p:sp>
        <p:nvSpPr>
          <p:cNvPr id="80" name="Rectangle 79"/>
          <p:cNvSpPr/>
          <p:nvPr/>
        </p:nvSpPr>
        <p:spPr>
          <a:xfrm>
            <a:off x="502920" y="576072"/>
            <a:ext cx="384048" cy="32004"/>
          </a:xfrm>
          <a:prstGeom prst="rect">
            <a:avLst/>
          </a:prstGeom>
          <a:solidFill>
            <a:srgbClr val="C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02920" y="6455664"/>
            <a:ext cx="61264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>
                <a:solidFill>
                  <a:srgbClr val="5C6471"/>
                </a:solidFill>
                <a:latin typeface="Microsoft YaHei"/>
              </a:rPr>
              <a:t>本次目标：带大家入门 AI 辅助研发，把工具真正用起来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842248" y="6455664"/>
            <a:ext cx="1133856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80">
                <a:solidFill>
                  <a:srgbClr val="5C6471"/>
                </a:solidFill>
                <a:latin typeface="Microsoft YaHei"/>
              </a:rPr>
              <a:t>2026 年 5 月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104120" y="6464808"/>
            <a:ext cx="9144" cy="128016"/>
          </a:xfrm>
          <a:prstGeom prst="rect">
            <a:avLst/>
          </a:prstGeom>
          <a:solidFill>
            <a:srgbClr val="D7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4" name="Picture 8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9568" y="6382512"/>
            <a:ext cx="266315" cy="201168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10552176" y="6437376"/>
            <a:ext cx="758952" cy="1280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0" b="1">
                <a:solidFill>
                  <a:srgbClr val="1A202C"/>
                </a:solidFill>
                <a:latin typeface="Arial"/>
              </a:rPr>
              <a:t>HUAWEI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064" y="164592"/>
            <a:ext cx="1106424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A202C"/>
                </a:solidFill>
                <a:latin typeface="Microsoft YaHei"/>
              </a:rPr>
              <a:t>以 opencode CLI 为例：/init 让 Agent 读懂项目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548640"/>
            <a:ext cx="841248" cy="45720"/>
          </a:xfrm>
          <a:prstGeom prst="rect">
            <a:avLst/>
          </a:prstGeom>
          <a:solidFill>
            <a:srgbClr val="C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12064" y="658368"/>
            <a:ext cx="10972800" cy="180049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dirty="0">
                <a:solidFill>
                  <a:srgbClr val="5C6471"/>
                </a:solidFill>
                <a:latin typeface="Microsoft YaHei"/>
              </a:rPr>
              <a:t>第 5 </a:t>
            </a:r>
            <a:r>
              <a:rPr sz="1050" b="0" dirty="0" err="1">
                <a:solidFill>
                  <a:srgbClr val="5C6471"/>
                </a:solidFill>
                <a:latin typeface="Microsoft YaHei"/>
              </a:rPr>
              <a:t>页重点：npm</a:t>
            </a:r>
            <a:r>
              <a:rPr sz="1050" b="0" dirty="0">
                <a:solidFill>
                  <a:srgbClr val="5C6471"/>
                </a:solidFill>
                <a:latin typeface="Microsoft YaHei"/>
              </a:rPr>
              <a:t> </a:t>
            </a:r>
            <a:r>
              <a:rPr sz="1050" b="0" dirty="0" err="1">
                <a:solidFill>
                  <a:srgbClr val="5C6471"/>
                </a:solidFill>
                <a:latin typeface="Microsoft YaHei"/>
              </a:rPr>
              <a:t>安装</a:t>
            </a:r>
            <a:r>
              <a:rPr sz="1050" b="0" dirty="0">
                <a:solidFill>
                  <a:srgbClr val="5C6471"/>
                </a:solidFill>
                <a:latin typeface="Microsoft YaHei"/>
              </a:rPr>
              <a:t>、/</a:t>
            </a:r>
            <a:r>
              <a:rPr sz="1050" b="0" dirty="0" err="1">
                <a:solidFill>
                  <a:srgbClr val="5C6471"/>
                </a:solidFill>
                <a:latin typeface="Microsoft YaHei"/>
              </a:rPr>
              <a:t>init</a:t>
            </a:r>
            <a:r>
              <a:rPr sz="1050" b="0" dirty="0">
                <a:solidFill>
                  <a:srgbClr val="5C6471"/>
                </a:solidFill>
                <a:latin typeface="Microsoft YaHei"/>
              </a:rPr>
              <a:t> 初始化、AGENT.md </a:t>
            </a:r>
            <a:r>
              <a:rPr sz="1050" b="0" dirty="0" err="1">
                <a:solidFill>
                  <a:srgbClr val="5C6471"/>
                </a:solidFill>
                <a:latin typeface="Microsoft YaHei"/>
              </a:rPr>
              <a:t>的作用，以及“先分析、先出计划”的日常使用方式</a:t>
            </a:r>
            <a:r>
              <a:rPr sz="1050" b="0" dirty="0">
                <a:solidFill>
                  <a:srgbClr val="5C6471"/>
                </a:solidFill>
                <a:latin typeface="Microsoft YaHei"/>
              </a:rPr>
              <a:t>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" y="1024128"/>
            <a:ext cx="2880360" cy="5138928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18872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202C"/>
                </a:solidFill>
                <a:latin typeface="Microsoft YaHei"/>
              </a:rPr>
              <a:t>01 安装与启动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499616"/>
            <a:ext cx="2468880" cy="457200"/>
          </a:xfrm>
          <a:prstGeom prst="roundRect">
            <a:avLst/>
          </a:prstGeom>
          <a:solidFill>
            <a:srgbClr val="222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572768"/>
            <a:ext cx="224942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FFFFFF"/>
                </a:solidFill>
                <a:latin typeface="Consolas"/>
              </a:rPr>
              <a:t>npm install -g opencode-ai
opencode --version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066543"/>
            <a:ext cx="2468880" cy="475488"/>
          </a:xfrm>
          <a:prstGeom prst="roundRect">
            <a:avLst/>
          </a:prstGeom>
          <a:solidFill>
            <a:srgbClr val="222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139696"/>
            <a:ext cx="224942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FFFFFF"/>
                </a:solidFill>
                <a:latin typeface="Consolas"/>
              </a:rPr>
              <a:t>cd /path/to/java-service
opencode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761488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202C"/>
                </a:solidFill>
                <a:latin typeface="Microsoft YaHei"/>
              </a:rPr>
              <a:t>02 简单使用例子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054096"/>
            <a:ext cx="2423160" cy="1005840"/>
          </a:xfrm>
          <a:prstGeom prst="rect">
            <a:avLst/>
          </a:prstGeom>
          <a:noFill/>
        </p:spPr>
        <p:txBody>
          <a:bodyPr wrap="square" lIns="9144" tIns="0" rIns="9144" bIns="0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840" b="0" dirty="0" err="1">
                <a:solidFill>
                  <a:srgbClr val="5C6471"/>
                </a:solidFill>
                <a:latin typeface="Microsoft YaHei"/>
              </a:rPr>
              <a:t>先不要直接改代码，先让</a:t>
            </a:r>
            <a:r>
              <a:rPr sz="840" b="0" dirty="0">
                <a:solidFill>
                  <a:srgbClr val="5C6471"/>
                </a:solidFill>
                <a:latin typeface="Microsoft YaHei"/>
              </a:rPr>
              <a:t> Agent </a:t>
            </a:r>
            <a:r>
              <a:rPr sz="840" b="0" dirty="0" err="1">
                <a:solidFill>
                  <a:srgbClr val="5C6471"/>
                </a:solidFill>
                <a:latin typeface="Microsoft YaHei"/>
              </a:rPr>
              <a:t>看懂现状</a:t>
            </a:r>
            <a:r>
              <a:rPr sz="840" b="0" dirty="0">
                <a:solidFill>
                  <a:srgbClr val="5C6471"/>
                </a:solidFill>
                <a:latin typeface="Microsoft YaHei"/>
              </a:rPr>
              <a:t>：</a:t>
            </a:r>
          </a:p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815" b="0" dirty="0">
                <a:solidFill>
                  <a:srgbClr val="C4141C"/>
                </a:solidFill>
                <a:latin typeface="Microsoft YaHei"/>
              </a:rPr>
              <a:t>“</a:t>
            </a:r>
            <a:r>
              <a:rPr sz="815" b="0" dirty="0" err="1">
                <a:solidFill>
                  <a:srgbClr val="C4141C"/>
                </a:solidFill>
                <a:latin typeface="Microsoft YaHei"/>
              </a:rPr>
              <a:t>帮我分析</a:t>
            </a:r>
            <a:r>
              <a:rPr sz="815" b="0" dirty="0">
                <a:solidFill>
                  <a:srgbClr val="C4141C"/>
                </a:solidFill>
                <a:latin typeface="Microsoft YaHei"/>
              </a:rPr>
              <a:t> </a:t>
            </a:r>
            <a:r>
              <a:rPr sz="815" b="0" dirty="0" err="1">
                <a:solidFill>
                  <a:srgbClr val="C4141C"/>
                </a:solidFill>
                <a:latin typeface="Microsoft YaHei"/>
              </a:rPr>
              <a:t>UserController</a:t>
            </a:r>
            <a:r>
              <a:rPr sz="815" b="0" dirty="0">
                <a:solidFill>
                  <a:srgbClr val="C4141C"/>
                </a:solidFill>
                <a:latin typeface="Microsoft YaHei"/>
              </a:rPr>
              <a:t> </a:t>
            </a:r>
            <a:r>
              <a:rPr sz="815" b="0" dirty="0" err="1">
                <a:solidFill>
                  <a:srgbClr val="C4141C"/>
                </a:solidFill>
                <a:latin typeface="Microsoft YaHei"/>
              </a:rPr>
              <a:t>中用户列表接口的调用链，说明会涉及哪些</a:t>
            </a:r>
            <a:r>
              <a:rPr sz="815" b="0" dirty="0">
                <a:solidFill>
                  <a:srgbClr val="C4141C"/>
                </a:solidFill>
                <a:latin typeface="Microsoft YaHei"/>
              </a:rPr>
              <a:t> Service / DTO / </a:t>
            </a:r>
            <a:r>
              <a:rPr sz="815" b="0" dirty="0" err="1">
                <a:solidFill>
                  <a:srgbClr val="C4141C"/>
                </a:solidFill>
                <a:latin typeface="Microsoft YaHei"/>
              </a:rPr>
              <a:t>Repository，先不要修改代码</a:t>
            </a:r>
            <a:r>
              <a:rPr sz="815" b="0" dirty="0">
                <a:solidFill>
                  <a:srgbClr val="C4141C"/>
                </a:solidFill>
                <a:latin typeface="Microsoft YaHei"/>
              </a:rPr>
              <a:t>。”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29768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202C"/>
                </a:solidFill>
                <a:latin typeface="Microsoft YaHei"/>
              </a:rPr>
              <a:t>03 再进入实现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4590288"/>
            <a:ext cx="2468880" cy="1078992"/>
          </a:xfrm>
          <a:prstGeom prst="rect">
            <a:avLst/>
          </a:prstGeom>
          <a:noFill/>
        </p:spPr>
        <p:txBody>
          <a:bodyPr wrap="square" lIns="9144" tIns="0" rIns="9144" bIns="0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840" b="1" dirty="0" err="1">
                <a:solidFill>
                  <a:srgbClr val="C4141C"/>
                </a:solidFill>
                <a:latin typeface="Microsoft YaHei"/>
              </a:rPr>
              <a:t>更稳的节奏</a:t>
            </a:r>
            <a:r>
              <a:rPr sz="840" b="1" dirty="0">
                <a:solidFill>
                  <a:srgbClr val="C4141C"/>
                </a:solidFill>
                <a:latin typeface="Microsoft YaHei"/>
              </a:rPr>
              <a:t>：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850" b="0" dirty="0" err="1">
                <a:solidFill>
                  <a:srgbClr val="5C6471"/>
                </a:solidFill>
                <a:latin typeface="Microsoft YaHei"/>
              </a:rPr>
              <a:t>分析现状</a:t>
            </a:r>
            <a:r>
              <a:rPr sz="850" b="0" dirty="0">
                <a:solidFill>
                  <a:srgbClr val="5C6471"/>
                </a:solidFill>
                <a:latin typeface="Microsoft YaHei"/>
              </a:rPr>
              <a:t> → </a:t>
            </a:r>
            <a:r>
              <a:rPr sz="850" b="0" dirty="0" err="1">
                <a:solidFill>
                  <a:srgbClr val="5C6471"/>
                </a:solidFill>
                <a:latin typeface="Microsoft YaHei"/>
              </a:rPr>
              <a:t>输出计划</a:t>
            </a:r>
            <a:r>
              <a:rPr sz="850" b="0" dirty="0">
                <a:solidFill>
                  <a:srgbClr val="5C6471"/>
                </a:solidFill>
                <a:latin typeface="Microsoft YaHei"/>
              </a:rPr>
              <a:t> → </a:t>
            </a:r>
            <a:r>
              <a:rPr sz="850" b="0" dirty="0" err="1">
                <a:solidFill>
                  <a:srgbClr val="5C6471"/>
                </a:solidFill>
                <a:latin typeface="Microsoft YaHei"/>
              </a:rPr>
              <a:t>确认风险</a:t>
            </a:r>
            <a:r>
              <a:rPr sz="850" b="0" dirty="0">
                <a:solidFill>
                  <a:srgbClr val="5C6471"/>
                </a:solidFill>
                <a:latin typeface="Microsoft YaHei"/>
              </a:rPr>
              <a:t> → </a:t>
            </a:r>
            <a:r>
              <a:rPr sz="850" b="0" dirty="0" err="1">
                <a:solidFill>
                  <a:srgbClr val="5C6471"/>
                </a:solidFill>
                <a:latin typeface="Microsoft YaHei"/>
              </a:rPr>
              <a:t>再让</a:t>
            </a:r>
            <a:r>
              <a:rPr sz="850" b="0" dirty="0">
                <a:solidFill>
                  <a:srgbClr val="5C6471"/>
                </a:solidFill>
                <a:latin typeface="Microsoft YaHei"/>
              </a:rPr>
              <a:t> Agent </a:t>
            </a:r>
            <a:r>
              <a:rPr sz="850" b="0" dirty="0" err="1">
                <a:solidFill>
                  <a:srgbClr val="5C6471"/>
                </a:solidFill>
                <a:latin typeface="Microsoft YaHei"/>
              </a:rPr>
              <a:t>修改代码与补测试</a:t>
            </a:r>
            <a:r>
              <a:rPr sz="850" b="0" dirty="0">
                <a:solidFill>
                  <a:srgbClr val="5C6471"/>
                </a:solidFill>
                <a:latin typeface="Microsoft YaHei"/>
              </a:rPr>
              <a:t>。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850" b="0" dirty="0" err="1">
                <a:solidFill>
                  <a:srgbClr val="5C6471"/>
                </a:solidFill>
                <a:latin typeface="Microsoft YaHei"/>
              </a:rPr>
              <a:t>不要一上来就说“直接帮我改完</a:t>
            </a:r>
            <a:r>
              <a:rPr sz="850" b="0" dirty="0">
                <a:solidFill>
                  <a:srgbClr val="5C6471"/>
                </a:solidFill>
                <a:latin typeface="Microsoft YaHei"/>
              </a:rPr>
              <a:t>”。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11880" y="1024128"/>
            <a:ext cx="3749039" cy="5138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22191" y="1188720"/>
            <a:ext cx="3291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A202C"/>
                </a:solidFill>
                <a:latin typeface="Microsoft YaHei"/>
              </a:rPr>
              <a:t>为什么要先执行 /init？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22191" y="1572768"/>
            <a:ext cx="896112" cy="566928"/>
          </a:xfrm>
          <a:prstGeom prst="roundRect">
            <a:avLst/>
          </a:prstGeom>
          <a:solidFill>
            <a:srgbClr val="FFF4F4"/>
          </a:solidFill>
          <a:ln w="12700">
            <a:solidFill>
              <a:srgbClr val="EE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895344" y="1682495"/>
            <a:ext cx="74980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80" b="1">
                <a:solidFill>
                  <a:srgbClr val="C4141C"/>
                </a:solidFill>
                <a:latin typeface="Microsoft YaHei"/>
              </a:rPr>
              <a:t>/init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95344" y="1901952"/>
            <a:ext cx="749808" cy="9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C6471"/>
                </a:solidFill>
                <a:latin typeface="Microsoft YaHei"/>
              </a:rPr>
              <a:t>扫描项目</a:t>
            </a:r>
          </a:p>
        </p:txBody>
      </p:sp>
      <p:sp>
        <p:nvSpPr>
          <p:cNvPr id="20" name="Chevron 19"/>
          <p:cNvSpPr/>
          <p:nvPr/>
        </p:nvSpPr>
        <p:spPr>
          <a:xfrm>
            <a:off x="4800600" y="1773936"/>
            <a:ext cx="164592" cy="164592"/>
          </a:xfrm>
          <a:prstGeom prst="chevron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992624" y="1572768"/>
            <a:ext cx="896112" cy="566928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65776" y="1682495"/>
            <a:ext cx="74980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80" b="1">
                <a:solidFill>
                  <a:srgbClr val="1A202C"/>
                </a:solidFill>
                <a:latin typeface="Microsoft YaHei"/>
              </a:rPr>
              <a:t>生成/更新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65776" y="1901952"/>
            <a:ext cx="749808" cy="9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C6471"/>
                </a:solidFill>
                <a:latin typeface="Microsoft YaHei"/>
              </a:rPr>
              <a:t>AGENT.md</a:t>
            </a:r>
          </a:p>
        </p:txBody>
      </p:sp>
      <p:sp>
        <p:nvSpPr>
          <p:cNvPr id="24" name="Chevron 23"/>
          <p:cNvSpPr/>
          <p:nvPr/>
        </p:nvSpPr>
        <p:spPr>
          <a:xfrm>
            <a:off x="5971032" y="1773936"/>
            <a:ext cx="164592" cy="164592"/>
          </a:xfrm>
          <a:prstGeom prst="chevron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236208" y="1572768"/>
            <a:ext cx="896112" cy="566928"/>
          </a:xfrm>
          <a:prstGeom prst="roundRect">
            <a:avLst/>
          </a:prstGeom>
          <a:solidFill>
            <a:srgbClr val="FFF4F4"/>
          </a:solidFill>
          <a:ln w="12700">
            <a:solidFill>
              <a:srgbClr val="EE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09360" y="1682495"/>
            <a:ext cx="74980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80" b="1">
                <a:solidFill>
                  <a:srgbClr val="C4141C"/>
                </a:solidFill>
                <a:latin typeface="Microsoft YaHei"/>
              </a:rPr>
              <a:t>沉淀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1901952"/>
            <a:ext cx="749808" cy="9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C6471"/>
                </a:solidFill>
                <a:latin typeface="Microsoft YaHei"/>
              </a:rPr>
              <a:t>项目上下文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22191" y="2359152"/>
            <a:ext cx="3310128" cy="530352"/>
          </a:xfrm>
          <a:prstGeom prst="rect">
            <a:avLst/>
          </a:prstGeom>
          <a:noFill/>
        </p:spPr>
        <p:txBody>
          <a:bodyPr wrap="square" lIns="9144" tIns="0" rIns="9144" bIns="0" anchor="t">
            <a:normAutofit/>
          </a:bodyPr>
          <a:lstStyle/>
          <a:p>
            <a:pPr algn="l">
              <a:lnSpc>
                <a:spcPct val="104000"/>
              </a:lnSpc>
              <a:spcAft>
                <a:spcPts val="100"/>
              </a:spcAft>
            </a:pPr>
            <a:r>
              <a:rPr sz="919" b="1" dirty="0">
                <a:solidFill>
                  <a:srgbClr val="C4141C"/>
                </a:solidFill>
                <a:latin typeface="Microsoft YaHei"/>
              </a:rPr>
              <a:t>AGENT.md </a:t>
            </a:r>
            <a:r>
              <a:rPr sz="919" b="1" dirty="0" err="1">
                <a:solidFill>
                  <a:srgbClr val="C4141C"/>
                </a:solidFill>
                <a:latin typeface="Microsoft YaHei"/>
              </a:rPr>
              <a:t>可以理解为：写给</a:t>
            </a:r>
            <a:r>
              <a:rPr sz="919" b="1" dirty="0">
                <a:solidFill>
                  <a:srgbClr val="C4141C"/>
                </a:solidFill>
                <a:latin typeface="Microsoft YaHei"/>
              </a:rPr>
              <a:t> AI Agent </a:t>
            </a:r>
            <a:r>
              <a:rPr sz="919" b="1" dirty="0" err="1">
                <a:solidFill>
                  <a:srgbClr val="C4141C"/>
                </a:solidFill>
                <a:latin typeface="Microsoft YaHei"/>
              </a:rPr>
              <a:t>的项目说明书</a:t>
            </a:r>
            <a:r>
              <a:rPr sz="919" b="1" dirty="0">
                <a:solidFill>
                  <a:srgbClr val="C4141C"/>
                </a:solidFill>
                <a:latin typeface="Microsoft YaHei"/>
              </a:rPr>
              <a:t>。</a:t>
            </a:r>
          </a:p>
          <a:p>
            <a:pPr algn="l">
              <a:lnSpc>
                <a:spcPct val="104000"/>
              </a:lnSpc>
              <a:spcAft>
                <a:spcPts val="100"/>
              </a:spcAft>
            </a:pPr>
            <a:r>
              <a:rPr sz="860" b="0" dirty="0" err="1">
                <a:solidFill>
                  <a:srgbClr val="5C6471"/>
                </a:solidFill>
                <a:latin typeface="Microsoft YaHei"/>
              </a:rPr>
              <a:t>它让</a:t>
            </a:r>
            <a:r>
              <a:rPr sz="860" b="0" dirty="0">
                <a:solidFill>
                  <a:srgbClr val="5C6471"/>
                </a:solidFill>
                <a:latin typeface="Microsoft YaHei"/>
              </a:rPr>
              <a:t> Agent 每次进入任务时，不是“</a:t>
            </a:r>
            <a:r>
              <a:rPr sz="860" b="0" dirty="0" err="1">
                <a:solidFill>
                  <a:srgbClr val="5C6471"/>
                </a:solidFill>
                <a:latin typeface="Microsoft YaHei"/>
              </a:rPr>
              <a:t>通用助手</a:t>
            </a:r>
            <a:r>
              <a:rPr sz="860" b="0" dirty="0">
                <a:solidFill>
                  <a:srgbClr val="5C6471"/>
                </a:solidFill>
                <a:latin typeface="Microsoft YaHei"/>
              </a:rPr>
              <a:t>”，</a:t>
            </a:r>
            <a:r>
              <a:rPr sz="860" b="0" dirty="0" err="1">
                <a:solidFill>
                  <a:srgbClr val="5C6471"/>
                </a:solidFill>
                <a:latin typeface="Microsoft YaHei"/>
              </a:rPr>
              <a:t>而是带着项目角色、规则和上下文工作的协作者</a:t>
            </a:r>
            <a:r>
              <a:rPr sz="860" b="0" dirty="0">
                <a:solidFill>
                  <a:srgbClr val="5C6471"/>
                </a:solidFill>
                <a:latin typeface="Microsoft YaHei"/>
              </a:rPr>
              <a:t>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22191" y="3145536"/>
            <a:ext cx="3310128" cy="1719072"/>
          </a:xfrm>
          <a:prstGeom prst="roundRect">
            <a:avLst/>
          </a:prstGeom>
          <a:solidFill>
            <a:srgbClr val="222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931920" y="3218688"/>
            <a:ext cx="3090672" cy="1609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95" b="0">
                <a:solidFill>
                  <a:srgbClr val="FFFFFF"/>
                </a:solidFill>
                <a:latin typeface="Consolas"/>
              </a:rPr>
              <a:t># AGENT.md
## 角色
你是 Java 微服务开发助手
## 目标
分析需求、修改代码、补充测试
## 规则
- 高风险变更先出方案
- 不修改生产配置与密钥
- 公共接口变更必须补测试
## 常用命令
mvn test
mvn -Dtest=UserServiceTest test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22191" y="5120640"/>
            <a:ext cx="3310128" cy="658368"/>
          </a:xfrm>
          <a:prstGeom prst="roundRect">
            <a:avLst/>
          </a:prstGeom>
          <a:solidFill>
            <a:srgbClr val="FFF9EE"/>
          </a:solidFill>
          <a:ln w="12700">
            <a:solidFill>
              <a:srgbClr val="F0D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968496" y="5248656"/>
            <a:ext cx="2999232" cy="347472"/>
          </a:xfrm>
          <a:prstGeom prst="rect">
            <a:avLst/>
          </a:prstGeom>
          <a:noFill/>
        </p:spPr>
        <p:txBody>
          <a:bodyPr wrap="square" lIns="9144" tIns="0" rIns="9144" bIns="0" anchor="t">
            <a:norm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840" b="1" dirty="0" err="1">
                <a:solidFill>
                  <a:srgbClr val="C4141C"/>
                </a:solidFill>
                <a:latin typeface="Microsoft YaHei"/>
              </a:rPr>
              <a:t>一句话</a:t>
            </a:r>
            <a:r>
              <a:rPr sz="840" b="1" dirty="0">
                <a:solidFill>
                  <a:srgbClr val="C4141C"/>
                </a:solidFill>
                <a:latin typeface="Microsoft YaHei"/>
              </a:rPr>
              <a:t>：/</a:t>
            </a:r>
            <a:r>
              <a:rPr sz="840" b="1" dirty="0" err="1">
                <a:solidFill>
                  <a:srgbClr val="C4141C"/>
                </a:solidFill>
                <a:latin typeface="Microsoft YaHei"/>
              </a:rPr>
              <a:t>init</a:t>
            </a:r>
            <a:r>
              <a:rPr sz="840" b="1" dirty="0">
                <a:solidFill>
                  <a:srgbClr val="C4141C"/>
                </a:solidFill>
                <a:latin typeface="Microsoft YaHei"/>
              </a:rPr>
              <a:t> </a:t>
            </a:r>
            <a:r>
              <a:rPr sz="840" b="1" dirty="0" err="1">
                <a:solidFill>
                  <a:srgbClr val="C4141C"/>
                </a:solidFill>
                <a:latin typeface="Microsoft YaHei"/>
              </a:rPr>
              <a:t>不是仪式感，而是把“团队怎么干活”写进</a:t>
            </a:r>
            <a:r>
              <a:rPr sz="840" b="1" dirty="0">
                <a:solidFill>
                  <a:srgbClr val="C4141C"/>
                </a:solidFill>
                <a:latin typeface="Microsoft YaHei"/>
              </a:rPr>
              <a:t> Agent </a:t>
            </a:r>
            <a:r>
              <a:rPr sz="840" b="1" dirty="0" err="1">
                <a:solidFill>
                  <a:srgbClr val="C4141C"/>
                </a:solidFill>
                <a:latin typeface="Microsoft YaHei"/>
              </a:rPr>
              <a:t>的长期记忆</a:t>
            </a:r>
            <a:r>
              <a:rPr sz="840" b="1" dirty="0">
                <a:solidFill>
                  <a:srgbClr val="C4141C"/>
                </a:solidFill>
                <a:latin typeface="Microsoft YaHei"/>
              </a:rPr>
              <a:t>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89520" y="1024128"/>
            <a:ext cx="4087368" cy="5138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790688" y="1188720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A202C"/>
                </a:solidFill>
                <a:latin typeface="Microsoft YaHei"/>
              </a:rPr>
              <a:t>AGENT.md 主要让 Agent 记住什么？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90688" y="1572768"/>
            <a:ext cx="1627632" cy="786384"/>
          </a:xfrm>
          <a:prstGeom prst="roundRect">
            <a:avLst/>
          </a:prstGeom>
          <a:solidFill>
            <a:srgbClr val="FFF4F4"/>
          </a:solidFill>
          <a:ln w="1270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900415" y="1682495"/>
            <a:ext cx="137160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A202C"/>
                </a:solidFill>
                <a:latin typeface="Microsoft YaHei"/>
              </a:rPr>
              <a:t>角色与目标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00415" y="1920240"/>
            <a:ext cx="140817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0">
                <a:solidFill>
                  <a:srgbClr val="5C6471"/>
                </a:solidFill>
                <a:latin typeface="Microsoft YaHei"/>
              </a:rPr>
              <a:t>你是谁，要帮团队完成什么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46920" y="1572768"/>
            <a:ext cx="1627632" cy="786384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756648" y="1682495"/>
            <a:ext cx="137160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A202C"/>
                </a:solidFill>
                <a:latin typeface="Microsoft YaHei"/>
              </a:rPr>
              <a:t>边界与禁区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56648" y="1920240"/>
            <a:ext cx="140817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0">
                <a:solidFill>
                  <a:srgbClr val="5C6471"/>
                </a:solidFill>
                <a:latin typeface="Microsoft YaHei"/>
              </a:rPr>
              <a:t>哪些文件/操作不能碰，高风险先确认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790688" y="2542032"/>
            <a:ext cx="1627632" cy="786384"/>
          </a:xfrm>
          <a:prstGeom prst="roundRect">
            <a:avLst/>
          </a:prstGeom>
          <a:solidFill>
            <a:srgbClr val="FFF4F4"/>
          </a:solidFill>
          <a:ln w="1270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900415" y="2651760"/>
            <a:ext cx="137160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A202C"/>
                </a:solidFill>
                <a:latin typeface="Microsoft YaHei"/>
              </a:rPr>
              <a:t>可用工具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00415" y="2889503"/>
            <a:ext cx="140817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0">
                <a:solidFill>
                  <a:srgbClr val="5C6471"/>
                </a:solidFill>
                <a:latin typeface="Microsoft YaHei"/>
              </a:rPr>
              <a:t>函数、API、MCP Server、命令如何调用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646920" y="2542032"/>
            <a:ext cx="1627632" cy="786384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756648" y="2651760"/>
            <a:ext cx="137160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A202C"/>
                </a:solidFill>
                <a:latin typeface="Microsoft YaHei"/>
              </a:rPr>
              <a:t>项目背景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56648" y="2889503"/>
            <a:ext cx="140817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0">
                <a:solidFill>
                  <a:srgbClr val="5C6471"/>
                </a:solidFill>
                <a:latin typeface="Microsoft YaHei"/>
              </a:rPr>
              <a:t>架构、目录、术语、业务规则、技术栈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790688" y="3511296"/>
            <a:ext cx="1627632" cy="786384"/>
          </a:xfrm>
          <a:prstGeom prst="roundRect">
            <a:avLst/>
          </a:prstGeom>
          <a:solidFill>
            <a:srgbClr val="FFF4F4"/>
          </a:solidFill>
          <a:ln w="1270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900415" y="3621024"/>
            <a:ext cx="137160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A202C"/>
                </a:solidFill>
                <a:latin typeface="Microsoft YaHei"/>
              </a:rPr>
              <a:t>编码规范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00415" y="3858768"/>
            <a:ext cx="140817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0">
                <a:solidFill>
                  <a:srgbClr val="5C6471"/>
                </a:solidFill>
                <a:latin typeface="Microsoft YaHei"/>
              </a:rPr>
              <a:t>分层规则、测试策略、提交/输出要求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646920" y="3511296"/>
            <a:ext cx="1627632" cy="786384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756648" y="3621024"/>
            <a:ext cx="137160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A202C"/>
                </a:solidFill>
                <a:latin typeface="Microsoft YaHei"/>
              </a:rPr>
              <a:t>安全与格式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56648" y="3858768"/>
            <a:ext cx="140817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0">
                <a:solidFill>
                  <a:srgbClr val="5C6471"/>
                </a:solidFill>
                <a:latin typeface="Microsoft YaHei"/>
              </a:rPr>
              <a:t>降低幻觉，统一输出，方便协作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790688" y="4608576"/>
            <a:ext cx="3493008" cy="914400"/>
          </a:xfrm>
          <a:prstGeom prst="roundRect">
            <a:avLst/>
          </a:prstGeom>
          <a:solidFill>
            <a:srgbClr val="FFF4F4"/>
          </a:solidFill>
          <a:ln w="12700">
            <a:solidFill>
              <a:srgbClr val="EE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973568" y="4754880"/>
            <a:ext cx="3127248" cy="530352"/>
          </a:xfrm>
          <a:prstGeom prst="rect">
            <a:avLst/>
          </a:prstGeom>
          <a:noFill/>
        </p:spPr>
        <p:txBody>
          <a:bodyPr wrap="square" lIns="9144" tIns="0" rIns="9144" bIns="0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00" b="1">
                <a:solidFill>
                  <a:srgbClr val="C4141C"/>
                </a:solidFill>
                <a:latin typeface="Microsoft YaHei"/>
              </a:rPr>
              <a:t>在 Coding Agent 场景里：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825" b="0">
                <a:solidFill>
                  <a:srgbClr val="3C424E"/>
                </a:solidFill>
                <a:latin typeface="Microsoft YaHei"/>
              </a:rPr>
              <a:t>AGENT.md 负责“告诉 Agent 怎么在这个项目里做事”；OpenSpec 负责“告诉 Agent 这次需求到底要做什么”。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12064" y="5890740"/>
            <a:ext cx="11137392" cy="347472"/>
          </a:xfrm>
          <a:prstGeom prst="roundRect">
            <a:avLst/>
          </a:prstGeom>
          <a:solidFill>
            <a:srgbClr val="FFF4F4"/>
          </a:solidFill>
          <a:ln w="12700">
            <a:solidFill>
              <a:srgbClr val="EE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13232" y="5979299"/>
            <a:ext cx="106984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dirty="0" err="1">
                <a:solidFill>
                  <a:srgbClr val="C4141C"/>
                </a:solidFill>
                <a:latin typeface="Microsoft YaHei"/>
              </a:rPr>
              <a:t>落地建议：新项目先</a:t>
            </a:r>
            <a:r>
              <a:rPr sz="1050" b="1" dirty="0">
                <a:solidFill>
                  <a:srgbClr val="C4141C"/>
                </a:solidFill>
                <a:latin typeface="Microsoft YaHei"/>
              </a:rPr>
              <a:t> /</a:t>
            </a:r>
            <a:r>
              <a:rPr sz="1050" b="1" dirty="0" err="1">
                <a:solidFill>
                  <a:srgbClr val="C4141C"/>
                </a:solidFill>
                <a:latin typeface="Microsoft YaHei"/>
              </a:rPr>
              <a:t>init</a:t>
            </a:r>
            <a:r>
              <a:rPr sz="1050" b="1" dirty="0">
                <a:solidFill>
                  <a:srgbClr val="C4141C"/>
                </a:solidFill>
                <a:latin typeface="Microsoft YaHei"/>
              </a:rPr>
              <a:t> </a:t>
            </a:r>
            <a:r>
              <a:rPr sz="1050" b="1" dirty="0" err="1">
                <a:solidFill>
                  <a:srgbClr val="C4141C"/>
                </a:solidFill>
                <a:latin typeface="Microsoft YaHei"/>
              </a:rPr>
              <a:t>建立</a:t>
            </a:r>
            <a:r>
              <a:rPr sz="1050" b="1" dirty="0">
                <a:solidFill>
                  <a:srgbClr val="C4141C"/>
                </a:solidFill>
                <a:latin typeface="Microsoft YaHei"/>
              </a:rPr>
              <a:t> </a:t>
            </a:r>
            <a:r>
              <a:rPr sz="1050" b="1" dirty="0" err="1">
                <a:solidFill>
                  <a:srgbClr val="C4141C"/>
                </a:solidFill>
                <a:latin typeface="Microsoft YaHei"/>
              </a:rPr>
              <a:t>AGENT.md；每次需求先分析和计划；确认后再让</a:t>
            </a:r>
            <a:r>
              <a:rPr sz="1050" b="1" dirty="0">
                <a:solidFill>
                  <a:srgbClr val="C4141C"/>
                </a:solidFill>
                <a:latin typeface="Microsoft YaHei"/>
              </a:rPr>
              <a:t> Agent </a:t>
            </a:r>
            <a:r>
              <a:rPr sz="1050" b="1" dirty="0" err="1">
                <a:solidFill>
                  <a:srgbClr val="C4141C"/>
                </a:solidFill>
                <a:latin typeface="Microsoft YaHei"/>
              </a:rPr>
              <a:t>按规则改代码、跑测试、输出影响范围</a:t>
            </a:r>
            <a:r>
              <a:rPr sz="1050" b="1" dirty="0">
                <a:solidFill>
                  <a:srgbClr val="C4141C"/>
                </a:solidFill>
                <a:latin typeface="Microsoft YaHei"/>
              </a:rPr>
              <a:t>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" y="6455664"/>
            <a:ext cx="6126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C6471"/>
                </a:solidFill>
                <a:latin typeface="Microsoft YaHei"/>
              </a:rPr>
              <a:t>本次目标：带大家入门 AI 辅助研发，把工具真正用起来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42248" y="6455664"/>
            <a:ext cx="113385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80" b="0">
                <a:solidFill>
                  <a:srgbClr val="5C6471"/>
                </a:solidFill>
                <a:latin typeface="Microsoft YaHei"/>
              </a:rPr>
              <a:t>2026 年 5 月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104120" y="6464808"/>
            <a:ext cx="9144" cy="128016"/>
          </a:xfrm>
          <a:prstGeom prst="rect">
            <a:avLst/>
          </a:prstGeom>
          <a:solidFill>
            <a:srgbClr val="D7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0552176" y="6437376"/>
            <a:ext cx="75895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1">
                <a:solidFill>
                  <a:srgbClr val="1A202C"/>
                </a:solidFill>
                <a:latin typeface="Arial"/>
              </a:rPr>
              <a:t>HUAWEI</a:t>
            </a:r>
          </a:p>
        </p:txBody>
      </p:sp>
      <p:pic>
        <p:nvPicPr>
          <p:cNvPr id="61" name="Picture 83" descr="image.png">
            <a:extLst>
              <a:ext uri="{FF2B5EF4-FFF2-40B4-BE49-F238E27FC236}">
                <a16:creationId xmlns:a16="http://schemas.microsoft.com/office/drawing/2014/main" id="{5CEA8CE0-CD87-8945-2224-BD1CDFA4B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9568" y="6382512"/>
            <a:ext cx="266315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089904"/>
            <a:ext cx="11064240" cy="0"/>
          </a:xfrm>
          <a:prstGeom prst="line">
            <a:avLst/>
          </a:prstGeom>
          <a:noFill/>
          <a:ln w="12700">
            <a:solidFill>
              <a:srgbClr val="F3F4F6"/>
            </a:solidFill>
            <a:prstDash val="solid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310896"/>
            <a:ext cx="11018520" cy="384048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 algn="l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2218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opencode CLI 界面理解 </a:t>
            </a:r>
            <a:r>
              <a:rPr lang="en-US" sz="2218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核心概念</a:t>
            </a:r>
            <a:endParaRPr lang="en-US" sz="235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0972800" cy="219456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 algn="l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1015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用一次真实任务界面，把“上下文、工具、反馈、文件变更、人工验收”等概念落到开发过程里。</a:t>
            </a:r>
            <a:endParaRPr lang="en-US" sz="1170" dirty="0"/>
          </a:p>
        </p:txBody>
      </p:sp>
      <p:sp>
        <p:nvSpPr>
          <p:cNvPr id="5" name="Shape 3"/>
          <p:cNvSpPr/>
          <p:nvPr/>
        </p:nvSpPr>
        <p:spPr>
          <a:xfrm>
            <a:off x="548640" y="1170432"/>
            <a:ext cx="6912864" cy="4636008"/>
          </a:xfrm>
          <a:prstGeom prst="roundRect">
            <a:avLst>
              <a:gd name="adj" fmla="val 15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50800" dir="2700000" algn="bl" rotWithShape="0">
              <a:srgbClr val="CBD5E1">
                <a:alpha val="16000"/>
              </a:srgbClr>
            </a:outerShdw>
          </a:effectLst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6" name="Text 4"/>
          <p:cNvSpPr/>
          <p:nvPr/>
        </p:nvSpPr>
        <p:spPr>
          <a:xfrm>
            <a:off x="804672" y="1353312"/>
            <a:ext cx="2011680" cy="164592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 algn="l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705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opencode CLI 任务完成界面示例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2788920" y="1389888"/>
            <a:ext cx="3931920" cy="128016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 algn="l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左侧是执行结果与下一步建议，右侧是上下文、工具连接和变更文件列表。</a:t>
            </a:r>
            <a:endParaRPr lang="en-US" sz="770" dirty="0"/>
          </a:p>
        </p:txBody>
      </p:sp>
      <p:pic>
        <p:nvPicPr>
          <p:cNvPr id="8" name="Image 0" descr="/mnt/data/截屏2026-05-08 22.35.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627632"/>
            <a:ext cx="6382512" cy="381304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04672" y="1627632"/>
            <a:ext cx="6382512" cy="3813048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111827"/>
            </a:solidFill>
            <a:prstDash val="solid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10" name="Shape 7"/>
          <p:cNvSpPr/>
          <p:nvPr/>
        </p:nvSpPr>
        <p:spPr>
          <a:xfrm>
            <a:off x="5650992" y="1865376"/>
            <a:ext cx="219456" cy="219456"/>
          </a:xfrm>
          <a:prstGeom prst="ellipse">
            <a:avLst/>
          </a:prstGeom>
          <a:solidFill>
            <a:srgbClr val="C7000B"/>
          </a:solidFill>
          <a:ln w="15240">
            <a:solidFill>
              <a:srgbClr val="FFFFFF"/>
            </a:solidFill>
            <a:prstDash val="solid"/>
          </a:ln>
          <a:effectLst>
            <a:outerShdw blurRad="12700" dist="508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r>
              <a:rPr lang="en-US" sz="1050" dirty="0">
                <a:solidFill>
                  <a:schemeClr val="bg1"/>
                </a:solidFill>
              </a:rPr>
              <a:t>1</a:t>
            </a:r>
            <a:endParaRPr sz="1050" dirty="0">
              <a:solidFill>
                <a:schemeClr val="bg1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5650992" y="1915668"/>
            <a:ext cx="219456" cy="54864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 fontScale="25000" lnSpcReduction="20000"/>
          </a:bodyPr>
          <a:lstStyle/>
          <a:p>
            <a:pPr marL="0" indent="0" algn="ctr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5650992" y="2496312"/>
            <a:ext cx="219456" cy="219456"/>
          </a:xfrm>
          <a:prstGeom prst="ellipse">
            <a:avLst/>
          </a:prstGeom>
          <a:solidFill>
            <a:srgbClr val="2563EB"/>
          </a:solidFill>
          <a:ln w="15240">
            <a:solidFill>
              <a:srgbClr val="FFFFFF"/>
            </a:solidFill>
            <a:prstDash val="solid"/>
          </a:ln>
          <a:effectLst>
            <a:outerShdw blurRad="12700" dist="508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r>
              <a:rPr lang="en-US" sz="1050" dirty="0">
                <a:solidFill>
                  <a:schemeClr val="bg1"/>
                </a:solidFill>
              </a:rPr>
              <a:t>2</a:t>
            </a:r>
            <a:endParaRPr sz="1050" dirty="0">
              <a:solidFill>
                <a:schemeClr val="bg1"/>
              </a:solidFill>
            </a:endParaRPr>
          </a:p>
        </p:txBody>
      </p:sp>
      <p:sp>
        <p:nvSpPr>
          <p:cNvPr id="13" name="Text 10"/>
          <p:cNvSpPr/>
          <p:nvPr/>
        </p:nvSpPr>
        <p:spPr>
          <a:xfrm>
            <a:off x="5650992" y="2546604"/>
            <a:ext cx="219456" cy="54864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 fontScale="25000" lnSpcReduction="20000"/>
          </a:bodyPr>
          <a:lstStyle/>
          <a:p>
            <a:pPr marL="0" indent="0" algn="ctr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5650992" y="3163824"/>
            <a:ext cx="219456" cy="219456"/>
          </a:xfrm>
          <a:prstGeom prst="ellipse">
            <a:avLst/>
          </a:prstGeom>
          <a:solidFill>
            <a:srgbClr val="059669"/>
          </a:solidFill>
          <a:ln w="15240">
            <a:solidFill>
              <a:srgbClr val="FFFFFF"/>
            </a:solidFill>
            <a:prstDash val="solid"/>
          </a:ln>
          <a:effectLst>
            <a:outerShdw blurRad="12700" dist="508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r>
              <a:rPr lang="en-US" sz="1050" dirty="0">
                <a:solidFill>
                  <a:schemeClr val="bg1"/>
                </a:solidFill>
              </a:rPr>
              <a:t>3</a:t>
            </a:r>
            <a:endParaRPr sz="1050" dirty="0">
              <a:solidFill>
                <a:schemeClr val="bg1"/>
              </a:solidFill>
            </a:endParaRPr>
          </a:p>
        </p:txBody>
      </p:sp>
      <p:sp>
        <p:nvSpPr>
          <p:cNvPr id="15" name="Text 12"/>
          <p:cNvSpPr/>
          <p:nvPr/>
        </p:nvSpPr>
        <p:spPr>
          <a:xfrm>
            <a:off x="5650992" y="3214116"/>
            <a:ext cx="219456" cy="54864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 fontScale="25000" lnSpcReduction="20000"/>
          </a:bodyPr>
          <a:lstStyle/>
          <a:p>
            <a:pPr marL="0" indent="0" algn="ctr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896112" y="1773936"/>
            <a:ext cx="219456" cy="219456"/>
          </a:xfrm>
          <a:prstGeom prst="ellipse">
            <a:avLst/>
          </a:prstGeom>
          <a:solidFill>
            <a:srgbClr val="C7000B"/>
          </a:solidFill>
          <a:ln w="15240">
            <a:solidFill>
              <a:srgbClr val="FFFFFF"/>
            </a:solidFill>
            <a:prstDash val="solid"/>
          </a:ln>
          <a:effectLst>
            <a:outerShdw blurRad="12700" dist="508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r>
              <a:rPr lang="en-US" sz="1050" dirty="0">
                <a:solidFill>
                  <a:schemeClr val="bg1"/>
                </a:solidFill>
              </a:rPr>
              <a:t>4</a:t>
            </a:r>
            <a:endParaRPr sz="1050" dirty="0">
              <a:solidFill>
                <a:schemeClr val="bg1"/>
              </a:solidFill>
            </a:endParaRPr>
          </a:p>
        </p:txBody>
      </p:sp>
      <p:sp>
        <p:nvSpPr>
          <p:cNvPr id="17" name="Text 14"/>
          <p:cNvSpPr/>
          <p:nvPr/>
        </p:nvSpPr>
        <p:spPr>
          <a:xfrm>
            <a:off x="896112" y="1824228"/>
            <a:ext cx="219456" cy="54864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 fontScale="25000" lnSpcReduction="20000"/>
          </a:bodyPr>
          <a:lstStyle/>
          <a:p>
            <a:pPr marL="0" indent="0" algn="ctr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896112" y="4279392"/>
            <a:ext cx="219456" cy="219456"/>
          </a:xfrm>
          <a:prstGeom prst="ellipse">
            <a:avLst/>
          </a:prstGeom>
          <a:solidFill>
            <a:srgbClr val="059669"/>
          </a:solidFill>
          <a:ln w="15240">
            <a:solidFill>
              <a:srgbClr val="FFFFFF"/>
            </a:solidFill>
            <a:prstDash val="solid"/>
          </a:ln>
          <a:effectLst>
            <a:outerShdw blurRad="12700" dist="508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r>
              <a:rPr lang="en-US" sz="1050" dirty="0">
                <a:solidFill>
                  <a:schemeClr val="bg1"/>
                </a:solidFill>
              </a:rPr>
              <a:t>5</a:t>
            </a:r>
            <a:endParaRPr sz="1050" dirty="0">
              <a:solidFill>
                <a:schemeClr val="bg1"/>
              </a:solidFill>
            </a:endParaRPr>
          </a:p>
        </p:txBody>
      </p:sp>
      <p:sp>
        <p:nvSpPr>
          <p:cNvPr id="19" name="Text 16"/>
          <p:cNvSpPr/>
          <p:nvPr/>
        </p:nvSpPr>
        <p:spPr>
          <a:xfrm>
            <a:off x="896112" y="4329684"/>
            <a:ext cx="219456" cy="54864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 fontScale="25000" lnSpcReduction="20000"/>
          </a:bodyPr>
          <a:lstStyle/>
          <a:p>
            <a:pPr marL="0" indent="0" algn="ctr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896112" y="4873752"/>
            <a:ext cx="219456" cy="219456"/>
          </a:xfrm>
          <a:prstGeom prst="ellipse">
            <a:avLst/>
          </a:prstGeom>
          <a:solidFill>
            <a:srgbClr val="D97706"/>
          </a:solidFill>
          <a:ln w="15240">
            <a:solidFill>
              <a:srgbClr val="FFFFFF"/>
            </a:solidFill>
            <a:prstDash val="solid"/>
          </a:ln>
          <a:effectLst>
            <a:outerShdw blurRad="12700" dist="508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r>
              <a:rPr lang="en-US" sz="1050" dirty="0">
                <a:solidFill>
                  <a:schemeClr val="bg1"/>
                </a:solidFill>
              </a:rPr>
              <a:t>6</a:t>
            </a:r>
            <a:endParaRPr sz="1050" dirty="0">
              <a:solidFill>
                <a:schemeClr val="bg1"/>
              </a:solidFill>
            </a:endParaRPr>
          </a:p>
        </p:txBody>
      </p:sp>
      <p:sp>
        <p:nvSpPr>
          <p:cNvPr id="21" name="Text 18"/>
          <p:cNvSpPr/>
          <p:nvPr/>
        </p:nvSpPr>
        <p:spPr>
          <a:xfrm>
            <a:off x="896112" y="4924044"/>
            <a:ext cx="219456" cy="54864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 fontScale="25000" lnSpcReduction="20000"/>
          </a:bodyPr>
          <a:lstStyle/>
          <a:p>
            <a:pPr marL="0" indent="0" algn="ctr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1115568" y="5239512"/>
            <a:ext cx="219456" cy="219456"/>
          </a:xfrm>
          <a:prstGeom prst="ellipse">
            <a:avLst/>
          </a:prstGeom>
          <a:solidFill>
            <a:srgbClr val="2563EB"/>
          </a:solidFill>
          <a:ln w="15240">
            <a:solidFill>
              <a:srgbClr val="FFFFFF"/>
            </a:solidFill>
            <a:prstDash val="solid"/>
          </a:ln>
          <a:effectLst>
            <a:outerShdw blurRad="12700" dist="508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r>
              <a:rPr lang="en-US" sz="1050" dirty="0">
                <a:solidFill>
                  <a:schemeClr val="bg1"/>
                </a:solidFill>
              </a:rPr>
              <a:t>7</a:t>
            </a:r>
            <a:endParaRPr sz="1050" dirty="0">
              <a:solidFill>
                <a:schemeClr val="bg1"/>
              </a:solidFill>
            </a:endParaRPr>
          </a:p>
        </p:txBody>
      </p:sp>
      <p:sp>
        <p:nvSpPr>
          <p:cNvPr id="23" name="Text 20"/>
          <p:cNvSpPr/>
          <p:nvPr/>
        </p:nvSpPr>
        <p:spPr>
          <a:xfrm>
            <a:off x="1115568" y="5289804"/>
            <a:ext cx="219456" cy="54864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 fontScale="25000" lnSpcReduction="20000"/>
          </a:bodyPr>
          <a:lstStyle/>
          <a:p>
            <a:pPr marL="0" indent="0" algn="ctr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5248656" y="5239512"/>
            <a:ext cx="219456" cy="219456"/>
          </a:xfrm>
          <a:prstGeom prst="ellipse">
            <a:avLst/>
          </a:prstGeom>
          <a:solidFill>
            <a:srgbClr val="C7000B"/>
          </a:solidFill>
          <a:ln w="15240">
            <a:solidFill>
              <a:srgbClr val="FFFFFF"/>
            </a:solidFill>
            <a:prstDash val="solid"/>
          </a:ln>
          <a:effectLst>
            <a:outerShdw blurRad="12700" dist="508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r>
              <a:rPr lang="en-US" sz="1050" dirty="0">
                <a:solidFill>
                  <a:schemeClr val="bg1"/>
                </a:solidFill>
              </a:rPr>
              <a:t>8</a:t>
            </a:r>
            <a:endParaRPr sz="1050" dirty="0">
              <a:solidFill>
                <a:schemeClr val="bg1"/>
              </a:solidFill>
            </a:endParaRPr>
          </a:p>
        </p:txBody>
      </p:sp>
      <p:sp>
        <p:nvSpPr>
          <p:cNvPr id="25" name="Text 22"/>
          <p:cNvSpPr/>
          <p:nvPr/>
        </p:nvSpPr>
        <p:spPr>
          <a:xfrm>
            <a:off x="5248656" y="5289804"/>
            <a:ext cx="219456" cy="54864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 fontScale="25000" lnSpcReduction="20000"/>
          </a:bodyPr>
          <a:lstStyle/>
          <a:p>
            <a:pPr marL="0" indent="0" algn="ctr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7662672" y="1170432"/>
            <a:ext cx="3977640" cy="4636008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50800" dir="2700000" algn="bl" rotWithShape="0">
              <a:srgbClr val="CBD5E1">
                <a:alpha val="16000"/>
              </a:srgbClr>
            </a:outerShdw>
          </a:effectLst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27" name="Text 24"/>
          <p:cNvSpPr/>
          <p:nvPr/>
        </p:nvSpPr>
        <p:spPr>
          <a:xfrm>
            <a:off x="7927848" y="1371600"/>
            <a:ext cx="1874520" cy="182880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 algn="l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878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截图中的 8 个概念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9582411" y="1417321"/>
            <a:ext cx="1737861" cy="118871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 fontScale="92500" lnSpcReduction="10000"/>
          </a:bodyPr>
          <a:lstStyle/>
          <a:p>
            <a:pPr marL="0" indent="0" algn="l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这些名词可以直接对应到 Agent 的工作链路。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7927848" y="1719072"/>
            <a:ext cx="3456432" cy="43891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30" name="Shape 27"/>
          <p:cNvSpPr/>
          <p:nvPr/>
        </p:nvSpPr>
        <p:spPr>
          <a:xfrm>
            <a:off x="8037576" y="1805940"/>
            <a:ext cx="201168" cy="201168"/>
          </a:xfrm>
          <a:prstGeom prst="ellipse">
            <a:avLst/>
          </a:prstGeom>
          <a:solidFill>
            <a:srgbClr val="C7000B"/>
          </a:solidFill>
          <a:ln w="12700">
            <a:solidFill>
              <a:srgbClr val="C7000B"/>
            </a:solidFill>
            <a:prstDash val="solid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r>
              <a:rPr lang="en-US" sz="1050" dirty="0">
                <a:solidFill>
                  <a:schemeClr val="bg1"/>
                </a:solidFill>
              </a:rPr>
              <a:t>1</a:t>
            </a:r>
            <a:endParaRPr sz="1050" dirty="0">
              <a:solidFill>
                <a:schemeClr val="bg1"/>
              </a:solidFill>
            </a:endParaRPr>
          </a:p>
        </p:txBody>
      </p:sp>
      <p:sp>
        <p:nvSpPr>
          <p:cNvPr id="31" name="Text 28"/>
          <p:cNvSpPr/>
          <p:nvPr/>
        </p:nvSpPr>
        <p:spPr>
          <a:xfrm>
            <a:off x="8037576" y="1854403"/>
            <a:ext cx="201168" cy="45720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 fontScale="25000" lnSpcReduction="20000"/>
          </a:bodyPr>
          <a:lstStyle/>
          <a:p>
            <a:pPr marL="0" indent="0" algn="ctr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8321040" y="1792224"/>
            <a:ext cx="2953512" cy="128016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 algn="l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Context</a:t>
            </a:r>
            <a:endParaRPr lang="en-US" sz="880" dirty="0"/>
          </a:p>
        </p:txBody>
      </p:sp>
      <p:sp>
        <p:nvSpPr>
          <p:cNvPr id="33" name="Text 30"/>
          <p:cNvSpPr/>
          <p:nvPr/>
        </p:nvSpPr>
        <p:spPr>
          <a:xfrm>
            <a:off x="8321040" y="1965960"/>
            <a:ext cx="2953512" cy="155448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 algn="l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当前任务消耗的上下文窗口；决定 Agent 能“看见”多少代码、文件和历史信息。</a:t>
            </a:r>
            <a:endParaRPr lang="en-US" sz="730" dirty="0"/>
          </a:p>
        </p:txBody>
      </p:sp>
      <p:sp>
        <p:nvSpPr>
          <p:cNvPr id="34" name="Shape 31"/>
          <p:cNvSpPr/>
          <p:nvPr/>
        </p:nvSpPr>
        <p:spPr>
          <a:xfrm>
            <a:off x="7927848" y="2194560"/>
            <a:ext cx="3456432" cy="43891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35" name="Shape 32"/>
          <p:cNvSpPr/>
          <p:nvPr/>
        </p:nvSpPr>
        <p:spPr>
          <a:xfrm>
            <a:off x="8037576" y="2281428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r>
              <a:rPr lang="en-US" sz="1050" dirty="0">
                <a:solidFill>
                  <a:schemeClr val="bg1"/>
                </a:solidFill>
              </a:rPr>
              <a:t>2</a:t>
            </a:r>
            <a:endParaRPr sz="1050" dirty="0">
              <a:solidFill>
                <a:schemeClr val="bg1"/>
              </a:solidFill>
            </a:endParaRPr>
          </a:p>
        </p:txBody>
      </p:sp>
      <p:sp>
        <p:nvSpPr>
          <p:cNvPr id="36" name="Text 33"/>
          <p:cNvSpPr/>
          <p:nvPr/>
        </p:nvSpPr>
        <p:spPr>
          <a:xfrm>
            <a:off x="8037576" y="2329891"/>
            <a:ext cx="201168" cy="45720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 fontScale="25000" lnSpcReduction="20000"/>
          </a:bodyPr>
          <a:lstStyle/>
          <a:p>
            <a:pPr marL="0" indent="0" algn="ctr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8321040" y="2267712"/>
            <a:ext cx="2953512" cy="128016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 algn="l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/ Tool Access</a:t>
            </a:r>
            <a:endParaRPr lang="en-US" sz="880" dirty="0"/>
          </a:p>
        </p:txBody>
      </p:sp>
      <p:sp>
        <p:nvSpPr>
          <p:cNvPr id="38" name="Text 35"/>
          <p:cNvSpPr/>
          <p:nvPr/>
        </p:nvSpPr>
        <p:spPr>
          <a:xfrm>
            <a:off x="8321039" y="2441448"/>
            <a:ext cx="2953513" cy="155448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 algn="l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连接外部工具或能力，如 </a:t>
            </a:r>
            <a:r>
              <a:rPr lang="en-US" sz="620" dirty="0" err="1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grep、websearch</a:t>
            </a:r>
            <a:r>
              <a:rPr lang="en-US" sz="62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620" dirty="0" err="1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等；Agent</a:t>
            </a:r>
            <a:r>
              <a:rPr lang="en-US" sz="62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通过工具执行动作。</a:t>
            </a:r>
            <a:endParaRPr lang="en-US" sz="730" dirty="0"/>
          </a:p>
        </p:txBody>
      </p:sp>
      <p:sp>
        <p:nvSpPr>
          <p:cNvPr id="39" name="Shape 36"/>
          <p:cNvSpPr/>
          <p:nvPr/>
        </p:nvSpPr>
        <p:spPr>
          <a:xfrm>
            <a:off x="7927848" y="2670048"/>
            <a:ext cx="3456432" cy="43891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40" name="Shape 37"/>
          <p:cNvSpPr/>
          <p:nvPr/>
        </p:nvSpPr>
        <p:spPr>
          <a:xfrm>
            <a:off x="8037576" y="2756916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r>
              <a:rPr lang="en-US" sz="1050" dirty="0">
                <a:solidFill>
                  <a:schemeClr val="bg1"/>
                </a:solidFill>
              </a:rPr>
              <a:t>3</a:t>
            </a:r>
            <a:endParaRPr sz="1050" dirty="0">
              <a:solidFill>
                <a:schemeClr val="bg1"/>
              </a:solidFill>
            </a:endParaRPr>
          </a:p>
        </p:txBody>
      </p:sp>
      <p:sp>
        <p:nvSpPr>
          <p:cNvPr id="41" name="Text 38"/>
          <p:cNvSpPr/>
          <p:nvPr/>
        </p:nvSpPr>
        <p:spPr>
          <a:xfrm>
            <a:off x="8037576" y="2805379"/>
            <a:ext cx="201168" cy="45720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 fontScale="25000" lnSpcReduction="20000"/>
          </a:bodyPr>
          <a:lstStyle/>
          <a:p>
            <a:pPr marL="0" indent="0" algn="ctr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8321040" y="2743200"/>
            <a:ext cx="2953512" cy="128016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 algn="l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Modified Files / Diff</a:t>
            </a:r>
            <a:endParaRPr lang="en-US" sz="880" dirty="0"/>
          </a:p>
        </p:txBody>
      </p:sp>
      <p:sp>
        <p:nvSpPr>
          <p:cNvPr id="43" name="Text 40"/>
          <p:cNvSpPr/>
          <p:nvPr/>
        </p:nvSpPr>
        <p:spPr>
          <a:xfrm>
            <a:off x="8321040" y="2916936"/>
            <a:ext cx="2953512" cy="155448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 algn="l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本次任务产生的文件变更与增删行数，是后续 Review 的入口。</a:t>
            </a:r>
            <a:endParaRPr lang="en-US" sz="730" dirty="0"/>
          </a:p>
        </p:txBody>
      </p:sp>
      <p:sp>
        <p:nvSpPr>
          <p:cNvPr id="44" name="Shape 41"/>
          <p:cNvSpPr/>
          <p:nvPr/>
        </p:nvSpPr>
        <p:spPr>
          <a:xfrm>
            <a:off x="7927848" y="3145536"/>
            <a:ext cx="3456432" cy="43891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45" name="Shape 42"/>
          <p:cNvSpPr/>
          <p:nvPr/>
        </p:nvSpPr>
        <p:spPr>
          <a:xfrm>
            <a:off x="8037576" y="3232404"/>
            <a:ext cx="201168" cy="201168"/>
          </a:xfrm>
          <a:prstGeom prst="ellipse">
            <a:avLst/>
          </a:prstGeom>
          <a:solidFill>
            <a:srgbClr val="C7000B"/>
          </a:solidFill>
          <a:ln w="12700">
            <a:solidFill>
              <a:srgbClr val="C7000B"/>
            </a:solidFill>
            <a:prstDash val="solid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r>
              <a:rPr lang="en-US" sz="1050" dirty="0">
                <a:solidFill>
                  <a:schemeClr val="bg1"/>
                </a:solidFill>
              </a:rPr>
              <a:t>4</a:t>
            </a:r>
            <a:endParaRPr sz="1050" dirty="0">
              <a:solidFill>
                <a:schemeClr val="bg1"/>
              </a:solidFill>
            </a:endParaRPr>
          </a:p>
        </p:txBody>
      </p:sp>
      <p:sp>
        <p:nvSpPr>
          <p:cNvPr id="46" name="Text 43"/>
          <p:cNvSpPr/>
          <p:nvPr/>
        </p:nvSpPr>
        <p:spPr>
          <a:xfrm>
            <a:off x="8037576" y="3280867"/>
            <a:ext cx="201168" cy="45720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 fontScale="25000" lnSpcReduction="20000"/>
          </a:bodyPr>
          <a:lstStyle/>
          <a:p>
            <a:pPr marL="0" indent="0" algn="ctr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8321040" y="3218688"/>
            <a:ext cx="2953512" cy="128016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 algn="l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 Result</a:t>
            </a:r>
            <a:endParaRPr lang="en-US" sz="880" dirty="0"/>
          </a:p>
        </p:txBody>
      </p:sp>
      <p:sp>
        <p:nvSpPr>
          <p:cNvPr id="48" name="Text 45"/>
          <p:cNvSpPr/>
          <p:nvPr/>
        </p:nvSpPr>
        <p:spPr>
          <a:xfrm>
            <a:off x="8321040" y="3392424"/>
            <a:ext cx="2953512" cy="155448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 algn="l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主区域汇总 Agent 完成了什么，例如后端类、前端组件、接口与页面。</a:t>
            </a:r>
            <a:endParaRPr lang="en-US" sz="730" dirty="0"/>
          </a:p>
        </p:txBody>
      </p:sp>
      <p:sp>
        <p:nvSpPr>
          <p:cNvPr id="49" name="Shape 46"/>
          <p:cNvSpPr/>
          <p:nvPr/>
        </p:nvSpPr>
        <p:spPr>
          <a:xfrm>
            <a:off x="7927848" y="3621024"/>
            <a:ext cx="3456432" cy="43891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50" name="Shape 47"/>
          <p:cNvSpPr/>
          <p:nvPr/>
        </p:nvSpPr>
        <p:spPr>
          <a:xfrm>
            <a:off x="8037576" y="3707892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r>
              <a:rPr lang="en-US" sz="1050" dirty="0">
                <a:solidFill>
                  <a:schemeClr val="bg1"/>
                </a:solidFill>
              </a:rPr>
              <a:t>5</a:t>
            </a:r>
            <a:endParaRPr sz="1050" dirty="0">
              <a:solidFill>
                <a:schemeClr val="bg1"/>
              </a:solidFill>
            </a:endParaRPr>
          </a:p>
        </p:txBody>
      </p:sp>
      <p:sp>
        <p:nvSpPr>
          <p:cNvPr id="51" name="Text 48"/>
          <p:cNvSpPr/>
          <p:nvPr/>
        </p:nvSpPr>
        <p:spPr>
          <a:xfrm>
            <a:off x="8037576" y="3756355"/>
            <a:ext cx="201168" cy="45720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 fontScale="25000" lnSpcReduction="20000"/>
          </a:bodyPr>
          <a:lstStyle/>
          <a:p>
            <a:pPr marL="0" indent="0" algn="ctr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8321040" y="3694176"/>
            <a:ext cx="2953512" cy="128016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 algn="l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Verification</a:t>
            </a:r>
            <a:endParaRPr lang="en-US" sz="880" dirty="0"/>
          </a:p>
        </p:txBody>
      </p:sp>
      <p:sp>
        <p:nvSpPr>
          <p:cNvPr id="53" name="Text 50"/>
          <p:cNvSpPr/>
          <p:nvPr/>
        </p:nvSpPr>
        <p:spPr>
          <a:xfrm>
            <a:off x="8321040" y="3867912"/>
            <a:ext cx="2953512" cy="155448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 algn="l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编译、构建、测试等验证结果；让 Agent 的输出不只“看起来对”。</a:t>
            </a:r>
            <a:endParaRPr lang="en-US" sz="730" dirty="0"/>
          </a:p>
        </p:txBody>
      </p:sp>
      <p:sp>
        <p:nvSpPr>
          <p:cNvPr id="54" name="Shape 51"/>
          <p:cNvSpPr/>
          <p:nvPr/>
        </p:nvSpPr>
        <p:spPr>
          <a:xfrm>
            <a:off x="7927848" y="4096512"/>
            <a:ext cx="3456432" cy="43891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55" name="Shape 52"/>
          <p:cNvSpPr/>
          <p:nvPr/>
        </p:nvSpPr>
        <p:spPr>
          <a:xfrm>
            <a:off x="8037576" y="4183380"/>
            <a:ext cx="201168" cy="2011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r>
              <a:rPr lang="en-US" sz="1050" dirty="0">
                <a:solidFill>
                  <a:schemeClr val="bg1"/>
                </a:solidFill>
              </a:rPr>
              <a:t>6</a:t>
            </a:r>
            <a:endParaRPr sz="1050" dirty="0">
              <a:solidFill>
                <a:schemeClr val="bg1"/>
              </a:solidFill>
            </a:endParaRPr>
          </a:p>
        </p:txBody>
      </p:sp>
      <p:sp>
        <p:nvSpPr>
          <p:cNvPr id="56" name="Text 53"/>
          <p:cNvSpPr/>
          <p:nvPr/>
        </p:nvSpPr>
        <p:spPr>
          <a:xfrm>
            <a:off x="8037576" y="4231843"/>
            <a:ext cx="201168" cy="45720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 fontScale="25000" lnSpcReduction="20000"/>
          </a:bodyPr>
          <a:lstStyle/>
          <a:p>
            <a:pPr marL="0" indent="0" algn="ctr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700" dirty="0"/>
          </a:p>
        </p:txBody>
      </p:sp>
      <p:sp>
        <p:nvSpPr>
          <p:cNvPr id="57" name="Text 54"/>
          <p:cNvSpPr/>
          <p:nvPr/>
        </p:nvSpPr>
        <p:spPr>
          <a:xfrm>
            <a:off x="8321040" y="4169664"/>
            <a:ext cx="2953512" cy="128016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 algn="l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Next Steps</a:t>
            </a:r>
            <a:endParaRPr lang="en-US" sz="880" dirty="0"/>
          </a:p>
        </p:txBody>
      </p:sp>
      <p:sp>
        <p:nvSpPr>
          <p:cNvPr id="58" name="Text 55"/>
          <p:cNvSpPr/>
          <p:nvPr/>
        </p:nvSpPr>
        <p:spPr>
          <a:xfrm>
            <a:off x="8321040" y="4343400"/>
            <a:ext cx="2953512" cy="155448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 algn="l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给出人工下一步：手动测试、运行 verify、提交变更。</a:t>
            </a:r>
            <a:endParaRPr lang="en-US" sz="730" dirty="0"/>
          </a:p>
        </p:txBody>
      </p:sp>
      <p:sp>
        <p:nvSpPr>
          <p:cNvPr id="59" name="Shape 56"/>
          <p:cNvSpPr/>
          <p:nvPr/>
        </p:nvSpPr>
        <p:spPr>
          <a:xfrm>
            <a:off x="7927848" y="4572000"/>
            <a:ext cx="3456432" cy="43891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60" name="Shape 57"/>
          <p:cNvSpPr/>
          <p:nvPr/>
        </p:nvSpPr>
        <p:spPr>
          <a:xfrm>
            <a:off x="8037576" y="4658868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r>
              <a:rPr lang="en-US" sz="1050" dirty="0">
                <a:solidFill>
                  <a:schemeClr val="bg1"/>
                </a:solidFill>
              </a:rPr>
              <a:t>7</a:t>
            </a:r>
            <a:endParaRPr sz="1050" dirty="0">
              <a:solidFill>
                <a:schemeClr val="bg1"/>
              </a:solidFill>
            </a:endParaRPr>
          </a:p>
        </p:txBody>
      </p:sp>
      <p:sp>
        <p:nvSpPr>
          <p:cNvPr id="61" name="Text 58"/>
          <p:cNvSpPr/>
          <p:nvPr/>
        </p:nvSpPr>
        <p:spPr>
          <a:xfrm>
            <a:off x="8037576" y="4707331"/>
            <a:ext cx="201168" cy="45720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 fontScale="25000" lnSpcReduction="20000"/>
          </a:bodyPr>
          <a:lstStyle/>
          <a:p>
            <a:pPr marL="0" indent="0" algn="ctr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700" dirty="0"/>
          </a:p>
        </p:txBody>
      </p:sp>
      <p:sp>
        <p:nvSpPr>
          <p:cNvPr id="62" name="Text 59"/>
          <p:cNvSpPr/>
          <p:nvPr/>
        </p:nvSpPr>
        <p:spPr>
          <a:xfrm>
            <a:off x="8321040" y="4645152"/>
            <a:ext cx="2953512" cy="128016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 algn="l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Session / Model</a:t>
            </a:r>
            <a:endParaRPr lang="en-US" sz="880" dirty="0"/>
          </a:p>
        </p:txBody>
      </p:sp>
      <p:sp>
        <p:nvSpPr>
          <p:cNvPr id="63" name="Text 60"/>
          <p:cNvSpPr/>
          <p:nvPr/>
        </p:nvSpPr>
        <p:spPr>
          <a:xfrm>
            <a:off x="8321040" y="4818888"/>
            <a:ext cx="2953512" cy="155448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 algn="l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底部状态展示当前会话与模型；一次任务会话会保留上下文。</a:t>
            </a:r>
            <a:endParaRPr lang="en-US" sz="730" dirty="0"/>
          </a:p>
        </p:txBody>
      </p:sp>
      <p:sp>
        <p:nvSpPr>
          <p:cNvPr id="64" name="Shape 61"/>
          <p:cNvSpPr/>
          <p:nvPr/>
        </p:nvSpPr>
        <p:spPr>
          <a:xfrm>
            <a:off x="7927848" y="5047488"/>
            <a:ext cx="3456432" cy="43891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65" name="Shape 62"/>
          <p:cNvSpPr/>
          <p:nvPr/>
        </p:nvSpPr>
        <p:spPr>
          <a:xfrm>
            <a:off x="8037576" y="5134356"/>
            <a:ext cx="201168" cy="201168"/>
          </a:xfrm>
          <a:prstGeom prst="ellipse">
            <a:avLst/>
          </a:prstGeom>
          <a:solidFill>
            <a:srgbClr val="C7000B"/>
          </a:solidFill>
          <a:ln w="12700">
            <a:solidFill>
              <a:srgbClr val="C7000B"/>
            </a:solidFill>
            <a:prstDash val="solid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r>
              <a:rPr lang="en-US" sz="1050" dirty="0">
                <a:solidFill>
                  <a:schemeClr val="bg1"/>
                </a:solidFill>
              </a:rPr>
              <a:t>8</a:t>
            </a:r>
            <a:endParaRPr sz="1050" dirty="0">
              <a:solidFill>
                <a:schemeClr val="bg1"/>
              </a:solidFill>
            </a:endParaRPr>
          </a:p>
        </p:txBody>
      </p:sp>
      <p:sp>
        <p:nvSpPr>
          <p:cNvPr id="66" name="Text 63"/>
          <p:cNvSpPr/>
          <p:nvPr/>
        </p:nvSpPr>
        <p:spPr>
          <a:xfrm>
            <a:off x="8037576" y="5182819"/>
            <a:ext cx="201168" cy="45720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 fontScale="25000" lnSpcReduction="20000"/>
          </a:bodyPr>
          <a:lstStyle/>
          <a:p>
            <a:pPr marL="0" indent="0" algn="ctr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700" dirty="0"/>
          </a:p>
        </p:txBody>
      </p:sp>
      <p:sp>
        <p:nvSpPr>
          <p:cNvPr id="67" name="Text 64"/>
          <p:cNvSpPr/>
          <p:nvPr/>
        </p:nvSpPr>
        <p:spPr>
          <a:xfrm>
            <a:off x="8321040" y="5120640"/>
            <a:ext cx="2953512" cy="128016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 algn="l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 Root</a:t>
            </a:r>
            <a:endParaRPr lang="en-US" sz="880" dirty="0"/>
          </a:p>
        </p:txBody>
      </p:sp>
      <p:sp>
        <p:nvSpPr>
          <p:cNvPr id="68" name="Text 65"/>
          <p:cNvSpPr/>
          <p:nvPr/>
        </p:nvSpPr>
        <p:spPr>
          <a:xfrm>
            <a:off x="8321040" y="5294376"/>
            <a:ext cx="2953512" cy="155448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 algn="l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右下角路径表示 Agent 当前进入的项目目录，也是代码库上下文边界。</a:t>
            </a:r>
            <a:endParaRPr lang="en-US" sz="730" dirty="0"/>
          </a:p>
        </p:txBody>
      </p:sp>
      <p:sp>
        <p:nvSpPr>
          <p:cNvPr id="69" name="Shape 66"/>
          <p:cNvSpPr/>
          <p:nvPr/>
        </p:nvSpPr>
        <p:spPr>
          <a:xfrm>
            <a:off x="548640" y="5907024"/>
            <a:ext cx="11091672" cy="182880"/>
          </a:xfrm>
          <a:prstGeom prst="roundRect">
            <a:avLst>
              <a:gd name="adj" fmla="val 30000"/>
            </a:avLst>
          </a:prstGeom>
          <a:solidFill>
            <a:srgbClr val="FFF4F4"/>
          </a:solidFill>
          <a:ln w="10160">
            <a:solidFill>
              <a:srgbClr val="FEE2E2"/>
            </a:solidFill>
            <a:prstDash val="solid"/>
          </a:ln>
        </p:spPr>
        <p:txBody>
          <a:bodyPr wrap="square" lIns="27432" tIns="18288" rIns="27432" bIns="18288" anchor="t"/>
          <a:lstStyle/>
          <a:p>
            <a:pPr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70" name="Text 67"/>
          <p:cNvSpPr/>
          <p:nvPr/>
        </p:nvSpPr>
        <p:spPr>
          <a:xfrm>
            <a:off x="859536" y="5924624"/>
            <a:ext cx="10012680" cy="132586"/>
          </a:xfrm>
          <a:prstGeom prst="rect">
            <a:avLst/>
          </a:prstGeom>
          <a:noFill/>
          <a:ln/>
        </p:spPr>
        <p:txBody>
          <a:bodyPr wrap="square" lIns="16459" tIns="16459" rIns="16459" bIns="16459" rtlCol="0" anchor="t">
            <a:normAutofit/>
          </a:bodyPr>
          <a:lstStyle/>
          <a:p>
            <a:pPr marL="0" indent="0" algn="ctr">
              <a:lnSpc>
                <a:spcPct val="102000"/>
              </a:lnSpc>
              <a:spcAft>
                <a:spcPts val="40"/>
              </a:spcAft>
              <a:buNone/>
            </a:pPr>
            <a:r>
              <a:rPr lang="en-US" sz="62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关键：Agent 不是“一个更会聊天的终端”，而是围绕上下文、工具调用、执行反馈和人工验收工作的开发协作者。</a:t>
            </a:r>
            <a:endParaRPr lang="en-US" sz="920" dirty="0"/>
          </a:p>
        </p:txBody>
      </p:sp>
      <p:sp>
        <p:nvSpPr>
          <p:cNvPr id="75" name="Rectangle 74"/>
          <p:cNvSpPr/>
          <p:nvPr/>
        </p:nvSpPr>
        <p:spPr>
          <a:xfrm>
            <a:off x="502920" y="576072"/>
            <a:ext cx="384048" cy="32004"/>
          </a:xfrm>
          <a:prstGeom prst="rect">
            <a:avLst/>
          </a:prstGeom>
          <a:solidFill>
            <a:srgbClr val="C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02920" y="6455664"/>
            <a:ext cx="61264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>
                <a:solidFill>
                  <a:srgbClr val="5C6471"/>
                </a:solidFill>
                <a:latin typeface="Microsoft YaHei"/>
              </a:rPr>
              <a:t>本次目标：带大家入门 AI 辅助研发，把工具真正用起来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842248" y="6455664"/>
            <a:ext cx="1133856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80" dirty="0">
                <a:solidFill>
                  <a:srgbClr val="5C6471"/>
                </a:solidFill>
                <a:latin typeface="Microsoft YaHei"/>
              </a:rPr>
              <a:t>2026 年 5 月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104120" y="6464808"/>
            <a:ext cx="9144" cy="128016"/>
          </a:xfrm>
          <a:prstGeom prst="rect">
            <a:avLst/>
          </a:prstGeom>
          <a:solidFill>
            <a:srgbClr val="D7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9568" y="6382512"/>
            <a:ext cx="266315" cy="201168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10552176" y="6437376"/>
            <a:ext cx="758952" cy="1280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0" b="1">
                <a:solidFill>
                  <a:srgbClr val="1A202C"/>
                </a:solidFill>
                <a:latin typeface="Arial"/>
              </a:rPr>
              <a:t>HUAWEI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19456"/>
            <a:ext cx="11064240" cy="310896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1773" b="1">
                <a:solidFill>
                  <a:srgbClr val="1C222E"/>
                </a:solidFill>
                <a:latin typeface="Microsoft YaHei"/>
              </a:rPr>
              <a:t>模型与输入：AI Agent 到底“看见”了什么？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03504"/>
            <a:ext cx="658368" cy="45720"/>
          </a:xfrm>
          <a:prstGeom prst="rect">
            <a:avLst/>
          </a:prstGeom>
          <a:solidFill>
            <a:srgbClr val="C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713232"/>
            <a:ext cx="10972800" cy="201168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936" b="0">
                <a:solidFill>
                  <a:srgbClr val="5F6672"/>
                </a:solidFill>
                <a:latin typeface="Microsoft YaHei"/>
              </a:rPr>
              <a:t>理解 Agent 的第一步，是理解它如何接收任务、读取信息，并在有限上下文中做判断。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969264"/>
            <a:ext cx="11064240" cy="310896"/>
          </a:xfrm>
          <a:prstGeom prst="roundRect">
            <a:avLst/>
          </a:prstGeom>
          <a:solidFill>
            <a:srgbClr val="FAFBFC"/>
          </a:solidFill>
          <a:ln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042415"/>
            <a:ext cx="10607040" cy="146304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700" b="1" dirty="0" err="1">
                <a:solidFill>
                  <a:srgbClr val="C4141C"/>
                </a:solidFill>
                <a:latin typeface="Microsoft YaHei"/>
              </a:rPr>
              <a:t>名词：LLM、Prompt、System</a:t>
            </a:r>
            <a:r>
              <a:rPr sz="700" b="1" dirty="0">
                <a:solidFill>
                  <a:srgbClr val="C4141C"/>
                </a:solidFill>
                <a:latin typeface="Microsoft YaHei"/>
              </a:rPr>
              <a:t> </a:t>
            </a:r>
            <a:r>
              <a:rPr sz="700" b="1" dirty="0" err="1">
                <a:solidFill>
                  <a:srgbClr val="C4141C"/>
                </a:solidFill>
                <a:latin typeface="Microsoft YaHei"/>
              </a:rPr>
              <a:t>Prompt、Context、Context</a:t>
            </a:r>
            <a:r>
              <a:rPr sz="700" b="1" dirty="0">
                <a:solidFill>
                  <a:srgbClr val="C4141C"/>
                </a:solidFill>
                <a:latin typeface="Microsoft YaHei"/>
              </a:rPr>
              <a:t> </a:t>
            </a:r>
            <a:r>
              <a:rPr sz="700" b="1" dirty="0" err="1">
                <a:solidFill>
                  <a:srgbClr val="C4141C"/>
                </a:solidFill>
                <a:latin typeface="Microsoft YaHei"/>
              </a:rPr>
              <a:t>Window、Token</a:t>
            </a:r>
            <a:endParaRPr sz="700" b="1" dirty="0">
              <a:solidFill>
                <a:srgbClr val="C4141C"/>
              </a:solidFill>
              <a:latin typeface="Microsoft YaHe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30352" y="1426464"/>
            <a:ext cx="5376672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pic>
        <p:nvPicPr>
          <p:cNvPr id="8" name="Picture 7" descr="ll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572768"/>
            <a:ext cx="694944" cy="6949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26464" y="1554480"/>
            <a:ext cx="4160520" cy="201168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1015" b="1">
                <a:solidFill>
                  <a:srgbClr val="1C222E"/>
                </a:solidFill>
                <a:latin typeface="Microsoft YaHei"/>
              </a:rPr>
              <a:t>LLM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2139696"/>
            <a:ext cx="4992624" cy="512064"/>
          </a:xfrm>
          <a:prstGeom prst="rect">
            <a:avLst/>
          </a:prstGeom>
          <a:noFill/>
        </p:spPr>
        <p:txBody>
          <a:bodyPr wrap="square" lIns="25603" tIns="25603" rIns="25603" bIns="25603" anchor="t">
            <a:normAutofit lnSpcReduction="10000"/>
          </a:bodyPr>
          <a:lstStyle/>
          <a:p>
            <a:pPr algn="l">
              <a:lnSpc>
                <a:spcPct val="107000"/>
              </a:lnSpc>
              <a:spcAft>
                <a:spcPts val="120"/>
              </a:spcAft>
            </a:pPr>
            <a:r>
              <a:rPr sz="1019">
                <a:solidFill>
                  <a:srgbClr val="5F6672"/>
                </a:solidFill>
                <a:latin typeface="Microsoft YaHei"/>
              </a:rPr>
              <a:t>Agent 背后的“大脑”。它负责理解语言与代码、推理任务意图，并生成回答或下一步动作。</a:t>
            </a:r>
          </a:p>
          <a:p>
            <a:pPr algn="l">
              <a:lnSpc>
                <a:spcPct val="107000"/>
              </a:lnSpc>
              <a:spcAft>
                <a:spcPts val="120"/>
              </a:spcAft>
            </a:pPr>
            <a:r>
              <a:rPr sz="950">
                <a:solidFill>
                  <a:srgbClr val="C4141C"/>
                </a:solidFill>
                <a:latin typeface="Microsoft YaHei"/>
              </a:rPr>
              <a:t>比喻：像一个能力很强的临时队友，但只能基于当前看到的信息工作。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1426464"/>
            <a:ext cx="5376672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pic>
        <p:nvPicPr>
          <p:cNvPr id="12" name="Picture 11" descr="prom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3" y="1572768"/>
            <a:ext cx="694944" cy="6949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40879" y="1554480"/>
            <a:ext cx="4160520" cy="201168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1015" b="1">
                <a:solidFill>
                  <a:srgbClr val="1C222E"/>
                </a:solidFill>
                <a:latin typeface="Microsoft YaHei"/>
              </a:rPr>
              <a:t>Prompt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1072" y="2139696"/>
            <a:ext cx="4992624" cy="512064"/>
          </a:xfrm>
          <a:prstGeom prst="rect">
            <a:avLst/>
          </a:prstGeom>
          <a:noFill/>
        </p:spPr>
        <p:txBody>
          <a:bodyPr wrap="square" lIns="25603" tIns="25603" rIns="25603" bIns="25603" anchor="t">
            <a:normAutofit/>
          </a:bodyPr>
          <a:lstStyle/>
          <a:p>
            <a:pPr algn="l">
              <a:lnSpc>
                <a:spcPct val="107000"/>
              </a:lnSpc>
              <a:spcAft>
                <a:spcPts val="120"/>
              </a:spcAft>
            </a:pPr>
            <a:r>
              <a:rPr sz="1019">
                <a:solidFill>
                  <a:srgbClr val="5F6672"/>
                </a:solidFill>
                <a:latin typeface="Microsoft YaHei"/>
              </a:rPr>
              <a:t>你交给模型的任务说明。好的 Prompt 通常会把目标、约束和输出格式一起说清楚。</a:t>
            </a:r>
          </a:p>
          <a:p>
            <a:pPr algn="l">
              <a:lnSpc>
                <a:spcPct val="107000"/>
              </a:lnSpc>
              <a:spcAft>
                <a:spcPts val="120"/>
              </a:spcAft>
            </a:pPr>
            <a:r>
              <a:rPr sz="950">
                <a:solidFill>
                  <a:srgbClr val="C4141C"/>
                </a:solidFill>
                <a:latin typeface="Microsoft YaHei"/>
              </a:rPr>
              <a:t>比喻：像任务单；不是只说“去做”，还要说“做到什么程度、按什么方式交付”。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2944368"/>
            <a:ext cx="5376672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pic>
        <p:nvPicPr>
          <p:cNvPr id="16" name="Picture 15" descr="syste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090672"/>
            <a:ext cx="694944" cy="69494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426464" y="3072384"/>
            <a:ext cx="4160520" cy="201168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1015" b="1">
                <a:solidFill>
                  <a:srgbClr val="1C222E"/>
                </a:solidFill>
                <a:latin typeface="Microsoft YaHei"/>
              </a:rPr>
              <a:t>System Prompt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3657600"/>
            <a:ext cx="4992624" cy="512064"/>
          </a:xfrm>
          <a:prstGeom prst="rect">
            <a:avLst/>
          </a:prstGeom>
          <a:noFill/>
        </p:spPr>
        <p:txBody>
          <a:bodyPr wrap="square" lIns="25603" tIns="25603" rIns="25603" bIns="25603" anchor="t">
            <a:normAutofit lnSpcReduction="10000"/>
          </a:bodyPr>
          <a:lstStyle/>
          <a:p>
            <a:pPr algn="l">
              <a:lnSpc>
                <a:spcPct val="107000"/>
              </a:lnSpc>
              <a:spcAft>
                <a:spcPts val="120"/>
              </a:spcAft>
            </a:pPr>
            <a:r>
              <a:rPr sz="1019">
                <a:solidFill>
                  <a:srgbClr val="5F6672"/>
                </a:solidFill>
                <a:latin typeface="Microsoft YaHei"/>
              </a:rPr>
              <a:t>更高优先级的行为规则，用来规定角色、边界和输出方式。冲突时，System Prompt 高于普通用户指令。</a:t>
            </a:r>
          </a:p>
          <a:p>
            <a:pPr algn="l">
              <a:lnSpc>
                <a:spcPct val="107000"/>
              </a:lnSpc>
              <a:spcAft>
                <a:spcPts val="120"/>
              </a:spcAft>
            </a:pPr>
            <a:r>
              <a:rPr sz="950">
                <a:solidFill>
                  <a:srgbClr val="C4141C"/>
                </a:solidFill>
                <a:latin typeface="Microsoft YaHei"/>
              </a:rPr>
              <a:t>比喻：像团队规范和岗位职责；任务单不能违反公司制度。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4768" y="2944368"/>
            <a:ext cx="5376672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pic>
        <p:nvPicPr>
          <p:cNvPr id="20" name="Picture 19" descr="contex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3" y="3090672"/>
            <a:ext cx="694944" cy="69494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040879" y="3072384"/>
            <a:ext cx="4160520" cy="201168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1015" b="1">
                <a:solidFill>
                  <a:srgbClr val="1C222E"/>
                </a:solidFill>
                <a:latin typeface="Microsoft YaHei"/>
              </a:rPr>
              <a:t>Context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3657600"/>
            <a:ext cx="4992624" cy="512064"/>
          </a:xfrm>
          <a:prstGeom prst="rect">
            <a:avLst/>
          </a:prstGeom>
          <a:noFill/>
        </p:spPr>
        <p:txBody>
          <a:bodyPr wrap="square" lIns="25603" tIns="25603" rIns="25603" bIns="25603" anchor="t">
            <a:normAutofit lnSpcReduction="10000"/>
          </a:bodyPr>
          <a:lstStyle/>
          <a:p>
            <a:pPr algn="l">
              <a:lnSpc>
                <a:spcPct val="107000"/>
              </a:lnSpc>
              <a:spcAft>
                <a:spcPts val="120"/>
              </a:spcAft>
            </a:pPr>
            <a:r>
              <a:rPr sz="1019">
                <a:solidFill>
                  <a:srgbClr val="5F6672"/>
                </a:solidFill>
                <a:latin typeface="Microsoft YaHei"/>
              </a:rPr>
              <a:t>模型当前能看到的资料包，可能包括代码、日志、README、AGENTS.md、测试结果和历史对话。</a:t>
            </a:r>
          </a:p>
          <a:p>
            <a:pPr algn="l">
              <a:lnSpc>
                <a:spcPct val="107000"/>
              </a:lnSpc>
              <a:spcAft>
                <a:spcPts val="120"/>
              </a:spcAft>
            </a:pPr>
            <a:r>
              <a:rPr sz="950">
                <a:solidFill>
                  <a:srgbClr val="C4141C"/>
                </a:solidFill>
                <a:latin typeface="Microsoft YaHei"/>
              </a:rPr>
              <a:t>比喻：像桌上摊开的资料夹；资料越准，Agent 越不需要靠猜。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0352" y="4462272"/>
            <a:ext cx="5376672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pic>
        <p:nvPicPr>
          <p:cNvPr id="24" name="Picture 23" descr="windo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4608576"/>
            <a:ext cx="694944" cy="69494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426464" y="4590288"/>
            <a:ext cx="4160520" cy="201168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1015" b="1">
                <a:solidFill>
                  <a:srgbClr val="1C222E"/>
                </a:solidFill>
                <a:latin typeface="Microsoft YaHei"/>
              </a:rPr>
              <a:t>Context Window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" y="5175504"/>
            <a:ext cx="4992624" cy="512064"/>
          </a:xfrm>
          <a:prstGeom prst="rect">
            <a:avLst/>
          </a:prstGeom>
          <a:noFill/>
        </p:spPr>
        <p:txBody>
          <a:bodyPr wrap="square" lIns="25603" tIns="25603" rIns="25603" bIns="25603" anchor="t">
            <a:normAutofit/>
          </a:bodyPr>
          <a:lstStyle/>
          <a:p>
            <a:pPr algn="l">
              <a:lnSpc>
                <a:spcPct val="107000"/>
              </a:lnSpc>
              <a:spcAft>
                <a:spcPts val="120"/>
              </a:spcAft>
            </a:pPr>
            <a:r>
              <a:rPr sz="1019">
                <a:solidFill>
                  <a:srgbClr val="5F6672"/>
                </a:solidFill>
                <a:latin typeface="Microsoft YaHei"/>
              </a:rPr>
              <a:t>模型一次能看到的“桌面大小”。窗口越大，能同时摆上的代码、文档和日志越多。</a:t>
            </a:r>
          </a:p>
          <a:p>
            <a:pPr algn="l">
              <a:lnSpc>
                <a:spcPct val="107000"/>
              </a:lnSpc>
              <a:spcAft>
                <a:spcPts val="120"/>
              </a:spcAft>
            </a:pPr>
            <a:r>
              <a:rPr sz="950">
                <a:solidFill>
                  <a:srgbClr val="C4141C"/>
                </a:solidFill>
                <a:latin typeface="Microsoft YaHei"/>
              </a:rPr>
              <a:t>比喻：不是桌子越大越好，关键是把真正相关的材料摆上去。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44768" y="4462272"/>
            <a:ext cx="5376672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pic>
        <p:nvPicPr>
          <p:cNvPr id="28" name="Picture 27" descr="toke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2783" y="4608576"/>
            <a:ext cx="694944" cy="69494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040879" y="4590288"/>
            <a:ext cx="4160520" cy="201168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1015" b="1">
                <a:solidFill>
                  <a:srgbClr val="1C222E"/>
                </a:solidFill>
                <a:latin typeface="Microsoft YaHei"/>
              </a:rPr>
              <a:t>Token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91072" y="5175504"/>
            <a:ext cx="4992624" cy="512064"/>
          </a:xfrm>
          <a:prstGeom prst="rect">
            <a:avLst/>
          </a:prstGeom>
          <a:noFill/>
        </p:spPr>
        <p:txBody>
          <a:bodyPr wrap="square" lIns="25603" tIns="25603" rIns="25603" bIns="25603" anchor="t">
            <a:normAutofit lnSpcReduction="10000"/>
          </a:bodyPr>
          <a:lstStyle/>
          <a:p>
            <a:pPr algn="l">
              <a:lnSpc>
                <a:spcPct val="107000"/>
              </a:lnSpc>
              <a:spcAft>
                <a:spcPts val="120"/>
              </a:spcAft>
            </a:pPr>
            <a:r>
              <a:rPr sz="1019">
                <a:solidFill>
                  <a:srgbClr val="5F6672"/>
                </a:solidFill>
                <a:latin typeface="Microsoft YaHei"/>
              </a:rPr>
              <a:t>模型处理文本时的基本单位。代码、日志、文档都会被切成 Token，它会占用上下文容量。</a:t>
            </a:r>
          </a:p>
          <a:p>
            <a:pPr algn="l">
              <a:lnSpc>
                <a:spcPct val="107000"/>
              </a:lnSpc>
              <a:spcAft>
                <a:spcPts val="120"/>
              </a:spcAft>
            </a:pPr>
            <a:r>
              <a:rPr sz="950">
                <a:solidFill>
                  <a:srgbClr val="C4141C"/>
                </a:solidFill>
                <a:latin typeface="Microsoft YaHei"/>
              </a:rPr>
              <a:t>比喻：像把整份资料切成小纸片；纸片太多，会挤掉真正关键的信息。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0352" y="6035040"/>
            <a:ext cx="11064240" cy="365760"/>
          </a:xfrm>
          <a:prstGeom prst="roundRect">
            <a:avLst/>
          </a:prstGeom>
          <a:solidFill>
            <a:srgbClr val="FFF4F4"/>
          </a:solidFill>
          <a:ln>
            <a:solidFill>
              <a:srgbClr val="EE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20" y="6108192"/>
            <a:ext cx="10607040" cy="164592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744" b="1" dirty="0">
                <a:solidFill>
                  <a:srgbClr val="C4141C"/>
                </a:solidFill>
                <a:latin typeface="Microsoft YaHei"/>
              </a:rPr>
              <a:t>对 Coding Agent </a:t>
            </a:r>
            <a:r>
              <a:rPr sz="744" b="1" dirty="0" err="1">
                <a:solidFill>
                  <a:srgbClr val="C4141C"/>
                </a:solidFill>
                <a:latin typeface="Microsoft YaHei"/>
              </a:rPr>
              <a:t>来说，真正重要的不是只换一个更强的模型，而是把任务说清楚、把上下文给准确、把规则边界讲明白</a:t>
            </a:r>
            <a:r>
              <a:rPr sz="744" b="1" dirty="0">
                <a:solidFill>
                  <a:srgbClr val="C4141C"/>
                </a:solidFill>
                <a:latin typeface="Microsoft YaHei"/>
              </a:rPr>
              <a:t>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576072"/>
            <a:ext cx="384048" cy="32004"/>
          </a:xfrm>
          <a:prstGeom prst="rect">
            <a:avLst/>
          </a:prstGeom>
          <a:solidFill>
            <a:srgbClr val="C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02920" y="6455664"/>
            <a:ext cx="61264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>
                <a:solidFill>
                  <a:srgbClr val="5C6471"/>
                </a:solidFill>
                <a:latin typeface="Microsoft YaHei"/>
              </a:rPr>
              <a:t>本次目标：带大家入门 AI 辅助研发，把工具真正用起来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42248" y="6455664"/>
            <a:ext cx="1133856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80">
                <a:solidFill>
                  <a:srgbClr val="5C6471"/>
                </a:solidFill>
                <a:latin typeface="Microsoft YaHei"/>
              </a:rPr>
              <a:t>2026 年 5 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104120" y="6464808"/>
            <a:ext cx="9144" cy="128016"/>
          </a:xfrm>
          <a:prstGeom prst="rect">
            <a:avLst/>
          </a:prstGeom>
          <a:solidFill>
            <a:srgbClr val="D7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59568" y="6382512"/>
            <a:ext cx="266315" cy="20116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552176" y="6437376"/>
            <a:ext cx="758952" cy="1280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0" b="1">
                <a:solidFill>
                  <a:srgbClr val="1A202C"/>
                </a:solidFill>
                <a:latin typeface="Arial"/>
              </a:rPr>
              <a:t>HUAWEI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064" y="164592"/>
            <a:ext cx="1106424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A202C"/>
                </a:solidFill>
                <a:latin typeface="Microsoft YaHei"/>
              </a:rPr>
              <a:t>AI Agent 扩展机制：连接工具、沉淀能力、分工协作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548640"/>
            <a:ext cx="841248" cy="45720"/>
          </a:xfrm>
          <a:prstGeom prst="rect">
            <a:avLst/>
          </a:prstGeom>
          <a:solidFill>
            <a:srgbClr val="C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12064" y="658368"/>
            <a:ext cx="10972800" cy="18288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60" b="0" dirty="0">
                <a:solidFill>
                  <a:srgbClr val="5C6471"/>
                </a:solidFill>
                <a:latin typeface="Microsoft YaHei"/>
              </a:rPr>
              <a:t>MCP 解决“</a:t>
            </a:r>
            <a:r>
              <a:rPr sz="1060" b="0" dirty="0" err="1">
                <a:solidFill>
                  <a:srgbClr val="5C6471"/>
                </a:solidFill>
                <a:latin typeface="Microsoft YaHei"/>
              </a:rPr>
              <a:t>接什么工具</a:t>
            </a:r>
            <a:r>
              <a:rPr sz="1060" b="0" dirty="0">
                <a:solidFill>
                  <a:srgbClr val="5C6471"/>
                </a:solidFill>
                <a:latin typeface="Microsoft YaHei"/>
              </a:rPr>
              <a:t>”，Skill 解决“</a:t>
            </a:r>
            <a:r>
              <a:rPr sz="1060" b="0" dirty="0" err="1">
                <a:solidFill>
                  <a:srgbClr val="5C6471"/>
                </a:solidFill>
                <a:latin typeface="Microsoft YaHei"/>
              </a:rPr>
              <a:t>怎么稳定做事</a:t>
            </a:r>
            <a:r>
              <a:rPr sz="1060" b="0" dirty="0">
                <a:solidFill>
                  <a:srgbClr val="5C6471"/>
                </a:solidFill>
                <a:latin typeface="Microsoft YaHei"/>
              </a:rPr>
              <a:t>”，Subagent </a:t>
            </a:r>
            <a:r>
              <a:rPr sz="1060" b="0" dirty="0" err="1">
                <a:solidFill>
                  <a:srgbClr val="5C6471"/>
                </a:solidFill>
                <a:latin typeface="Microsoft YaHei"/>
              </a:rPr>
              <a:t>解决“谁专门负责哪类任务</a:t>
            </a:r>
            <a:r>
              <a:rPr sz="1060" b="0" dirty="0">
                <a:solidFill>
                  <a:srgbClr val="5C6471"/>
                </a:solidFill>
                <a:latin typeface="Microsoft YaHei"/>
              </a:rPr>
              <a:t>”。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" y="932688"/>
            <a:ext cx="11137392" cy="420625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051560"/>
            <a:ext cx="18288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C4141C"/>
                </a:solidFill>
                <a:latin typeface="Microsoft YaHei"/>
              </a:rPr>
              <a:t>重点区分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83664" y="1067969"/>
            <a:ext cx="9464040" cy="256032"/>
          </a:xfrm>
          <a:prstGeom prst="rect">
            <a:avLst/>
          </a:prstGeom>
          <a:noFill/>
        </p:spPr>
        <p:txBody>
          <a:bodyPr wrap="square" lIns="9144" tIns="0" rIns="9144" bIns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80"/>
              </a:spcAft>
            </a:pPr>
            <a:r>
              <a:rPr sz="1019" b="1" dirty="0">
                <a:solidFill>
                  <a:srgbClr val="1A202C"/>
                </a:solidFill>
                <a:latin typeface="Microsoft YaHei"/>
              </a:rPr>
              <a:t>Skill = </a:t>
            </a:r>
            <a:r>
              <a:rPr sz="1019" b="1" dirty="0" err="1">
                <a:solidFill>
                  <a:srgbClr val="1A202C"/>
                </a:solidFill>
                <a:latin typeface="Microsoft YaHei"/>
              </a:rPr>
              <a:t>可复用做事方法包</a:t>
            </a:r>
            <a:r>
              <a:rPr sz="1019" b="1" dirty="0">
                <a:solidFill>
                  <a:srgbClr val="1A202C"/>
                </a:solidFill>
                <a:latin typeface="Microsoft YaHei"/>
              </a:rPr>
              <a:t> / </a:t>
            </a:r>
            <a:r>
              <a:rPr sz="1019" b="1" dirty="0" err="1">
                <a:solidFill>
                  <a:srgbClr val="1A202C"/>
                </a:solidFill>
                <a:latin typeface="Microsoft YaHei"/>
              </a:rPr>
              <a:t>SOP；Subagent</a:t>
            </a:r>
            <a:r>
              <a:rPr sz="1019" b="1" dirty="0">
                <a:solidFill>
                  <a:srgbClr val="1A202C"/>
                </a:solidFill>
                <a:latin typeface="Microsoft YaHei"/>
              </a:rPr>
              <a:t> = </a:t>
            </a:r>
            <a:r>
              <a:rPr sz="1019" b="1" dirty="0" err="1">
                <a:solidFill>
                  <a:srgbClr val="1A202C"/>
                </a:solidFill>
                <a:latin typeface="Microsoft YaHei"/>
              </a:rPr>
              <a:t>被主</a:t>
            </a:r>
            <a:r>
              <a:rPr sz="1019" b="1" dirty="0">
                <a:solidFill>
                  <a:srgbClr val="1A202C"/>
                </a:solidFill>
                <a:latin typeface="Microsoft YaHei"/>
              </a:rPr>
              <a:t> Agent </a:t>
            </a:r>
            <a:r>
              <a:rPr sz="1019" b="1" dirty="0" err="1">
                <a:solidFill>
                  <a:srgbClr val="1A202C"/>
                </a:solidFill>
                <a:latin typeface="Microsoft YaHei"/>
              </a:rPr>
              <a:t>调度的专职小助手。前者沉淀流程，后者承担分工</a:t>
            </a:r>
            <a:r>
              <a:rPr sz="1019" b="1" dirty="0">
                <a:solidFill>
                  <a:srgbClr val="1A202C"/>
                </a:solidFill>
                <a:latin typeface="Microsoft YaHei"/>
              </a:rPr>
              <a:t>。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12064" y="5980176"/>
            <a:ext cx="11137392" cy="329184"/>
          </a:xfrm>
          <a:prstGeom prst="roundRect">
            <a:avLst/>
          </a:prstGeom>
          <a:solidFill>
            <a:srgbClr val="FFF4F4"/>
          </a:solidFill>
          <a:ln w="12700">
            <a:solidFill>
              <a:srgbClr val="EE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13232" y="6053328"/>
            <a:ext cx="1069848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C4141C"/>
                </a:solidFill>
                <a:latin typeface="Microsoft YaHei"/>
              </a:rPr>
              <a:t>一句话：MCP 让 Agent 接上外部世界；Skill 让 Agent 形成稳定方法；Subagent 让 Agent 学会分工协作；Guardrails 和人工 Review 保证可控。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2920" y="6455664"/>
            <a:ext cx="6126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C6471"/>
                </a:solidFill>
                <a:latin typeface="Microsoft YaHei"/>
              </a:rPr>
              <a:t>本次目标：带大家入门 AI 辅助研发，把工具真正用起来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842248" y="6455664"/>
            <a:ext cx="113385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80" b="0">
                <a:solidFill>
                  <a:srgbClr val="5C6471"/>
                </a:solidFill>
                <a:latin typeface="Microsoft YaHei"/>
              </a:rPr>
              <a:t>2026 年 5 月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104120" y="6464808"/>
            <a:ext cx="9144" cy="128016"/>
          </a:xfrm>
          <a:prstGeom prst="rect">
            <a:avLst/>
          </a:prstGeom>
          <a:solidFill>
            <a:srgbClr val="D7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0552176" y="6437376"/>
            <a:ext cx="75895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1">
                <a:solidFill>
                  <a:srgbClr val="1A202C"/>
                </a:solidFill>
                <a:latin typeface="Arial"/>
              </a:rPr>
              <a:t>HUAWEI</a:t>
            </a:r>
          </a:p>
        </p:txBody>
      </p:sp>
      <p:sp>
        <p:nvSpPr>
          <p:cNvPr id="66" name="Rounded Rectangle 6">
            <a:extLst>
              <a:ext uri="{FF2B5EF4-FFF2-40B4-BE49-F238E27FC236}">
                <a16:creationId xmlns:a16="http://schemas.microsoft.com/office/drawing/2014/main" id="{3DE5CA41-B59E-223E-E744-4582E4CDD94C}"/>
              </a:ext>
            </a:extLst>
          </p:cNvPr>
          <p:cNvSpPr/>
          <p:nvPr/>
        </p:nvSpPr>
        <p:spPr>
          <a:xfrm>
            <a:off x="502920" y="1555231"/>
            <a:ext cx="3547872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7" name="Picture 7" descr="mcp.png">
            <a:extLst>
              <a:ext uri="{FF2B5EF4-FFF2-40B4-BE49-F238E27FC236}">
                <a16:creationId xmlns:a16="http://schemas.microsoft.com/office/drawing/2014/main" id="{663D8F5B-F844-F8A4-C551-9335D3BAF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1664959"/>
            <a:ext cx="566928" cy="566928"/>
          </a:xfrm>
          <a:prstGeom prst="rect">
            <a:avLst/>
          </a:prstGeom>
        </p:spPr>
      </p:pic>
      <p:sp>
        <p:nvSpPr>
          <p:cNvPr id="68" name="TextBox 8">
            <a:extLst>
              <a:ext uri="{FF2B5EF4-FFF2-40B4-BE49-F238E27FC236}">
                <a16:creationId xmlns:a16="http://schemas.microsoft.com/office/drawing/2014/main" id="{87A89F23-C35B-C8FF-F0FE-B1DF077BDD50}"/>
              </a:ext>
            </a:extLst>
          </p:cNvPr>
          <p:cNvSpPr txBox="1"/>
          <p:nvPr/>
        </p:nvSpPr>
        <p:spPr>
          <a:xfrm>
            <a:off x="1271016" y="1664959"/>
            <a:ext cx="2615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1C222E"/>
                </a:solidFill>
                <a:latin typeface="Microsoft YaHei"/>
              </a:rPr>
              <a:t>MCP</a:t>
            </a:r>
          </a:p>
        </p:txBody>
      </p:sp>
      <p:sp>
        <p:nvSpPr>
          <p:cNvPr id="69" name="TextBox 9">
            <a:extLst>
              <a:ext uri="{FF2B5EF4-FFF2-40B4-BE49-F238E27FC236}">
                <a16:creationId xmlns:a16="http://schemas.microsoft.com/office/drawing/2014/main" id="{5E699D10-78F9-6526-4188-7CD27CA16CC9}"/>
              </a:ext>
            </a:extLst>
          </p:cNvPr>
          <p:cNvSpPr txBox="1"/>
          <p:nvPr/>
        </p:nvSpPr>
        <p:spPr>
          <a:xfrm>
            <a:off x="649224" y="2250174"/>
            <a:ext cx="3218688" cy="585216"/>
          </a:xfrm>
          <a:prstGeom prst="rect">
            <a:avLst/>
          </a:prstGeom>
          <a:noFill/>
        </p:spPr>
        <p:txBody>
          <a:bodyPr wrap="square" lIns="9144" tIns="0" rIns="9144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90" dirty="0">
                <a:solidFill>
                  <a:srgbClr val="5F6672"/>
                </a:solidFill>
                <a:latin typeface="Microsoft YaHei"/>
              </a:rPr>
              <a:t>MCP </a:t>
            </a:r>
            <a:r>
              <a:rPr sz="890" dirty="0" err="1">
                <a:solidFill>
                  <a:srgbClr val="5F6672"/>
                </a:solidFill>
                <a:latin typeface="Microsoft YaHei"/>
              </a:rPr>
              <a:t>像给</a:t>
            </a:r>
            <a:r>
              <a:rPr sz="890" dirty="0">
                <a:solidFill>
                  <a:srgbClr val="5F6672"/>
                </a:solidFill>
                <a:latin typeface="Microsoft YaHei"/>
              </a:rPr>
              <a:t> Agent 装上的“</a:t>
            </a:r>
            <a:r>
              <a:rPr sz="890" dirty="0" err="1">
                <a:solidFill>
                  <a:srgbClr val="5F6672"/>
                </a:solidFill>
                <a:latin typeface="Microsoft YaHei"/>
              </a:rPr>
              <a:t>通用插座</a:t>
            </a:r>
            <a:r>
              <a:rPr sz="890" dirty="0">
                <a:solidFill>
                  <a:srgbClr val="5F6672"/>
                </a:solidFill>
                <a:latin typeface="Microsoft YaHei"/>
              </a:rPr>
              <a:t>”。</a:t>
            </a:r>
            <a:r>
              <a:rPr sz="890" dirty="0" err="1">
                <a:solidFill>
                  <a:srgbClr val="5F6672"/>
                </a:solidFill>
                <a:latin typeface="Microsoft YaHei"/>
              </a:rPr>
              <a:t>以前每接一个工具都要单独适配一次；有了它，Agent</a:t>
            </a:r>
            <a:r>
              <a:rPr sz="890" dirty="0">
                <a:solidFill>
                  <a:srgbClr val="5F6672"/>
                </a:solidFill>
                <a:latin typeface="Microsoft YaHei"/>
              </a:rPr>
              <a:t> </a:t>
            </a:r>
            <a:r>
              <a:rPr sz="890" dirty="0" err="1">
                <a:solidFill>
                  <a:srgbClr val="5F6672"/>
                </a:solidFill>
                <a:latin typeface="Microsoft YaHei"/>
              </a:rPr>
              <a:t>可以按统一协议去连外部世界</a:t>
            </a:r>
            <a:r>
              <a:rPr sz="890" dirty="0">
                <a:solidFill>
                  <a:srgbClr val="5F6672"/>
                </a:solidFill>
                <a:latin typeface="Microsoft YaHei"/>
              </a:rPr>
              <a:t>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dirty="0" err="1">
                <a:solidFill>
                  <a:srgbClr val="C4141C"/>
                </a:solidFill>
                <a:latin typeface="Microsoft YaHei"/>
              </a:rPr>
              <a:t>例子：把</a:t>
            </a:r>
            <a:r>
              <a:rPr sz="850" dirty="0">
                <a:solidFill>
                  <a:srgbClr val="C4141C"/>
                </a:solidFill>
                <a:latin typeface="Microsoft YaHei"/>
              </a:rPr>
              <a:t> </a:t>
            </a:r>
            <a:r>
              <a:rPr sz="850" dirty="0" err="1">
                <a:solidFill>
                  <a:srgbClr val="C4141C"/>
                </a:solidFill>
                <a:latin typeface="Microsoft YaHei"/>
              </a:rPr>
              <a:t>GitHub、数据库、内部知识库接给</a:t>
            </a:r>
            <a:r>
              <a:rPr sz="850" dirty="0">
                <a:solidFill>
                  <a:srgbClr val="C4141C"/>
                </a:solidFill>
                <a:latin typeface="Microsoft YaHei"/>
              </a:rPr>
              <a:t> </a:t>
            </a:r>
            <a:r>
              <a:rPr sz="850" dirty="0" err="1">
                <a:solidFill>
                  <a:srgbClr val="C4141C"/>
                </a:solidFill>
                <a:latin typeface="Microsoft YaHei"/>
              </a:rPr>
              <a:t>Agent，像给电脑插上扩展坞</a:t>
            </a:r>
            <a:r>
              <a:rPr sz="850" dirty="0">
                <a:solidFill>
                  <a:srgbClr val="C4141C"/>
                </a:solidFill>
                <a:latin typeface="Microsoft YaHei"/>
              </a:rPr>
              <a:t>。</a:t>
            </a:r>
          </a:p>
        </p:txBody>
      </p:sp>
      <p:sp>
        <p:nvSpPr>
          <p:cNvPr id="70" name="Rounded Rectangle 10">
            <a:extLst>
              <a:ext uri="{FF2B5EF4-FFF2-40B4-BE49-F238E27FC236}">
                <a16:creationId xmlns:a16="http://schemas.microsoft.com/office/drawing/2014/main" id="{4B45ABDB-C2C7-B9E4-C326-BE03C07613F8}"/>
              </a:ext>
            </a:extLst>
          </p:cNvPr>
          <p:cNvSpPr/>
          <p:nvPr/>
        </p:nvSpPr>
        <p:spPr>
          <a:xfrm>
            <a:off x="4315968" y="1555231"/>
            <a:ext cx="3547872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1" name="Picture 11" descr="server.png">
            <a:extLst>
              <a:ext uri="{FF2B5EF4-FFF2-40B4-BE49-F238E27FC236}">
                <a16:creationId xmlns:a16="http://schemas.microsoft.com/office/drawing/2014/main" id="{C27DA88E-FA0E-9180-FE57-DA339022D5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983" y="1664959"/>
            <a:ext cx="566928" cy="566928"/>
          </a:xfrm>
          <a:prstGeom prst="rect">
            <a:avLst/>
          </a:prstGeom>
        </p:spPr>
      </p:pic>
      <p:sp>
        <p:nvSpPr>
          <p:cNvPr id="72" name="TextBox 12">
            <a:extLst>
              <a:ext uri="{FF2B5EF4-FFF2-40B4-BE49-F238E27FC236}">
                <a16:creationId xmlns:a16="http://schemas.microsoft.com/office/drawing/2014/main" id="{8ED57B6A-A19F-DC93-2CD0-9DF599408F9A}"/>
              </a:ext>
            </a:extLst>
          </p:cNvPr>
          <p:cNvSpPr txBox="1"/>
          <p:nvPr/>
        </p:nvSpPr>
        <p:spPr>
          <a:xfrm>
            <a:off x="5084064" y="1664959"/>
            <a:ext cx="2615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1C222E"/>
                </a:solidFill>
                <a:latin typeface="Microsoft YaHei"/>
              </a:rPr>
              <a:t>MCP Server</a:t>
            </a:r>
          </a:p>
        </p:txBody>
      </p:sp>
      <p:sp>
        <p:nvSpPr>
          <p:cNvPr id="73" name="TextBox 13">
            <a:extLst>
              <a:ext uri="{FF2B5EF4-FFF2-40B4-BE49-F238E27FC236}">
                <a16:creationId xmlns:a16="http://schemas.microsoft.com/office/drawing/2014/main" id="{DBE89E99-FF9F-5AF8-C7CE-57CCF3C3A42D}"/>
              </a:ext>
            </a:extLst>
          </p:cNvPr>
          <p:cNvSpPr txBox="1"/>
          <p:nvPr/>
        </p:nvSpPr>
        <p:spPr>
          <a:xfrm>
            <a:off x="4462272" y="2250174"/>
            <a:ext cx="3218688" cy="585216"/>
          </a:xfrm>
          <a:prstGeom prst="rect">
            <a:avLst/>
          </a:prstGeom>
          <a:noFill/>
        </p:spPr>
        <p:txBody>
          <a:bodyPr wrap="square" lIns="9144" tIns="0" rIns="9144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90">
                <a:solidFill>
                  <a:srgbClr val="5F6672"/>
                </a:solidFill>
                <a:latin typeface="Microsoft YaHei"/>
              </a:rPr>
              <a:t>MCP Server 是真正“会干活”的那一端。它把某个系统的能力包装出来，等 Agent 来调用。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>
                <a:solidFill>
                  <a:srgbClr val="C4141C"/>
                </a:solidFill>
                <a:latin typeface="Microsoft YaHei"/>
              </a:rPr>
              <a:t>例子：一个 GitHub Server，负责查 issue、读 PR、发评论；一个数据库 Server，负责查表结构。</a:t>
            </a:r>
          </a:p>
        </p:txBody>
      </p:sp>
      <p:sp>
        <p:nvSpPr>
          <p:cNvPr id="74" name="Rounded Rectangle 14">
            <a:extLst>
              <a:ext uri="{FF2B5EF4-FFF2-40B4-BE49-F238E27FC236}">
                <a16:creationId xmlns:a16="http://schemas.microsoft.com/office/drawing/2014/main" id="{BBA7AD29-C043-9237-B979-A2AAB9759109}"/>
              </a:ext>
            </a:extLst>
          </p:cNvPr>
          <p:cNvSpPr/>
          <p:nvPr/>
        </p:nvSpPr>
        <p:spPr>
          <a:xfrm>
            <a:off x="8129016" y="1555231"/>
            <a:ext cx="3547872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5" name="Picture 15" descr="tool.png">
            <a:extLst>
              <a:ext uri="{FF2B5EF4-FFF2-40B4-BE49-F238E27FC236}">
                <a16:creationId xmlns:a16="http://schemas.microsoft.com/office/drawing/2014/main" id="{A9AD979F-405F-BFB1-F32A-4C9DC0CCC4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7032" y="1664959"/>
            <a:ext cx="566928" cy="566928"/>
          </a:xfrm>
          <a:prstGeom prst="rect">
            <a:avLst/>
          </a:prstGeom>
        </p:spPr>
      </p:pic>
      <p:sp>
        <p:nvSpPr>
          <p:cNvPr id="76" name="TextBox 16">
            <a:extLst>
              <a:ext uri="{FF2B5EF4-FFF2-40B4-BE49-F238E27FC236}">
                <a16:creationId xmlns:a16="http://schemas.microsoft.com/office/drawing/2014/main" id="{16EDDF4E-4CAA-9CDF-6BCA-390A93C4CCEB}"/>
              </a:ext>
            </a:extLst>
          </p:cNvPr>
          <p:cNvSpPr txBox="1"/>
          <p:nvPr/>
        </p:nvSpPr>
        <p:spPr>
          <a:xfrm>
            <a:off x="8897112" y="1664959"/>
            <a:ext cx="2615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1C222E"/>
                </a:solidFill>
                <a:latin typeface="Microsoft YaHei"/>
              </a:rPr>
              <a:t>Tool</a:t>
            </a:r>
          </a:p>
        </p:txBody>
      </p:sp>
      <p:sp>
        <p:nvSpPr>
          <p:cNvPr id="77" name="TextBox 17">
            <a:extLst>
              <a:ext uri="{FF2B5EF4-FFF2-40B4-BE49-F238E27FC236}">
                <a16:creationId xmlns:a16="http://schemas.microsoft.com/office/drawing/2014/main" id="{A4EBE8B0-CA9F-C27B-31FC-039834098673}"/>
              </a:ext>
            </a:extLst>
          </p:cNvPr>
          <p:cNvSpPr txBox="1"/>
          <p:nvPr/>
        </p:nvSpPr>
        <p:spPr>
          <a:xfrm>
            <a:off x="8275320" y="2250174"/>
            <a:ext cx="3218688" cy="585216"/>
          </a:xfrm>
          <a:prstGeom prst="rect">
            <a:avLst/>
          </a:prstGeom>
          <a:noFill/>
        </p:spPr>
        <p:txBody>
          <a:bodyPr wrap="square" lIns="9144" tIns="0" rIns="9144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90">
                <a:solidFill>
                  <a:srgbClr val="5F6672"/>
                </a:solidFill>
                <a:latin typeface="Microsoft YaHei"/>
              </a:rPr>
              <a:t>Tool 是 Agent 手里的“工具箱动作”。它不是知识本身，而是能真正执行的一个动作按钮。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>
                <a:solidFill>
                  <a:srgbClr val="C4141C"/>
                </a:solidFill>
                <a:latin typeface="Microsoft YaHei"/>
              </a:rPr>
              <a:t>例子：读文件、跑命令、查数据库、调用 API；像扳手、螺丝刀、万用表。</a:t>
            </a:r>
          </a:p>
        </p:txBody>
      </p:sp>
      <p:sp>
        <p:nvSpPr>
          <p:cNvPr id="78" name="Rounded Rectangle 18">
            <a:extLst>
              <a:ext uri="{FF2B5EF4-FFF2-40B4-BE49-F238E27FC236}">
                <a16:creationId xmlns:a16="http://schemas.microsoft.com/office/drawing/2014/main" id="{8EDB9ADD-750A-3B85-3F50-737BAC83F9BD}"/>
              </a:ext>
            </a:extLst>
          </p:cNvPr>
          <p:cNvSpPr/>
          <p:nvPr/>
        </p:nvSpPr>
        <p:spPr>
          <a:xfrm>
            <a:off x="502920" y="2981695"/>
            <a:ext cx="3547872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9" name="Picture 19" descr="resource.png">
            <a:extLst>
              <a:ext uri="{FF2B5EF4-FFF2-40B4-BE49-F238E27FC236}">
                <a16:creationId xmlns:a16="http://schemas.microsoft.com/office/drawing/2014/main" id="{4A893712-E7B4-FD6D-5917-C5A9FD69FC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" y="3091423"/>
            <a:ext cx="566928" cy="566928"/>
          </a:xfrm>
          <a:prstGeom prst="rect">
            <a:avLst/>
          </a:prstGeom>
        </p:spPr>
      </p:pic>
      <p:sp>
        <p:nvSpPr>
          <p:cNvPr id="80" name="TextBox 20">
            <a:extLst>
              <a:ext uri="{FF2B5EF4-FFF2-40B4-BE49-F238E27FC236}">
                <a16:creationId xmlns:a16="http://schemas.microsoft.com/office/drawing/2014/main" id="{4C383383-5CCD-9CBB-8ADD-145B49BE743F}"/>
              </a:ext>
            </a:extLst>
          </p:cNvPr>
          <p:cNvSpPr txBox="1"/>
          <p:nvPr/>
        </p:nvSpPr>
        <p:spPr>
          <a:xfrm>
            <a:off x="1271016" y="3091423"/>
            <a:ext cx="2615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1C222E"/>
                </a:solidFill>
                <a:latin typeface="Microsoft YaHei"/>
              </a:rPr>
              <a:t>Resource</a:t>
            </a:r>
          </a:p>
        </p:txBody>
      </p:sp>
      <p:sp>
        <p:nvSpPr>
          <p:cNvPr id="81" name="TextBox 21">
            <a:extLst>
              <a:ext uri="{FF2B5EF4-FFF2-40B4-BE49-F238E27FC236}">
                <a16:creationId xmlns:a16="http://schemas.microsoft.com/office/drawing/2014/main" id="{6A9CF06C-0001-9B81-A771-CE461B29BBD7}"/>
              </a:ext>
            </a:extLst>
          </p:cNvPr>
          <p:cNvSpPr txBox="1"/>
          <p:nvPr/>
        </p:nvSpPr>
        <p:spPr>
          <a:xfrm>
            <a:off x="649224" y="3676639"/>
            <a:ext cx="3218688" cy="585216"/>
          </a:xfrm>
          <a:prstGeom prst="rect">
            <a:avLst/>
          </a:prstGeom>
          <a:noFill/>
        </p:spPr>
        <p:txBody>
          <a:bodyPr wrap="square" lIns="9144" tIns="0" rIns="9144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90" dirty="0">
                <a:solidFill>
                  <a:srgbClr val="5F6672"/>
                </a:solidFill>
                <a:latin typeface="Microsoft YaHei"/>
              </a:rPr>
              <a:t>Resource 更像“</a:t>
            </a:r>
            <a:r>
              <a:rPr sz="890" dirty="0" err="1">
                <a:solidFill>
                  <a:srgbClr val="5F6672"/>
                </a:solidFill>
                <a:latin typeface="Microsoft YaHei"/>
              </a:rPr>
              <a:t>参考材料架</a:t>
            </a:r>
            <a:r>
              <a:rPr sz="890" dirty="0">
                <a:solidFill>
                  <a:srgbClr val="5F6672"/>
                </a:solidFill>
                <a:latin typeface="Microsoft YaHei"/>
              </a:rPr>
              <a:t>”。</a:t>
            </a:r>
            <a:r>
              <a:rPr sz="890" dirty="0" err="1">
                <a:solidFill>
                  <a:srgbClr val="5F6672"/>
                </a:solidFill>
                <a:latin typeface="Microsoft YaHei"/>
              </a:rPr>
              <a:t>它提供可读信息，帮助</a:t>
            </a:r>
            <a:r>
              <a:rPr sz="890" dirty="0">
                <a:solidFill>
                  <a:srgbClr val="5F6672"/>
                </a:solidFill>
                <a:latin typeface="Microsoft YaHei"/>
              </a:rPr>
              <a:t> Agent </a:t>
            </a:r>
            <a:r>
              <a:rPr sz="890" dirty="0" err="1">
                <a:solidFill>
                  <a:srgbClr val="5F6672"/>
                </a:solidFill>
                <a:latin typeface="Microsoft YaHei"/>
              </a:rPr>
              <a:t>理解上下文，但不一定直接执行动作</a:t>
            </a:r>
            <a:r>
              <a:rPr sz="890" dirty="0">
                <a:solidFill>
                  <a:srgbClr val="5F6672"/>
                </a:solidFill>
                <a:latin typeface="Microsoft YaHei"/>
              </a:rPr>
              <a:t>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dirty="0" err="1">
                <a:solidFill>
                  <a:srgbClr val="C4141C"/>
                </a:solidFill>
                <a:latin typeface="Microsoft YaHei"/>
              </a:rPr>
              <a:t>例子：README、API</a:t>
            </a:r>
            <a:r>
              <a:rPr sz="850" dirty="0">
                <a:solidFill>
                  <a:srgbClr val="C4141C"/>
                </a:solidFill>
                <a:latin typeface="Microsoft YaHei"/>
              </a:rPr>
              <a:t> </a:t>
            </a:r>
            <a:r>
              <a:rPr sz="850" dirty="0" err="1">
                <a:solidFill>
                  <a:srgbClr val="C4141C"/>
                </a:solidFill>
                <a:latin typeface="Microsoft YaHei"/>
              </a:rPr>
              <a:t>文档、数据库</a:t>
            </a:r>
            <a:r>
              <a:rPr sz="850" dirty="0">
                <a:solidFill>
                  <a:srgbClr val="C4141C"/>
                </a:solidFill>
                <a:latin typeface="Microsoft YaHei"/>
              </a:rPr>
              <a:t> </a:t>
            </a:r>
            <a:r>
              <a:rPr sz="850" dirty="0" err="1">
                <a:solidFill>
                  <a:srgbClr val="C4141C"/>
                </a:solidFill>
                <a:latin typeface="Microsoft YaHei"/>
              </a:rPr>
              <a:t>schema、业务规则说明；像案头摊开的资料夹</a:t>
            </a:r>
            <a:r>
              <a:rPr sz="850" dirty="0">
                <a:solidFill>
                  <a:srgbClr val="C4141C"/>
                </a:solidFill>
                <a:latin typeface="Microsoft YaHei"/>
              </a:rPr>
              <a:t>。</a:t>
            </a:r>
          </a:p>
        </p:txBody>
      </p:sp>
      <p:sp>
        <p:nvSpPr>
          <p:cNvPr id="82" name="Rounded Rectangle 22">
            <a:extLst>
              <a:ext uri="{FF2B5EF4-FFF2-40B4-BE49-F238E27FC236}">
                <a16:creationId xmlns:a16="http://schemas.microsoft.com/office/drawing/2014/main" id="{E66182FF-0A81-54CD-5C28-33BE3E09D4B6}"/>
              </a:ext>
            </a:extLst>
          </p:cNvPr>
          <p:cNvSpPr/>
          <p:nvPr/>
        </p:nvSpPr>
        <p:spPr>
          <a:xfrm>
            <a:off x="4315968" y="2981695"/>
            <a:ext cx="3547872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3" name="Picture 23" descr="skill.png">
            <a:extLst>
              <a:ext uri="{FF2B5EF4-FFF2-40B4-BE49-F238E27FC236}">
                <a16:creationId xmlns:a16="http://schemas.microsoft.com/office/drawing/2014/main" id="{682D2BED-2A45-0B95-7CA9-70ECDE9C6E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3983" y="3091423"/>
            <a:ext cx="566928" cy="566928"/>
          </a:xfrm>
          <a:prstGeom prst="rect">
            <a:avLst/>
          </a:prstGeom>
        </p:spPr>
      </p:pic>
      <p:sp>
        <p:nvSpPr>
          <p:cNvPr id="84" name="TextBox 24">
            <a:extLst>
              <a:ext uri="{FF2B5EF4-FFF2-40B4-BE49-F238E27FC236}">
                <a16:creationId xmlns:a16="http://schemas.microsoft.com/office/drawing/2014/main" id="{CBC3CD3B-6FBF-D3CA-3610-32D1C9F16C0C}"/>
              </a:ext>
            </a:extLst>
          </p:cNvPr>
          <p:cNvSpPr txBox="1"/>
          <p:nvPr/>
        </p:nvSpPr>
        <p:spPr>
          <a:xfrm>
            <a:off x="5084064" y="3091423"/>
            <a:ext cx="2615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1C222E"/>
                </a:solidFill>
                <a:latin typeface="Microsoft YaHei"/>
              </a:rPr>
              <a:t>Skill</a:t>
            </a:r>
          </a:p>
        </p:txBody>
      </p:sp>
      <p:sp>
        <p:nvSpPr>
          <p:cNvPr id="85" name="TextBox 25">
            <a:extLst>
              <a:ext uri="{FF2B5EF4-FFF2-40B4-BE49-F238E27FC236}">
                <a16:creationId xmlns:a16="http://schemas.microsoft.com/office/drawing/2014/main" id="{24A2994C-D839-5076-1643-1217D5C982BC}"/>
              </a:ext>
            </a:extLst>
          </p:cNvPr>
          <p:cNvSpPr txBox="1"/>
          <p:nvPr/>
        </p:nvSpPr>
        <p:spPr>
          <a:xfrm>
            <a:off x="4462272" y="3676639"/>
            <a:ext cx="3218688" cy="585216"/>
          </a:xfrm>
          <a:prstGeom prst="rect">
            <a:avLst/>
          </a:prstGeom>
          <a:noFill/>
        </p:spPr>
        <p:txBody>
          <a:bodyPr wrap="square" lIns="9144" tIns="0" rIns="9144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90" dirty="0">
                <a:solidFill>
                  <a:srgbClr val="5F6672"/>
                </a:solidFill>
                <a:latin typeface="Microsoft YaHei"/>
              </a:rPr>
              <a:t>Skill 是“</a:t>
            </a:r>
            <a:r>
              <a:rPr sz="890" dirty="0" err="1">
                <a:solidFill>
                  <a:srgbClr val="5F6672"/>
                </a:solidFill>
                <a:latin typeface="Microsoft YaHei"/>
              </a:rPr>
              <a:t>做事方法包</a:t>
            </a:r>
            <a:r>
              <a:rPr sz="890" dirty="0">
                <a:solidFill>
                  <a:srgbClr val="5F6672"/>
                </a:solidFill>
                <a:latin typeface="Microsoft YaHei"/>
              </a:rPr>
              <a:t>”。</a:t>
            </a:r>
            <a:r>
              <a:rPr sz="890" dirty="0" err="1">
                <a:solidFill>
                  <a:srgbClr val="5F6672"/>
                </a:solidFill>
                <a:latin typeface="Microsoft YaHei"/>
              </a:rPr>
              <a:t>如果说模型会思考，那</a:t>
            </a:r>
            <a:r>
              <a:rPr sz="890" dirty="0">
                <a:solidFill>
                  <a:srgbClr val="5F6672"/>
                </a:solidFill>
                <a:latin typeface="Microsoft YaHei"/>
              </a:rPr>
              <a:t> Skill </a:t>
            </a:r>
            <a:r>
              <a:rPr sz="890" dirty="0" err="1">
                <a:solidFill>
                  <a:srgbClr val="5F6672"/>
                </a:solidFill>
                <a:latin typeface="Microsoft YaHei"/>
              </a:rPr>
              <a:t>就是在告诉它：这类活最好按什么套路做</a:t>
            </a:r>
            <a:r>
              <a:rPr sz="890" dirty="0">
                <a:solidFill>
                  <a:srgbClr val="5F6672"/>
                </a:solidFill>
                <a:latin typeface="Microsoft YaHei"/>
              </a:rPr>
              <a:t>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dirty="0" err="1">
                <a:solidFill>
                  <a:srgbClr val="C4141C"/>
                </a:solidFill>
                <a:latin typeface="Microsoft YaHei"/>
              </a:rPr>
              <a:t>例子：PR</a:t>
            </a:r>
            <a:r>
              <a:rPr sz="850" dirty="0">
                <a:solidFill>
                  <a:srgbClr val="C4141C"/>
                </a:solidFill>
                <a:latin typeface="Microsoft YaHei"/>
              </a:rPr>
              <a:t> Review </a:t>
            </a:r>
            <a:r>
              <a:rPr sz="850" dirty="0" err="1">
                <a:solidFill>
                  <a:srgbClr val="C4141C"/>
                </a:solidFill>
                <a:latin typeface="Microsoft YaHei"/>
              </a:rPr>
              <a:t>Skill、周报生成</a:t>
            </a:r>
            <a:r>
              <a:rPr sz="850" dirty="0">
                <a:solidFill>
                  <a:srgbClr val="C4141C"/>
                </a:solidFill>
                <a:latin typeface="Microsoft YaHei"/>
              </a:rPr>
              <a:t> </a:t>
            </a:r>
            <a:r>
              <a:rPr sz="850" dirty="0" err="1">
                <a:solidFill>
                  <a:srgbClr val="C4141C"/>
                </a:solidFill>
                <a:latin typeface="Microsoft YaHei"/>
              </a:rPr>
              <a:t>Skill；像新同事随身携带的一套工作</a:t>
            </a:r>
            <a:r>
              <a:rPr sz="850" dirty="0">
                <a:solidFill>
                  <a:srgbClr val="C4141C"/>
                </a:solidFill>
                <a:latin typeface="Microsoft YaHei"/>
              </a:rPr>
              <a:t> SOP。</a:t>
            </a:r>
          </a:p>
        </p:txBody>
      </p:sp>
      <p:sp>
        <p:nvSpPr>
          <p:cNvPr id="86" name="Rounded Rectangle 26">
            <a:extLst>
              <a:ext uri="{FF2B5EF4-FFF2-40B4-BE49-F238E27FC236}">
                <a16:creationId xmlns:a16="http://schemas.microsoft.com/office/drawing/2014/main" id="{FC5B9E55-0EE7-3E2B-7FC1-DCC374BCB536}"/>
              </a:ext>
            </a:extLst>
          </p:cNvPr>
          <p:cNvSpPr/>
          <p:nvPr/>
        </p:nvSpPr>
        <p:spPr>
          <a:xfrm>
            <a:off x="8129016" y="2981695"/>
            <a:ext cx="3547872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7" name="Picture 27" descr="skillmd.png">
            <a:extLst>
              <a:ext uri="{FF2B5EF4-FFF2-40B4-BE49-F238E27FC236}">
                <a16:creationId xmlns:a16="http://schemas.microsoft.com/office/drawing/2014/main" id="{DEDB3232-8A86-0D70-5671-A81DC37E9B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7032" y="3091423"/>
            <a:ext cx="566928" cy="566928"/>
          </a:xfrm>
          <a:prstGeom prst="rect">
            <a:avLst/>
          </a:prstGeom>
        </p:spPr>
      </p:pic>
      <p:sp>
        <p:nvSpPr>
          <p:cNvPr id="88" name="TextBox 28">
            <a:extLst>
              <a:ext uri="{FF2B5EF4-FFF2-40B4-BE49-F238E27FC236}">
                <a16:creationId xmlns:a16="http://schemas.microsoft.com/office/drawing/2014/main" id="{1E1E9BB2-8926-577E-B9B7-B26EEB1CBC1A}"/>
              </a:ext>
            </a:extLst>
          </p:cNvPr>
          <p:cNvSpPr txBox="1"/>
          <p:nvPr/>
        </p:nvSpPr>
        <p:spPr>
          <a:xfrm>
            <a:off x="8897112" y="3091423"/>
            <a:ext cx="2615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1C222E"/>
                </a:solidFill>
                <a:latin typeface="Microsoft YaHei"/>
              </a:rPr>
              <a:t>SKILL.md</a:t>
            </a:r>
          </a:p>
        </p:txBody>
      </p:sp>
      <p:sp>
        <p:nvSpPr>
          <p:cNvPr id="89" name="TextBox 29">
            <a:extLst>
              <a:ext uri="{FF2B5EF4-FFF2-40B4-BE49-F238E27FC236}">
                <a16:creationId xmlns:a16="http://schemas.microsoft.com/office/drawing/2014/main" id="{6388EC6D-C763-16DA-5743-2B82B052323E}"/>
              </a:ext>
            </a:extLst>
          </p:cNvPr>
          <p:cNvSpPr txBox="1"/>
          <p:nvPr/>
        </p:nvSpPr>
        <p:spPr>
          <a:xfrm>
            <a:off x="8275320" y="3676639"/>
            <a:ext cx="3218688" cy="585216"/>
          </a:xfrm>
          <a:prstGeom prst="rect">
            <a:avLst/>
          </a:prstGeom>
          <a:noFill/>
        </p:spPr>
        <p:txBody>
          <a:bodyPr wrap="square" lIns="9144" tIns="0" rIns="9144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90" dirty="0">
                <a:solidFill>
                  <a:srgbClr val="5F6672"/>
                </a:solidFill>
                <a:latin typeface="Microsoft YaHei"/>
              </a:rPr>
              <a:t>SKILL.md 是 Skill </a:t>
            </a:r>
            <a:r>
              <a:rPr sz="890" dirty="0" err="1">
                <a:solidFill>
                  <a:srgbClr val="5F6672"/>
                </a:solidFill>
                <a:latin typeface="Microsoft YaHei"/>
              </a:rPr>
              <a:t>的说明书，写清楚步骤、规则、模板和示例。它让</a:t>
            </a:r>
            <a:r>
              <a:rPr sz="890" dirty="0">
                <a:solidFill>
                  <a:srgbClr val="5F6672"/>
                </a:solidFill>
                <a:latin typeface="Microsoft YaHei"/>
              </a:rPr>
              <a:t> Agent </a:t>
            </a:r>
            <a:r>
              <a:rPr sz="890" dirty="0" err="1">
                <a:solidFill>
                  <a:srgbClr val="5F6672"/>
                </a:solidFill>
                <a:latin typeface="Microsoft YaHei"/>
              </a:rPr>
              <a:t>不只是会做，还能做得更稳定</a:t>
            </a:r>
            <a:r>
              <a:rPr sz="890" dirty="0">
                <a:solidFill>
                  <a:srgbClr val="5F6672"/>
                </a:solidFill>
                <a:latin typeface="Microsoft YaHei"/>
              </a:rPr>
              <a:t>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dirty="0" err="1">
                <a:solidFill>
                  <a:srgbClr val="C4141C"/>
                </a:solidFill>
                <a:latin typeface="Microsoft YaHei"/>
              </a:rPr>
              <a:t>例子：先看</a:t>
            </a:r>
            <a:r>
              <a:rPr sz="850" dirty="0">
                <a:solidFill>
                  <a:srgbClr val="C4141C"/>
                </a:solidFill>
                <a:latin typeface="Microsoft YaHei"/>
              </a:rPr>
              <a:t> diff → </a:t>
            </a:r>
            <a:r>
              <a:rPr sz="850" dirty="0" err="1">
                <a:solidFill>
                  <a:srgbClr val="C4141C"/>
                </a:solidFill>
                <a:latin typeface="Microsoft YaHei"/>
              </a:rPr>
              <a:t>再查风险点</a:t>
            </a:r>
            <a:r>
              <a:rPr sz="850" dirty="0">
                <a:solidFill>
                  <a:srgbClr val="C4141C"/>
                </a:solidFill>
                <a:latin typeface="Microsoft YaHei"/>
              </a:rPr>
              <a:t> → </a:t>
            </a:r>
            <a:r>
              <a:rPr sz="850" dirty="0" err="1">
                <a:solidFill>
                  <a:srgbClr val="C4141C"/>
                </a:solidFill>
                <a:latin typeface="Microsoft YaHei"/>
              </a:rPr>
              <a:t>最后按模板输出</a:t>
            </a:r>
            <a:r>
              <a:rPr sz="850" dirty="0">
                <a:solidFill>
                  <a:srgbClr val="C4141C"/>
                </a:solidFill>
                <a:latin typeface="Microsoft YaHei"/>
              </a:rPr>
              <a:t> review </a:t>
            </a:r>
            <a:r>
              <a:rPr sz="850" dirty="0" err="1">
                <a:solidFill>
                  <a:srgbClr val="C4141C"/>
                </a:solidFill>
                <a:latin typeface="Microsoft YaHei"/>
              </a:rPr>
              <a:t>结论；像操作手册</a:t>
            </a:r>
            <a:r>
              <a:rPr sz="850" dirty="0">
                <a:solidFill>
                  <a:srgbClr val="C4141C"/>
                </a:solidFill>
                <a:latin typeface="Microsoft YaHei"/>
              </a:rPr>
              <a:t>。</a:t>
            </a:r>
          </a:p>
        </p:txBody>
      </p:sp>
      <p:sp>
        <p:nvSpPr>
          <p:cNvPr id="90" name="Rounded Rectangle 30">
            <a:extLst>
              <a:ext uri="{FF2B5EF4-FFF2-40B4-BE49-F238E27FC236}">
                <a16:creationId xmlns:a16="http://schemas.microsoft.com/office/drawing/2014/main" id="{A1F9B65B-A5A6-EB39-FCB0-A66C3E83F28C}"/>
              </a:ext>
            </a:extLst>
          </p:cNvPr>
          <p:cNvSpPr/>
          <p:nvPr/>
        </p:nvSpPr>
        <p:spPr>
          <a:xfrm>
            <a:off x="502920" y="4408159"/>
            <a:ext cx="3547872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2" name="TextBox 32">
            <a:extLst>
              <a:ext uri="{FF2B5EF4-FFF2-40B4-BE49-F238E27FC236}">
                <a16:creationId xmlns:a16="http://schemas.microsoft.com/office/drawing/2014/main" id="{B6785F44-B875-907D-73DD-355A3364BE16}"/>
              </a:ext>
            </a:extLst>
          </p:cNvPr>
          <p:cNvSpPr txBox="1"/>
          <p:nvPr/>
        </p:nvSpPr>
        <p:spPr>
          <a:xfrm>
            <a:off x="1271016" y="4517887"/>
            <a:ext cx="2615184" cy="1785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160" b="1" dirty="0">
                <a:solidFill>
                  <a:srgbClr val="1C222E"/>
                </a:solidFill>
                <a:latin typeface="Microsoft YaHei"/>
              </a:rPr>
              <a:t>Subagent</a:t>
            </a:r>
            <a:endParaRPr sz="1160" b="1" dirty="0">
              <a:solidFill>
                <a:srgbClr val="1C222E"/>
              </a:solidFill>
              <a:latin typeface="Microsoft YaHei"/>
            </a:endParaRPr>
          </a:p>
        </p:txBody>
      </p:sp>
      <p:sp>
        <p:nvSpPr>
          <p:cNvPr id="93" name="TextBox 33">
            <a:extLst>
              <a:ext uri="{FF2B5EF4-FFF2-40B4-BE49-F238E27FC236}">
                <a16:creationId xmlns:a16="http://schemas.microsoft.com/office/drawing/2014/main" id="{E9CFA2C9-519C-65F4-C9BA-BFED4D0C9836}"/>
              </a:ext>
            </a:extLst>
          </p:cNvPr>
          <p:cNvSpPr txBox="1"/>
          <p:nvPr/>
        </p:nvSpPr>
        <p:spPr>
          <a:xfrm>
            <a:off x="649224" y="5103103"/>
            <a:ext cx="3218688" cy="591444"/>
          </a:xfrm>
          <a:prstGeom prst="rect">
            <a:avLst/>
          </a:prstGeom>
          <a:noFill/>
        </p:spPr>
        <p:txBody>
          <a:bodyPr wrap="square" lIns="9144" tIns="0" rIns="9144" bIns="0" anchor="t">
            <a:spAutoFit/>
          </a:bodyPr>
          <a:lstStyle/>
          <a:p>
            <a:pPr>
              <a:lnSpc>
                <a:spcPct val="104000"/>
              </a:lnSpc>
              <a:spcAft>
                <a:spcPts val="80"/>
              </a:spcAft>
            </a:pPr>
            <a:r>
              <a:rPr lang="zh-CN" altLang="en-US" sz="900" dirty="0">
                <a:solidFill>
                  <a:srgbClr val="3C424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像一个“专职角色”。主 </a:t>
            </a:r>
            <a:r>
              <a:rPr lang="en-US" altLang="zh-CN" sz="900" dirty="0">
                <a:solidFill>
                  <a:srgbClr val="3C424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 </a:t>
            </a:r>
            <a:r>
              <a:rPr lang="zh-CN" altLang="en-US" sz="900" dirty="0">
                <a:solidFill>
                  <a:srgbClr val="3C424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可以把搜索、测试、代码审查、文档整理等子任务交给不同 </a:t>
            </a:r>
            <a:r>
              <a:rPr lang="en-US" altLang="zh-CN" sz="900" dirty="0">
                <a:solidFill>
                  <a:srgbClr val="3C424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Subagent</a:t>
            </a:r>
            <a:r>
              <a:rPr lang="zh-CN" altLang="en-US" sz="900" dirty="0">
                <a:solidFill>
                  <a:srgbClr val="3C424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04000"/>
              </a:lnSpc>
              <a:spcAft>
                <a:spcPts val="80"/>
              </a:spcAft>
            </a:pPr>
            <a:r>
              <a:rPr lang="zh-CN" altLang="en-US" sz="800" dirty="0">
                <a:solidFill>
                  <a:srgbClr val="C4141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例如：测试专家、代码审查员、文档整理员、代码库搜索员。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endParaRPr lang="zh-CN" altLang="en-US" sz="850" dirty="0">
              <a:solidFill>
                <a:srgbClr val="C4141C"/>
              </a:solidFill>
              <a:latin typeface="Microsoft YaHei"/>
            </a:endParaRPr>
          </a:p>
        </p:txBody>
      </p:sp>
      <p:sp>
        <p:nvSpPr>
          <p:cNvPr id="94" name="Rounded Rectangle 34">
            <a:extLst>
              <a:ext uri="{FF2B5EF4-FFF2-40B4-BE49-F238E27FC236}">
                <a16:creationId xmlns:a16="http://schemas.microsoft.com/office/drawing/2014/main" id="{4CF0CE3D-A653-076C-9D26-A25636D984AE}"/>
              </a:ext>
            </a:extLst>
          </p:cNvPr>
          <p:cNvSpPr/>
          <p:nvPr/>
        </p:nvSpPr>
        <p:spPr>
          <a:xfrm>
            <a:off x="4315968" y="4408159"/>
            <a:ext cx="3547872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5" name="Picture 35" descr="guardrails.png">
            <a:extLst>
              <a:ext uri="{FF2B5EF4-FFF2-40B4-BE49-F238E27FC236}">
                <a16:creationId xmlns:a16="http://schemas.microsoft.com/office/drawing/2014/main" id="{DEC6AB69-F503-3EE4-54F3-D57776E93C9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43983" y="4517887"/>
            <a:ext cx="566928" cy="566928"/>
          </a:xfrm>
          <a:prstGeom prst="rect">
            <a:avLst/>
          </a:prstGeom>
        </p:spPr>
      </p:pic>
      <p:sp>
        <p:nvSpPr>
          <p:cNvPr id="96" name="TextBox 36">
            <a:extLst>
              <a:ext uri="{FF2B5EF4-FFF2-40B4-BE49-F238E27FC236}">
                <a16:creationId xmlns:a16="http://schemas.microsoft.com/office/drawing/2014/main" id="{0C867A0E-6256-49BC-D0C2-5E8948E88C60}"/>
              </a:ext>
            </a:extLst>
          </p:cNvPr>
          <p:cNvSpPr txBox="1"/>
          <p:nvPr/>
        </p:nvSpPr>
        <p:spPr>
          <a:xfrm>
            <a:off x="5084064" y="4517887"/>
            <a:ext cx="2615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80" b="1">
                <a:solidFill>
                  <a:srgbClr val="1C222E"/>
                </a:solidFill>
                <a:latin typeface="Microsoft YaHei"/>
              </a:rPr>
              <a:t>Guardrails</a:t>
            </a:r>
          </a:p>
        </p:txBody>
      </p:sp>
      <p:sp>
        <p:nvSpPr>
          <p:cNvPr id="97" name="TextBox 37">
            <a:extLst>
              <a:ext uri="{FF2B5EF4-FFF2-40B4-BE49-F238E27FC236}">
                <a16:creationId xmlns:a16="http://schemas.microsoft.com/office/drawing/2014/main" id="{81A256B4-1159-0569-EFB8-6754E6AA95D8}"/>
              </a:ext>
            </a:extLst>
          </p:cNvPr>
          <p:cNvSpPr txBox="1"/>
          <p:nvPr/>
        </p:nvSpPr>
        <p:spPr>
          <a:xfrm>
            <a:off x="4462272" y="5103103"/>
            <a:ext cx="3218688" cy="585216"/>
          </a:xfrm>
          <a:prstGeom prst="rect">
            <a:avLst/>
          </a:prstGeom>
          <a:noFill/>
        </p:spPr>
        <p:txBody>
          <a:bodyPr wrap="square" lIns="9144" tIns="0" rIns="9144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90">
                <a:solidFill>
                  <a:srgbClr val="5F6672"/>
                </a:solidFill>
                <a:latin typeface="Microsoft YaHei"/>
              </a:rPr>
              <a:t>Guardrails 是“安全护栏”。它规定哪些动作不能直接做，哪些一碰到就必须先停下来问人。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>
                <a:solidFill>
                  <a:srgbClr val="C4141C"/>
                </a:solidFill>
                <a:latin typeface="Microsoft YaHei"/>
              </a:rPr>
              <a:t>例子：不改密钥、不碰支付逻辑、不跳过测试；像高速公路边的护栏，防止一把方向盘打飞。</a:t>
            </a:r>
          </a:p>
        </p:txBody>
      </p:sp>
      <p:sp>
        <p:nvSpPr>
          <p:cNvPr id="98" name="Rounded Rectangle 38">
            <a:extLst>
              <a:ext uri="{FF2B5EF4-FFF2-40B4-BE49-F238E27FC236}">
                <a16:creationId xmlns:a16="http://schemas.microsoft.com/office/drawing/2014/main" id="{0246AC68-EC52-A9D1-DC50-2F284CFCEE0F}"/>
              </a:ext>
            </a:extLst>
          </p:cNvPr>
          <p:cNvSpPr/>
          <p:nvPr/>
        </p:nvSpPr>
        <p:spPr>
          <a:xfrm>
            <a:off x="8129016" y="4408159"/>
            <a:ext cx="3547872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9" name="Picture 39" descr="human.png">
            <a:extLst>
              <a:ext uri="{FF2B5EF4-FFF2-40B4-BE49-F238E27FC236}">
                <a16:creationId xmlns:a16="http://schemas.microsoft.com/office/drawing/2014/main" id="{777E7219-5494-5A7F-0D37-566D71B1039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57032" y="4517887"/>
            <a:ext cx="566928" cy="566928"/>
          </a:xfrm>
          <a:prstGeom prst="rect">
            <a:avLst/>
          </a:prstGeom>
        </p:spPr>
      </p:pic>
      <p:sp>
        <p:nvSpPr>
          <p:cNvPr id="100" name="TextBox 40">
            <a:extLst>
              <a:ext uri="{FF2B5EF4-FFF2-40B4-BE49-F238E27FC236}">
                <a16:creationId xmlns:a16="http://schemas.microsoft.com/office/drawing/2014/main" id="{119CD72E-F33F-8E06-5D27-CAB71DFF16A2}"/>
              </a:ext>
            </a:extLst>
          </p:cNvPr>
          <p:cNvSpPr txBox="1"/>
          <p:nvPr/>
        </p:nvSpPr>
        <p:spPr>
          <a:xfrm>
            <a:off x="8897112" y="4517887"/>
            <a:ext cx="26151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C222E"/>
                </a:solidFill>
                <a:latin typeface="Microsoft YaHei"/>
              </a:rPr>
              <a:t>Human-in-the-loop</a:t>
            </a:r>
          </a:p>
        </p:txBody>
      </p:sp>
      <p:sp>
        <p:nvSpPr>
          <p:cNvPr id="101" name="TextBox 41">
            <a:extLst>
              <a:ext uri="{FF2B5EF4-FFF2-40B4-BE49-F238E27FC236}">
                <a16:creationId xmlns:a16="http://schemas.microsoft.com/office/drawing/2014/main" id="{1595FD0D-3E8D-A541-3799-9F64552556B6}"/>
              </a:ext>
            </a:extLst>
          </p:cNvPr>
          <p:cNvSpPr txBox="1"/>
          <p:nvPr/>
        </p:nvSpPr>
        <p:spPr>
          <a:xfrm>
            <a:off x="8275320" y="5103103"/>
            <a:ext cx="3218688" cy="585216"/>
          </a:xfrm>
          <a:prstGeom prst="rect">
            <a:avLst/>
          </a:prstGeom>
          <a:noFill/>
        </p:spPr>
        <p:txBody>
          <a:bodyPr wrap="square" lIns="9144" tIns="0" rIns="9144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90">
                <a:solidFill>
                  <a:srgbClr val="5F6672"/>
                </a:solidFill>
                <a:latin typeface="Microsoft YaHei"/>
              </a:rPr>
              <a:t>Human-in-the-loop 表示关键节点上始终有人类参与：确认目标、Review 结果、决定是否放行。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>
                <a:solidFill>
                  <a:srgbClr val="C4141C"/>
                </a:solidFill>
                <a:latin typeface="Microsoft YaHei"/>
              </a:rPr>
              <a:t>例子：Agent 先改代码并给出 diff，人类再审查和验收；像自动驾驶也仍需要驾驶员随时接管。</a:t>
            </a:r>
          </a:p>
        </p:txBody>
      </p:sp>
      <p:sp>
        <p:nvSpPr>
          <p:cNvPr id="102" name="Oval 44">
            <a:extLst>
              <a:ext uri="{FF2B5EF4-FFF2-40B4-BE49-F238E27FC236}">
                <a16:creationId xmlns:a16="http://schemas.microsoft.com/office/drawing/2014/main" id="{88F84476-0DD6-BB77-5081-0F4A352D4F42}"/>
              </a:ext>
            </a:extLst>
          </p:cNvPr>
          <p:cNvSpPr/>
          <p:nvPr/>
        </p:nvSpPr>
        <p:spPr>
          <a:xfrm>
            <a:off x="749808" y="4555715"/>
            <a:ext cx="329184" cy="329184"/>
          </a:xfrm>
          <a:prstGeom prst="ellipse">
            <a:avLst/>
          </a:prstGeom>
          <a:solidFill>
            <a:srgbClr val="FFF4F4"/>
          </a:solidFill>
          <a:ln>
            <a:solidFill>
              <a:srgbClr val="EE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3" name="Picture 83" descr="image.png">
            <a:extLst>
              <a:ext uri="{FF2B5EF4-FFF2-40B4-BE49-F238E27FC236}">
                <a16:creationId xmlns:a16="http://schemas.microsoft.com/office/drawing/2014/main" id="{A519FBB2-B145-FA70-EC23-E405DDBF22F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59568" y="6382512"/>
            <a:ext cx="266315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064" y="164592"/>
            <a:ext cx="1106424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20" b="1">
                <a:solidFill>
                  <a:srgbClr val="1A202C"/>
                </a:solidFill>
                <a:latin typeface="Microsoft YaHei"/>
              </a:rPr>
              <a:t>一次真实请求，AI Agent 是如何工作的？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548640"/>
            <a:ext cx="841248" cy="45720"/>
          </a:xfrm>
          <a:prstGeom prst="rect">
            <a:avLst/>
          </a:prstGeom>
          <a:solidFill>
            <a:srgbClr val="C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12064" y="658368"/>
            <a:ext cx="10972800" cy="18288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60" b="0">
                <a:solidFill>
                  <a:srgbClr val="5C6471"/>
                </a:solidFill>
                <a:latin typeface="Microsoft YaHei"/>
              </a:rPr>
              <a:t>用一个开发需求，把 Prompt、Context、LLM、Skills、MCP 和 Human-in-the-loop 串成一条可讲清的链路。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" y="932688"/>
            <a:ext cx="11137392" cy="502920"/>
          </a:xfrm>
          <a:prstGeom prst="roundRect">
            <a:avLst/>
          </a:prstGeom>
          <a:solidFill>
            <a:srgbClr val="FFF4F4"/>
          </a:solidFill>
          <a:ln w="12700">
            <a:solidFill>
              <a:srgbClr val="EE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042415"/>
            <a:ext cx="105156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60" b="1">
                <a:solidFill>
                  <a:srgbClr val="C4141C"/>
                </a:solidFill>
                <a:latin typeface="Microsoft YaHei"/>
              </a:rPr>
              <a:t>用户请求：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1042415"/>
            <a:ext cx="98298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1A202C"/>
                </a:solidFill>
                <a:latin typeface="Microsoft YaHei"/>
              </a:rPr>
              <a:t>“请帮我给用户列表接口增加分页能力，兼容旧调用，补充单元测试，并说明可能影响哪些文件。”</a:t>
            </a:r>
          </a:p>
        </p:txBody>
      </p:sp>
      <p:sp>
        <p:nvSpPr>
          <p:cNvPr id="8" name="Chevron 7"/>
          <p:cNvSpPr/>
          <p:nvPr/>
        </p:nvSpPr>
        <p:spPr>
          <a:xfrm>
            <a:off x="2249424" y="2203704"/>
            <a:ext cx="182880" cy="182880"/>
          </a:xfrm>
          <a:prstGeom prst="chevron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Chevron 8"/>
          <p:cNvSpPr/>
          <p:nvPr/>
        </p:nvSpPr>
        <p:spPr>
          <a:xfrm>
            <a:off x="4169664" y="2203704"/>
            <a:ext cx="182880" cy="182880"/>
          </a:xfrm>
          <a:prstGeom prst="chevron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hevron 9"/>
          <p:cNvSpPr/>
          <p:nvPr/>
        </p:nvSpPr>
        <p:spPr>
          <a:xfrm>
            <a:off x="6089904" y="2203704"/>
            <a:ext cx="182880" cy="182880"/>
          </a:xfrm>
          <a:prstGeom prst="chevron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Chevron 10"/>
          <p:cNvSpPr/>
          <p:nvPr/>
        </p:nvSpPr>
        <p:spPr>
          <a:xfrm>
            <a:off x="8010144" y="2203704"/>
            <a:ext cx="182880" cy="182880"/>
          </a:xfrm>
          <a:prstGeom prst="chevron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hevron 11"/>
          <p:cNvSpPr/>
          <p:nvPr/>
        </p:nvSpPr>
        <p:spPr>
          <a:xfrm>
            <a:off x="9930384" y="2203704"/>
            <a:ext cx="182880" cy="182880"/>
          </a:xfrm>
          <a:prstGeom prst="chevron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48640" y="1755648"/>
            <a:ext cx="1664208" cy="1152144"/>
          </a:xfrm>
          <a:prstGeom prst="roundRect">
            <a:avLst/>
          </a:prstGeom>
          <a:solidFill>
            <a:srgbClr val="FFF4F4"/>
          </a:solidFill>
          <a:ln w="12700">
            <a:solidFill>
              <a:srgbClr val="EE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1883664"/>
            <a:ext cx="138988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C4141C"/>
                </a:solidFill>
                <a:latin typeface="Microsoft YaHei"/>
              </a:rPr>
              <a:t>Prompt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157984"/>
            <a:ext cx="129844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3C424E"/>
                </a:solidFill>
                <a:latin typeface="Microsoft YaHei"/>
              </a:rPr>
              <a:t>任务单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14015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70" b="0">
                <a:solidFill>
                  <a:srgbClr val="5C6471"/>
                </a:solidFill>
                <a:latin typeface="Microsoft YaHei"/>
              </a:rPr>
              <a:t>目标、约束、交付物
说清楚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68880" y="1755648"/>
            <a:ext cx="1664208" cy="1152144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606040" y="1883664"/>
            <a:ext cx="138988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A202C"/>
                </a:solidFill>
                <a:latin typeface="Microsoft YaHei"/>
              </a:rPr>
              <a:t>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2157984"/>
            <a:ext cx="129844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3C424E"/>
                </a:solidFill>
                <a:latin typeface="Microsoft YaHei"/>
              </a:rPr>
              <a:t>资料包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15184" y="2414015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70" b="0">
                <a:solidFill>
                  <a:srgbClr val="5C6471"/>
                </a:solidFill>
                <a:latin typeface="Microsoft YaHei"/>
              </a:rPr>
              <a:t>代码、AGENT.md、README
测试结果与历史约定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1755648"/>
            <a:ext cx="1664208" cy="1152144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26280" y="1883664"/>
            <a:ext cx="138988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A202C"/>
                </a:solidFill>
                <a:latin typeface="Microsoft YaHei"/>
              </a:rPr>
              <a:t>LLM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157984"/>
            <a:ext cx="129844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3C424E"/>
                </a:solidFill>
                <a:latin typeface="Microsoft YaHei"/>
              </a:rPr>
              <a:t>大脑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5424" y="2414015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70" b="0">
                <a:solidFill>
                  <a:srgbClr val="5C6471"/>
                </a:solidFill>
                <a:latin typeface="Microsoft YaHei"/>
              </a:rPr>
              <a:t>理解需求、判断意图
拆解关键问题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1755648"/>
            <a:ext cx="1664208" cy="1152144"/>
          </a:xfrm>
          <a:prstGeom prst="roundRect">
            <a:avLst/>
          </a:prstGeom>
          <a:solidFill>
            <a:srgbClr val="FFF9EE"/>
          </a:solidFill>
          <a:ln w="12700">
            <a:solidFill>
              <a:srgbClr val="F0D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46520" y="1883664"/>
            <a:ext cx="138988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C4141C"/>
                </a:solidFill>
                <a:latin typeface="Microsoft YaHei"/>
              </a:rPr>
              <a:t>Skills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157984"/>
            <a:ext cx="129844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3C424E"/>
                </a:solidFill>
                <a:latin typeface="Microsoft YaHei"/>
              </a:rPr>
              <a:t>做事套路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5664" y="2414015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70" b="0">
                <a:solidFill>
                  <a:srgbClr val="5C6471"/>
                </a:solidFill>
                <a:latin typeface="Microsoft YaHei"/>
              </a:rPr>
              <a:t>按团队 SOP 处理
如测试/Review/变更说明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1755648"/>
            <a:ext cx="1664208" cy="1152144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66760" y="1883664"/>
            <a:ext cx="138988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A202C"/>
                </a:solidFill>
                <a:latin typeface="Microsoft YaHei"/>
              </a:rPr>
              <a:t>MCP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2157984"/>
            <a:ext cx="129844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3C424E"/>
                </a:solidFill>
                <a:latin typeface="Microsoft YaHei"/>
              </a:rPr>
              <a:t>工具插座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75904" y="2414015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70" b="0">
                <a:solidFill>
                  <a:srgbClr val="5C6471"/>
                </a:solidFill>
                <a:latin typeface="Microsoft YaHei"/>
              </a:rPr>
              <a:t>连接文件、终端、GitHub
数据库或知识库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49840" y="1755648"/>
            <a:ext cx="1664208" cy="1152144"/>
          </a:xfrm>
          <a:prstGeom prst="roundRect">
            <a:avLst/>
          </a:prstGeom>
          <a:solidFill>
            <a:srgbClr val="FFF4F4"/>
          </a:solidFill>
          <a:ln w="12700">
            <a:solidFill>
              <a:srgbClr val="EE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287000" y="1883664"/>
            <a:ext cx="138988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60" b="1">
                <a:solidFill>
                  <a:srgbClr val="C4141C"/>
                </a:solidFill>
                <a:latin typeface="Microsoft YaHei"/>
              </a:rPr>
              <a:t>Human-in-the-loop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19" y="2157984"/>
            <a:ext cx="129844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3C424E"/>
                </a:solidFill>
                <a:latin typeface="Microsoft YaHei"/>
              </a:rPr>
              <a:t>人工拍板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96144" y="2414015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70" b="0">
                <a:solidFill>
                  <a:srgbClr val="5C6471"/>
                </a:solidFill>
                <a:latin typeface="Microsoft YaHei"/>
              </a:rPr>
              <a:t>Review diff、确认风险
决定是否合入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12064" y="3218688"/>
            <a:ext cx="5413248" cy="2414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49808" y="3401568"/>
            <a:ext cx="49377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60" b="1">
                <a:solidFill>
                  <a:srgbClr val="1A202C"/>
                </a:solidFill>
                <a:latin typeface="Microsoft YaHei"/>
              </a:rPr>
              <a:t>ReAct 核心循环：让 LLM 一边推理，一边调用工具验证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" y="3822191"/>
            <a:ext cx="1115568" cy="786384"/>
          </a:xfrm>
          <a:prstGeom prst="roundRect">
            <a:avLst/>
          </a:prstGeom>
          <a:solidFill>
            <a:srgbClr val="FFF4F4"/>
          </a:solidFill>
          <a:ln w="12700">
            <a:solidFill>
              <a:srgbClr val="EE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05840" y="3931920"/>
            <a:ext cx="93268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C4141C"/>
                </a:solidFill>
                <a:latin typeface="Microsoft YaHei"/>
              </a:rPr>
              <a:t>Reason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" y="4151376"/>
            <a:ext cx="932688" cy="9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19" b="0">
                <a:solidFill>
                  <a:srgbClr val="3C424E"/>
                </a:solidFill>
                <a:latin typeface="Microsoft YaHei"/>
              </a:rPr>
              <a:t>想一想</a:t>
            </a:r>
          </a:p>
        </p:txBody>
      </p:sp>
      <p:sp>
        <p:nvSpPr>
          <p:cNvPr id="42" name="Chevron 41"/>
          <p:cNvSpPr/>
          <p:nvPr/>
        </p:nvSpPr>
        <p:spPr>
          <a:xfrm>
            <a:off x="2112264" y="4105656"/>
            <a:ext cx="182880" cy="182880"/>
          </a:xfrm>
          <a:prstGeom prst="chevron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2240280" y="3822191"/>
            <a:ext cx="1115568" cy="786384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331720" y="3931920"/>
            <a:ext cx="93268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A202C"/>
                </a:solidFill>
                <a:latin typeface="Microsoft YaHei"/>
              </a:rPr>
              <a:t>Act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31720" y="4151376"/>
            <a:ext cx="932688" cy="9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19" b="0">
                <a:solidFill>
                  <a:srgbClr val="3C424E"/>
                </a:solidFill>
                <a:latin typeface="Microsoft YaHei"/>
              </a:rPr>
              <a:t>做一下</a:t>
            </a:r>
          </a:p>
        </p:txBody>
      </p:sp>
      <p:sp>
        <p:nvSpPr>
          <p:cNvPr id="46" name="Chevron 45"/>
          <p:cNvSpPr/>
          <p:nvPr/>
        </p:nvSpPr>
        <p:spPr>
          <a:xfrm>
            <a:off x="3438144" y="4105656"/>
            <a:ext cx="182880" cy="182880"/>
          </a:xfrm>
          <a:prstGeom prst="chevron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3566160" y="3822191"/>
            <a:ext cx="1115568" cy="786384"/>
          </a:xfrm>
          <a:prstGeom prst="roundRect">
            <a:avLst/>
          </a:prstGeom>
          <a:solidFill>
            <a:srgbClr val="FFF9EE"/>
          </a:solidFill>
          <a:ln w="12700">
            <a:solidFill>
              <a:srgbClr val="F0D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657600" y="3931920"/>
            <a:ext cx="93268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C4141C"/>
                </a:solidFill>
                <a:latin typeface="Microsoft YaHei"/>
              </a:rPr>
              <a:t>Observe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0" y="4151376"/>
            <a:ext cx="932688" cy="9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19" b="0">
                <a:solidFill>
                  <a:srgbClr val="3C424E"/>
                </a:solidFill>
                <a:latin typeface="Microsoft YaHei"/>
              </a:rPr>
              <a:t>看结果</a:t>
            </a:r>
          </a:p>
        </p:txBody>
      </p:sp>
      <p:sp>
        <p:nvSpPr>
          <p:cNvPr id="50" name="Curved Left Arrow 49"/>
          <p:cNvSpPr/>
          <p:nvPr/>
        </p:nvSpPr>
        <p:spPr>
          <a:xfrm>
            <a:off x="2029968" y="4663440"/>
            <a:ext cx="1920240" cy="384048"/>
          </a:xfrm>
          <a:prstGeom prst="curvedLeftArrow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86384" y="4846320"/>
            <a:ext cx="4754880" cy="502920"/>
          </a:xfrm>
          <a:prstGeom prst="rect">
            <a:avLst/>
          </a:prstGeom>
          <a:noFill/>
        </p:spPr>
        <p:txBody>
          <a:bodyPr wrap="square" lIns="9144" tIns="0" rIns="9144" bIns="0" anchor="t">
            <a:normAutofit/>
          </a:bodyPr>
          <a:lstStyle/>
          <a:p>
            <a:pPr algn="l">
              <a:lnSpc>
                <a:spcPct val="104000"/>
              </a:lnSpc>
              <a:spcAft>
                <a:spcPts val="80"/>
              </a:spcAft>
            </a:pPr>
            <a:r>
              <a:rPr sz="880" b="0">
                <a:solidFill>
                  <a:srgbClr val="5C6471"/>
                </a:solidFill>
                <a:latin typeface="Microsoft YaHei"/>
              </a:rPr>
              <a:t>不是“一次性猜答案”，而是循环：先推理 → 调工具 → 看结果 → 再推理。</a:t>
            </a:r>
          </a:p>
          <a:p>
            <a:pPr algn="l">
              <a:lnSpc>
                <a:spcPct val="104000"/>
              </a:lnSpc>
              <a:spcAft>
                <a:spcPts val="80"/>
              </a:spcAft>
            </a:pPr>
            <a:r>
              <a:rPr sz="869" b="1">
                <a:solidFill>
                  <a:srgbClr val="C4141C"/>
                </a:solidFill>
                <a:latin typeface="Microsoft YaHei"/>
              </a:rPr>
              <a:t>例：先找 UserController；再读 Service；再跑 mvn test；失败后继续修正。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99632" y="3218688"/>
            <a:ext cx="5449824" cy="2414016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437376" y="3401568"/>
            <a:ext cx="49377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60" b="1">
                <a:solidFill>
                  <a:srgbClr val="1A202C"/>
                </a:solidFill>
                <a:latin typeface="Microsoft YaHei"/>
              </a:rPr>
              <a:t>这个流程里，每个概念各司其职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37376" y="3749039"/>
            <a:ext cx="124358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1A202C"/>
                </a:solidFill>
                <a:latin typeface="Microsoft YaHei"/>
              </a:rPr>
              <a:t>Prompt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79792" y="3749039"/>
            <a:ext cx="393192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0" b="0">
                <a:solidFill>
                  <a:srgbClr val="5C6471"/>
                </a:solidFill>
                <a:latin typeface="Microsoft YaHei"/>
              </a:rPr>
              <a:t>告诉 Agent：这次要完成什么、不能破坏什么、最后要交付什么。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37376" y="4023359"/>
            <a:ext cx="124358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1A202C"/>
                </a:solidFill>
                <a:latin typeface="Microsoft YaHei"/>
              </a:rPr>
              <a:t>Context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79792" y="4023359"/>
            <a:ext cx="393192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0" b="0">
                <a:solidFill>
                  <a:srgbClr val="5C6471"/>
                </a:solidFill>
                <a:latin typeface="Microsoft YaHei"/>
              </a:rPr>
              <a:t>告诉 Agent：项目当前是什么样，团队规则与历史约定是什么。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37376" y="4297679"/>
            <a:ext cx="124358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1A202C"/>
                </a:solidFill>
                <a:latin typeface="Microsoft YaHei"/>
              </a:rPr>
              <a:t>LLM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79792" y="4297679"/>
            <a:ext cx="393192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0" b="0" dirty="0" err="1">
                <a:solidFill>
                  <a:srgbClr val="5C6471"/>
                </a:solidFill>
                <a:latin typeface="Microsoft YaHei"/>
              </a:rPr>
              <a:t>负责理解需求、做判断、在</a:t>
            </a:r>
            <a:r>
              <a:rPr sz="810" b="0" dirty="0">
                <a:solidFill>
                  <a:srgbClr val="5C6471"/>
                </a:solidFill>
                <a:latin typeface="Microsoft YaHei"/>
              </a:rPr>
              <a:t> </a:t>
            </a:r>
            <a:r>
              <a:rPr sz="810" b="0" dirty="0" err="1">
                <a:solidFill>
                  <a:srgbClr val="5C6471"/>
                </a:solidFill>
                <a:latin typeface="Microsoft YaHei"/>
              </a:rPr>
              <a:t>ReAct</a:t>
            </a:r>
            <a:r>
              <a:rPr sz="810" b="0" dirty="0">
                <a:solidFill>
                  <a:srgbClr val="5C6471"/>
                </a:solidFill>
                <a:latin typeface="Microsoft YaHei"/>
              </a:rPr>
              <a:t> </a:t>
            </a:r>
            <a:r>
              <a:rPr sz="810" b="0" dirty="0" err="1">
                <a:solidFill>
                  <a:srgbClr val="5C6471"/>
                </a:solidFill>
                <a:latin typeface="Microsoft YaHei"/>
              </a:rPr>
              <a:t>循环中决定下一步</a:t>
            </a:r>
            <a:r>
              <a:rPr sz="810" b="0" dirty="0">
                <a:solidFill>
                  <a:srgbClr val="5C6471"/>
                </a:solidFill>
                <a:latin typeface="Microsoft YaHei"/>
              </a:rPr>
              <a:t>。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37376" y="4572000"/>
            <a:ext cx="124358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C4141C"/>
                </a:solidFill>
                <a:latin typeface="Microsoft YaHei"/>
              </a:rPr>
              <a:t>Skills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79792" y="4572000"/>
            <a:ext cx="393192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0" b="0">
                <a:solidFill>
                  <a:srgbClr val="5C6471"/>
                </a:solidFill>
                <a:latin typeface="Microsoft YaHei"/>
              </a:rPr>
              <a:t>把团队经验变成固定套路，例如“先出计划、补测试、写变更说明”。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37376" y="4846320"/>
            <a:ext cx="124358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1A202C"/>
                </a:solidFill>
                <a:latin typeface="Microsoft YaHei"/>
              </a:rPr>
              <a:t>MCP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479792" y="4846320"/>
            <a:ext cx="393192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0" b="0" dirty="0">
                <a:solidFill>
                  <a:srgbClr val="5C6471"/>
                </a:solidFill>
                <a:latin typeface="Microsoft YaHei"/>
              </a:rPr>
              <a:t>让 Agent </a:t>
            </a:r>
            <a:r>
              <a:rPr sz="810" b="0" dirty="0" err="1">
                <a:solidFill>
                  <a:srgbClr val="5C6471"/>
                </a:solidFill>
                <a:latin typeface="Microsoft YaHei"/>
              </a:rPr>
              <a:t>真正连接工具：读文件、查仓库、跑命令、访问外部系统</a:t>
            </a:r>
            <a:r>
              <a:rPr sz="810" b="0" dirty="0">
                <a:solidFill>
                  <a:srgbClr val="5C6471"/>
                </a:solidFill>
                <a:latin typeface="Microsoft YaHei"/>
              </a:rPr>
              <a:t>。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37376" y="5120640"/>
            <a:ext cx="1243584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 dirty="0">
                <a:solidFill>
                  <a:srgbClr val="C4141C"/>
                </a:solidFill>
                <a:latin typeface="Microsoft YaHei"/>
              </a:rPr>
              <a:t>Human-in-the-loop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79792" y="5120640"/>
            <a:ext cx="393192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0" b="0" dirty="0" err="1">
                <a:solidFill>
                  <a:srgbClr val="5C6471"/>
                </a:solidFill>
                <a:latin typeface="Microsoft YaHei"/>
              </a:rPr>
              <a:t>最后由人审查结果、判断风险、决定是否接受</a:t>
            </a:r>
            <a:r>
              <a:rPr sz="810" b="0" dirty="0">
                <a:solidFill>
                  <a:srgbClr val="5C6471"/>
                </a:solidFill>
                <a:latin typeface="Microsoft YaHei"/>
              </a:rPr>
              <a:t>。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12064" y="5833872"/>
            <a:ext cx="11137392" cy="384048"/>
          </a:xfrm>
          <a:prstGeom prst="roundRect">
            <a:avLst/>
          </a:prstGeom>
          <a:solidFill>
            <a:srgbClr val="FFF4F4"/>
          </a:solidFill>
          <a:ln w="12700">
            <a:solidFill>
              <a:srgbClr val="EE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13232" y="5925312"/>
            <a:ext cx="106984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40" b="1" dirty="0" err="1">
                <a:solidFill>
                  <a:srgbClr val="C4141C"/>
                </a:solidFill>
                <a:latin typeface="Microsoft YaHei"/>
              </a:rPr>
              <a:t>一句话：Prompt</a:t>
            </a:r>
            <a:r>
              <a:rPr sz="1040" b="1" dirty="0">
                <a:solidFill>
                  <a:srgbClr val="C4141C"/>
                </a:solidFill>
                <a:latin typeface="Microsoft YaHei"/>
              </a:rPr>
              <a:t> </a:t>
            </a:r>
            <a:r>
              <a:rPr sz="1040" b="1" dirty="0" err="1">
                <a:solidFill>
                  <a:srgbClr val="C4141C"/>
                </a:solidFill>
                <a:latin typeface="Microsoft YaHei"/>
              </a:rPr>
              <a:t>给目标，Context</a:t>
            </a:r>
            <a:r>
              <a:rPr sz="1040" b="1" dirty="0">
                <a:solidFill>
                  <a:srgbClr val="C4141C"/>
                </a:solidFill>
                <a:latin typeface="Microsoft YaHei"/>
              </a:rPr>
              <a:t> </a:t>
            </a:r>
            <a:r>
              <a:rPr sz="1040" b="1" dirty="0" err="1">
                <a:solidFill>
                  <a:srgbClr val="C4141C"/>
                </a:solidFill>
                <a:latin typeface="Microsoft YaHei"/>
              </a:rPr>
              <a:t>给材料，LLM</a:t>
            </a:r>
            <a:r>
              <a:rPr sz="1040" b="1" dirty="0">
                <a:solidFill>
                  <a:srgbClr val="C4141C"/>
                </a:solidFill>
                <a:latin typeface="Microsoft YaHei"/>
              </a:rPr>
              <a:t> </a:t>
            </a:r>
            <a:r>
              <a:rPr sz="1040" b="1" dirty="0" err="1">
                <a:solidFill>
                  <a:srgbClr val="C4141C"/>
                </a:solidFill>
                <a:latin typeface="Microsoft YaHei"/>
              </a:rPr>
              <a:t>负责推理，Skills</a:t>
            </a:r>
            <a:r>
              <a:rPr sz="1040" b="1" dirty="0">
                <a:solidFill>
                  <a:srgbClr val="C4141C"/>
                </a:solidFill>
                <a:latin typeface="Microsoft YaHei"/>
              </a:rPr>
              <a:t> </a:t>
            </a:r>
            <a:r>
              <a:rPr sz="1040" b="1" dirty="0" err="1">
                <a:solidFill>
                  <a:srgbClr val="C4141C"/>
                </a:solidFill>
                <a:latin typeface="Microsoft YaHei"/>
              </a:rPr>
              <a:t>给套路，MCP</a:t>
            </a:r>
            <a:r>
              <a:rPr sz="1040" b="1" dirty="0">
                <a:solidFill>
                  <a:srgbClr val="C4141C"/>
                </a:solidFill>
                <a:latin typeface="Microsoft YaHei"/>
              </a:rPr>
              <a:t> </a:t>
            </a:r>
            <a:r>
              <a:rPr sz="1040" b="1" dirty="0" err="1">
                <a:solidFill>
                  <a:srgbClr val="C4141C"/>
                </a:solidFill>
                <a:latin typeface="Microsoft YaHei"/>
              </a:rPr>
              <a:t>连接工具，最后由</a:t>
            </a:r>
            <a:r>
              <a:rPr sz="1040" b="1" dirty="0">
                <a:solidFill>
                  <a:srgbClr val="C4141C"/>
                </a:solidFill>
                <a:latin typeface="Microsoft YaHei"/>
              </a:rPr>
              <a:t> Human-in-the-loop </a:t>
            </a:r>
            <a:r>
              <a:rPr sz="1040" b="1" dirty="0" err="1">
                <a:solidFill>
                  <a:srgbClr val="C4141C"/>
                </a:solidFill>
                <a:latin typeface="Microsoft YaHei"/>
              </a:rPr>
              <a:t>把关</a:t>
            </a:r>
            <a:r>
              <a:rPr sz="1040" b="1" dirty="0">
                <a:solidFill>
                  <a:srgbClr val="C4141C"/>
                </a:solidFill>
                <a:latin typeface="Microsoft YaHei"/>
              </a:rPr>
              <a:t>。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2920" y="6455664"/>
            <a:ext cx="6126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C6471"/>
                </a:solidFill>
                <a:latin typeface="Microsoft YaHei"/>
              </a:rPr>
              <a:t>本次目标：带大家入门 AI 辅助研发，把工具真正用起来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842248" y="6455664"/>
            <a:ext cx="113385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80" b="0">
                <a:solidFill>
                  <a:srgbClr val="5C6471"/>
                </a:solidFill>
                <a:latin typeface="Microsoft YaHei"/>
              </a:rPr>
              <a:t>2026 年 5 月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104120" y="6464808"/>
            <a:ext cx="9144" cy="128016"/>
          </a:xfrm>
          <a:prstGeom prst="rect">
            <a:avLst/>
          </a:prstGeom>
          <a:solidFill>
            <a:srgbClr val="D7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0552176" y="6437376"/>
            <a:ext cx="75895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1">
                <a:solidFill>
                  <a:srgbClr val="1A202C"/>
                </a:solidFill>
                <a:latin typeface="Arial"/>
              </a:rPr>
              <a:t>HUAWEI</a:t>
            </a:r>
          </a:p>
        </p:txBody>
      </p:sp>
      <p:pic>
        <p:nvPicPr>
          <p:cNvPr id="72" name="Picture 83" descr="image.png">
            <a:extLst>
              <a:ext uri="{FF2B5EF4-FFF2-40B4-BE49-F238E27FC236}">
                <a16:creationId xmlns:a16="http://schemas.microsoft.com/office/drawing/2014/main" id="{4BB4C69C-F2C9-6D29-2E48-2D7C533C0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9568" y="6382512"/>
            <a:ext cx="266315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86384" y="1609344"/>
            <a:ext cx="1828800" cy="182880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878" b="1">
                <a:solidFill>
                  <a:srgbClr val="C4141C"/>
                </a:solidFill>
                <a:latin typeface="Microsoft YaHei"/>
              </a:rPr>
              <a:t>SECTION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04672" y="1901952"/>
            <a:ext cx="804672" cy="54864"/>
          </a:xfrm>
          <a:prstGeom prst="rect">
            <a:avLst/>
          </a:prstGeom>
          <a:solidFill>
            <a:srgbClr val="C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86384" y="2139696"/>
            <a:ext cx="6766560" cy="749808"/>
          </a:xfrm>
          <a:prstGeom prst="rect">
            <a:avLst/>
          </a:prstGeom>
          <a:noFill/>
        </p:spPr>
        <p:txBody>
          <a:bodyPr wrap="square" lIns="25603" tIns="25603" rIns="25603" bIns="25603" anchor="t">
            <a:normAutofit fontScale="85000" lnSpcReduction="10000"/>
          </a:bodyPr>
          <a:lstStyle/>
          <a:p>
            <a:pPr algn="l">
              <a:lnSpc>
                <a:spcPct val="107000"/>
              </a:lnSpc>
              <a:spcAft>
                <a:spcPts val="120"/>
              </a:spcAft>
            </a:pPr>
            <a:r>
              <a:rPr sz="3100" b="1">
                <a:solidFill>
                  <a:srgbClr val="1A202C"/>
                </a:solidFill>
                <a:latin typeface="Microsoft YaHei"/>
              </a:rPr>
              <a:t>第三部分｜OpenSpec：规格驱动需求开发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54096"/>
            <a:ext cx="7863840" cy="310896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1644" b="0">
                <a:solidFill>
                  <a:srgbClr val="5F6773"/>
                </a:solidFill>
                <a:latin typeface="Microsoft YaHei"/>
              </a:rPr>
              <a:t>从需求澄清、建立变更、实现验证，到最终归档沉淀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49640" y="2011680"/>
            <a:ext cx="411480" cy="164592"/>
          </a:xfrm>
          <a:prstGeom prst="round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549640" y="2606040"/>
            <a:ext cx="685800" cy="164592"/>
          </a:xfrm>
          <a:prstGeom prst="roundRect">
            <a:avLst/>
          </a:prstGeom>
          <a:solidFill>
            <a:srgbClr val="C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549640" y="3200400"/>
            <a:ext cx="1051560" cy="164592"/>
          </a:xfrm>
          <a:prstGeom prst="round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046720" y="4224528"/>
            <a:ext cx="2560320" cy="457200"/>
          </a:xfrm>
          <a:prstGeom prst="roundRect">
            <a:avLst/>
          </a:prstGeom>
          <a:solidFill>
            <a:srgbClr val="FFF4F4"/>
          </a:solidFill>
          <a:ln>
            <a:solidFill>
              <a:srgbClr val="EE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02752" y="4370832"/>
            <a:ext cx="2057400" cy="109728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 fontScale="92500" lnSpcReduction="20000"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638" b="1">
                <a:solidFill>
                  <a:srgbClr val="C4141C"/>
                </a:solidFill>
                <a:latin typeface="Microsoft YaHei"/>
              </a:rPr>
              <a:t>从知识到流程，从工具到方法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55664"/>
            <a:ext cx="61264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>
                <a:solidFill>
                  <a:srgbClr val="5C6471"/>
                </a:solidFill>
                <a:latin typeface="Microsoft YaHei"/>
              </a:rPr>
              <a:t>本次目标：带大家入门 AI 辅助研发，把工具真正用起来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42248" y="6455664"/>
            <a:ext cx="1133856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80">
                <a:solidFill>
                  <a:srgbClr val="5C6471"/>
                </a:solidFill>
                <a:latin typeface="Microsoft YaHei"/>
              </a:rPr>
              <a:t>2026 年 5 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104120" y="6464808"/>
            <a:ext cx="9144" cy="128016"/>
          </a:xfrm>
          <a:prstGeom prst="rect">
            <a:avLst/>
          </a:prstGeom>
          <a:solidFill>
            <a:srgbClr val="D7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9568" y="6382512"/>
            <a:ext cx="266315" cy="201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552176" y="6437376"/>
            <a:ext cx="758952" cy="1280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0" b="1">
                <a:solidFill>
                  <a:srgbClr val="1A202C"/>
                </a:solidFill>
                <a:latin typeface="Arial"/>
              </a:rPr>
              <a:t>HUAWEI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064" y="201168"/>
            <a:ext cx="11064240" cy="310896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1775" b="1">
                <a:solidFill>
                  <a:srgbClr val="1A202C"/>
                </a:solidFill>
                <a:latin typeface="Microsoft YaHei"/>
              </a:rPr>
              <a:t>为什么不能直接让 Agent 做需求开发？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585216"/>
            <a:ext cx="786384" cy="45720"/>
          </a:xfrm>
          <a:prstGeom prst="rect">
            <a:avLst/>
          </a:prstGeom>
          <a:solidFill>
            <a:srgbClr val="C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12064" y="676656"/>
            <a:ext cx="10972800" cy="219456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1018" b="0">
                <a:solidFill>
                  <a:srgbClr val="5F6773"/>
                </a:solidFill>
                <a:latin typeface="Microsoft YaHei"/>
              </a:rPr>
              <a:t>直接让 Agent “开写”很诱人，但真正的痛点通常不在“会不会写代码”，而在“需求有没有对齐、边界有没有说清、结果能不能验证”。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" y="950976"/>
            <a:ext cx="11137392" cy="310896"/>
          </a:xfrm>
          <a:prstGeom prst="roundRect">
            <a:avLst/>
          </a:prstGeom>
          <a:solidFill>
            <a:srgbClr val="FAFBFC"/>
          </a:solidFill>
          <a:ln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024128"/>
            <a:ext cx="10789920" cy="146304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688" b="1">
                <a:solidFill>
                  <a:srgbClr val="C4141C"/>
                </a:solidFill>
                <a:latin typeface="Microsoft YaHei"/>
              </a:rPr>
              <a:t>常见后果：写得很快，但方向跑偏；局部正确，但全局不对；代码能改出来，但不敢直接上线。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" y="1444752"/>
            <a:ext cx="541324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8" name="Oval 7"/>
          <p:cNvSpPr/>
          <p:nvPr/>
        </p:nvSpPr>
        <p:spPr>
          <a:xfrm>
            <a:off x="640080" y="1572768"/>
            <a:ext cx="384048" cy="384048"/>
          </a:xfrm>
          <a:prstGeom prst="ellipse">
            <a:avLst/>
          </a:prstGeom>
          <a:solidFill>
            <a:srgbClr val="FFF4F4"/>
          </a:solidFill>
          <a:ln>
            <a:solidFill>
              <a:srgbClr val="ECAC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" y="1659636"/>
            <a:ext cx="365760" cy="128016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 fontScale="92500" lnSpcReduction="20000"/>
          </a:bodyPr>
          <a:lstStyle/>
          <a:p>
            <a:pPr algn="ctr">
              <a:lnSpc>
                <a:spcPct val="102000"/>
              </a:lnSpc>
              <a:spcAft>
                <a:spcPts val="40"/>
              </a:spcAft>
            </a:pPr>
            <a:r>
              <a:rPr sz="756" b="1">
                <a:solidFill>
                  <a:srgbClr val="C4141C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572768"/>
            <a:ext cx="4700016" cy="201168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979" b="1">
                <a:solidFill>
                  <a:srgbClr val="1A202C"/>
                </a:solidFill>
                <a:latin typeface="Microsoft YaHei"/>
              </a:rPr>
              <a:t>需求太模糊，Agent 只能靠“猜”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011680"/>
            <a:ext cx="5138928" cy="640080"/>
          </a:xfrm>
          <a:prstGeom prst="rect">
            <a:avLst/>
          </a:prstGeom>
          <a:noFill/>
        </p:spPr>
        <p:txBody>
          <a:bodyPr wrap="square" lIns="25603" tIns="25603" rIns="25603" bIns="25603" anchor="t">
            <a:normAutofit lnSpcReduction="10000"/>
          </a:bodyPr>
          <a:lstStyle/>
          <a:p>
            <a:pPr algn="l">
              <a:lnSpc>
                <a:spcPct val="107000"/>
              </a:lnSpc>
              <a:spcAft>
                <a:spcPts val="120"/>
              </a:spcAft>
            </a:pPr>
            <a:r>
              <a:rPr sz="925">
                <a:solidFill>
                  <a:srgbClr val="5F6773"/>
                </a:solidFill>
                <a:latin typeface="Microsoft YaHei"/>
              </a:rPr>
              <a:t>很多需求表面上像一句话就能说清，实际上缺少目标、约束和交付件。Agent 一旦缺信息，就会自动补全空白，而“猜得像”不等于“做得对”。</a:t>
            </a:r>
          </a:p>
          <a:p>
            <a:pPr algn="l">
              <a:lnSpc>
                <a:spcPct val="107000"/>
              </a:lnSpc>
              <a:spcAft>
                <a:spcPts val="120"/>
              </a:spcAft>
            </a:pPr>
            <a:r>
              <a:rPr sz="925">
                <a:solidFill>
                  <a:srgbClr val="C4141C"/>
                </a:solidFill>
                <a:latin typeface="Microsoft YaHei"/>
              </a:rPr>
              <a:t>例子：“帮我优化一下用户列表接口。”——到底是加分页、加筛选、提升性能，还是要调整返回字段？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1444752"/>
            <a:ext cx="541324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13" name="Oval 12"/>
          <p:cNvSpPr/>
          <p:nvPr/>
        </p:nvSpPr>
        <p:spPr>
          <a:xfrm>
            <a:off x="6382512" y="1572768"/>
            <a:ext cx="384048" cy="384048"/>
          </a:xfrm>
          <a:prstGeom prst="ellipse">
            <a:avLst/>
          </a:prstGeom>
          <a:solidFill>
            <a:srgbClr val="FFF4F4"/>
          </a:solidFill>
          <a:ln>
            <a:solidFill>
              <a:srgbClr val="ECAC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91656" y="1659636"/>
            <a:ext cx="365760" cy="128016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 fontScale="92500" lnSpcReduction="20000"/>
          </a:bodyPr>
          <a:lstStyle/>
          <a:p>
            <a:pPr algn="ctr">
              <a:lnSpc>
                <a:spcPct val="102000"/>
              </a:lnSpc>
              <a:spcAft>
                <a:spcPts val="40"/>
              </a:spcAft>
            </a:pPr>
            <a:r>
              <a:rPr sz="756" b="1">
                <a:solidFill>
                  <a:srgbClr val="C4141C"/>
                </a:solidFill>
                <a:latin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9712" y="1572768"/>
            <a:ext cx="4700016" cy="201168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979" b="1">
                <a:solidFill>
                  <a:srgbClr val="1A202C"/>
                </a:solidFill>
                <a:latin typeface="Microsoft YaHei"/>
              </a:rPr>
              <a:t>范围边界不清，最容易越改越多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011680"/>
            <a:ext cx="5138928" cy="640080"/>
          </a:xfrm>
          <a:prstGeom prst="rect">
            <a:avLst/>
          </a:prstGeom>
          <a:noFill/>
        </p:spPr>
        <p:txBody>
          <a:bodyPr wrap="square" lIns="25603" tIns="25603" rIns="25603" bIns="25603" anchor="t">
            <a:normAutofit lnSpcReduction="10000"/>
          </a:bodyPr>
          <a:lstStyle/>
          <a:p>
            <a:pPr algn="l">
              <a:lnSpc>
                <a:spcPct val="107000"/>
              </a:lnSpc>
              <a:spcAft>
                <a:spcPts val="120"/>
              </a:spcAft>
            </a:pPr>
            <a:r>
              <a:rPr sz="925">
                <a:solidFill>
                  <a:srgbClr val="5F6773"/>
                </a:solidFill>
                <a:latin typeface="Microsoft YaHei"/>
              </a:rPr>
              <a:t>人类开发者会下意识追问“这次改到哪儿为止”，但 Agent 如果没有明确边界，往往会把自己认为相关的内容一并改掉，造成需求蔓延。</a:t>
            </a:r>
          </a:p>
          <a:p>
            <a:pPr algn="l">
              <a:lnSpc>
                <a:spcPct val="107000"/>
              </a:lnSpc>
              <a:spcAft>
                <a:spcPts val="120"/>
              </a:spcAft>
            </a:pPr>
            <a:r>
              <a:rPr sz="925">
                <a:solidFill>
                  <a:srgbClr val="C4141C"/>
                </a:solidFill>
                <a:latin typeface="Microsoft YaHei"/>
              </a:rPr>
              <a:t>例子：你只想“给列表接口加分页”，Agent 可能顺手改了 DTO、导出接口、前端字段、甚至接口文档。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" y="2871216"/>
            <a:ext cx="541324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18" name="Oval 17"/>
          <p:cNvSpPr/>
          <p:nvPr/>
        </p:nvSpPr>
        <p:spPr>
          <a:xfrm>
            <a:off x="640080" y="2999232"/>
            <a:ext cx="384048" cy="384048"/>
          </a:xfrm>
          <a:prstGeom prst="ellipse">
            <a:avLst/>
          </a:prstGeom>
          <a:solidFill>
            <a:srgbClr val="FFF4F4"/>
          </a:solidFill>
          <a:ln>
            <a:solidFill>
              <a:srgbClr val="ECAC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" y="3086100"/>
            <a:ext cx="365760" cy="128016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 fontScale="92500" lnSpcReduction="20000"/>
          </a:bodyPr>
          <a:lstStyle/>
          <a:p>
            <a:pPr algn="ctr">
              <a:lnSpc>
                <a:spcPct val="102000"/>
              </a:lnSpc>
              <a:spcAft>
                <a:spcPts val="40"/>
              </a:spcAft>
            </a:pPr>
            <a:r>
              <a:rPr sz="756" b="1">
                <a:solidFill>
                  <a:srgbClr val="C4141C"/>
                </a:solidFill>
                <a:latin typeface="Microsoft YaHe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2999232"/>
            <a:ext cx="4700016" cy="201168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979" b="1">
                <a:solidFill>
                  <a:srgbClr val="1A202C"/>
                </a:solidFill>
                <a:latin typeface="Microsoft YaHei"/>
              </a:rPr>
              <a:t>隐性业务规则没有写出来，最容易犯“看似合理”的错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3438144"/>
            <a:ext cx="5138928" cy="640080"/>
          </a:xfrm>
          <a:prstGeom prst="rect">
            <a:avLst/>
          </a:prstGeom>
          <a:noFill/>
        </p:spPr>
        <p:txBody>
          <a:bodyPr wrap="square" lIns="25603" tIns="25603" rIns="25603" bIns="25603" anchor="t">
            <a:normAutofit lnSpcReduction="10000"/>
          </a:bodyPr>
          <a:lstStyle/>
          <a:p>
            <a:pPr algn="l">
              <a:lnSpc>
                <a:spcPct val="107000"/>
              </a:lnSpc>
              <a:spcAft>
                <a:spcPts val="120"/>
              </a:spcAft>
            </a:pPr>
            <a:r>
              <a:rPr sz="925">
                <a:solidFill>
                  <a:srgbClr val="5F6773"/>
                </a:solidFill>
                <a:latin typeface="Microsoft YaHei"/>
              </a:rPr>
              <a:t>业务系统里真正难的，往往不是写一个分页，而是那些写在脑子里、没写在需求里的规则：租户隔离、权限判断、状态流转、历史兼容。</a:t>
            </a:r>
          </a:p>
          <a:p>
            <a:pPr algn="l">
              <a:lnSpc>
                <a:spcPct val="107000"/>
              </a:lnSpc>
              <a:spcAft>
                <a:spcPts val="120"/>
              </a:spcAft>
            </a:pPr>
            <a:r>
              <a:rPr sz="925">
                <a:solidFill>
                  <a:srgbClr val="C4141C"/>
                </a:solidFill>
                <a:latin typeface="Microsoft YaHei"/>
              </a:rPr>
              <a:t>例子：用户列表默认只能看本部门数据；Agent 如果不知道这条隐规则，就可能把跨部门数据也查出来。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4496" y="2871216"/>
            <a:ext cx="541324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23" name="Oval 22"/>
          <p:cNvSpPr/>
          <p:nvPr/>
        </p:nvSpPr>
        <p:spPr>
          <a:xfrm>
            <a:off x="6382512" y="2999232"/>
            <a:ext cx="384048" cy="384048"/>
          </a:xfrm>
          <a:prstGeom prst="ellipse">
            <a:avLst/>
          </a:prstGeom>
          <a:solidFill>
            <a:srgbClr val="FFF4F4"/>
          </a:solidFill>
          <a:ln>
            <a:solidFill>
              <a:srgbClr val="ECAC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91656" y="3086100"/>
            <a:ext cx="365760" cy="128016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 fontScale="92500" lnSpcReduction="20000"/>
          </a:bodyPr>
          <a:lstStyle/>
          <a:p>
            <a:pPr algn="ctr">
              <a:lnSpc>
                <a:spcPct val="102000"/>
              </a:lnSpc>
              <a:spcAft>
                <a:spcPts val="40"/>
              </a:spcAft>
            </a:pPr>
            <a:r>
              <a:rPr sz="756" b="1">
                <a:solidFill>
                  <a:srgbClr val="C4141C"/>
                </a:solidFill>
                <a:latin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39712" y="2999232"/>
            <a:ext cx="4700016" cy="201168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979" b="1">
                <a:solidFill>
                  <a:srgbClr val="1A202C"/>
                </a:solidFill>
                <a:latin typeface="Microsoft YaHei"/>
              </a:rPr>
              <a:t>验收标准缺失，Agent 不知道“什么叫完成”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438144"/>
            <a:ext cx="5138928" cy="640080"/>
          </a:xfrm>
          <a:prstGeom prst="rect">
            <a:avLst/>
          </a:prstGeom>
          <a:noFill/>
        </p:spPr>
        <p:txBody>
          <a:bodyPr wrap="square" lIns="25603" tIns="25603" rIns="25603" bIns="25603" anchor="t">
            <a:normAutofit lnSpcReduction="10000"/>
          </a:bodyPr>
          <a:lstStyle/>
          <a:p>
            <a:pPr algn="l">
              <a:lnSpc>
                <a:spcPct val="107000"/>
              </a:lnSpc>
              <a:spcAft>
                <a:spcPts val="120"/>
              </a:spcAft>
            </a:pPr>
            <a:r>
              <a:rPr sz="925">
                <a:solidFill>
                  <a:srgbClr val="5F6773"/>
                </a:solidFill>
                <a:latin typeface="Microsoft YaHei"/>
              </a:rPr>
              <a:t>如果没有清晰的完成定义，Agent 很可能在“代码能跑”时就宣布结束，但团队真正关心的可能是：测试补齐了吗？兼容老调用了吗？性能有没有退化？</a:t>
            </a:r>
          </a:p>
          <a:p>
            <a:pPr algn="l">
              <a:lnSpc>
                <a:spcPct val="107000"/>
              </a:lnSpc>
              <a:spcAft>
                <a:spcPts val="120"/>
              </a:spcAft>
            </a:pPr>
            <a:r>
              <a:rPr sz="925">
                <a:solidFill>
                  <a:srgbClr val="C4141C"/>
                </a:solidFill>
                <a:latin typeface="Microsoft YaHei"/>
              </a:rPr>
              <a:t>例子：需求说“补个能力”，但没说是否要补单测、是否要更新文档、是否要求接口耗时不明显上升。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2064" y="4297680"/>
            <a:ext cx="541324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28" name="Oval 27"/>
          <p:cNvSpPr/>
          <p:nvPr/>
        </p:nvSpPr>
        <p:spPr>
          <a:xfrm>
            <a:off x="640080" y="4425696"/>
            <a:ext cx="384048" cy="384048"/>
          </a:xfrm>
          <a:prstGeom prst="ellipse">
            <a:avLst/>
          </a:prstGeom>
          <a:solidFill>
            <a:srgbClr val="FFF4F4"/>
          </a:solidFill>
          <a:ln>
            <a:solidFill>
              <a:srgbClr val="ECAC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224" y="4512564"/>
            <a:ext cx="365760" cy="128016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 fontScale="92500" lnSpcReduction="20000"/>
          </a:bodyPr>
          <a:lstStyle/>
          <a:p>
            <a:pPr algn="ctr">
              <a:lnSpc>
                <a:spcPct val="102000"/>
              </a:lnSpc>
              <a:spcAft>
                <a:spcPts val="40"/>
              </a:spcAft>
            </a:pPr>
            <a:r>
              <a:rPr sz="756" b="1">
                <a:solidFill>
                  <a:srgbClr val="C4141C"/>
                </a:solidFill>
                <a:latin typeface="Microsoft YaHe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425696"/>
            <a:ext cx="4700016" cy="201168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979" b="1">
                <a:solidFill>
                  <a:srgbClr val="1A202C"/>
                </a:solidFill>
                <a:latin typeface="Microsoft YaHei"/>
              </a:rPr>
              <a:t>高风险决策不适合让 Agent 自己拍板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4864608"/>
            <a:ext cx="5138928" cy="640080"/>
          </a:xfrm>
          <a:prstGeom prst="rect">
            <a:avLst/>
          </a:prstGeom>
          <a:noFill/>
        </p:spPr>
        <p:txBody>
          <a:bodyPr wrap="square" lIns="25603" tIns="25603" rIns="25603" bIns="25603" anchor="t">
            <a:normAutofit lnSpcReduction="10000"/>
          </a:bodyPr>
          <a:lstStyle/>
          <a:p>
            <a:pPr algn="l">
              <a:lnSpc>
                <a:spcPct val="107000"/>
              </a:lnSpc>
              <a:spcAft>
                <a:spcPts val="120"/>
              </a:spcAft>
            </a:pPr>
            <a:r>
              <a:rPr sz="925">
                <a:solidFill>
                  <a:srgbClr val="5F6773"/>
                </a:solidFill>
                <a:latin typeface="Microsoft YaHei"/>
              </a:rPr>
              <a:t>涉及数据库结构、权限模型、事务边界、消息幂等、支付与生产配置时，问题已不只是“写代码”，而是“做决策”。这类决策需要人类承担责任。</a:t>
            </a:r>
          </a:p>
          <a:p>
            <a:pPr algn="l">
              <a:lnSpc>
                <a:spcPct val="107000"/>
              </a:lnSpc>
              <a:spcAft>
                <a:spcPts val="120"/>
              </a:spcAft>
            </a:pPr>
            <a:r>
              <a:rPr sz="925">
                <a:solidFill>
                  <a:srgbClr val="C4141C"/>
                </a:solidFill>
                <a:latin typeface="Microsoft YaHei"/>
              </a:rPr>
              <a:t>例子：为了支持分页，Agent 直接建议改表结构或调整索引；技术上未必错，但是否值得做、影响多大，不应由它单独决定。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54496" y="4297680"/>
            <a:ext cx="541324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33" name="Oval 32"/>
          <p:cNvSpPr/>
          <p:nvPr/>
        </p:nvSpPr>
        <p:spPr>
          <a:xfrm>
            <a:off x="6382512" y="4425696"/>
            <a:ext cx="384048" cy="384048"/>
          </a:xfrm>
          <a:prstGeom prst="ellipse">
            <a:avLst/>
          </a:prstGeom>
          <a:solidFill>
            <a:srgbClr val="FFF4F4"/>
          </a:solidFill>
          <a:ln>
            <a:solidFill>
              <a:srgbClr val="ECAC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91656" y="4512564"/>
            <a:ext cx="365760" cy="128016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 fontScale="92500" lnSpcReduction="20000"/>
          </a:bodyPr>
          <a:lstStyle/>
          <a:p>
            <a:pPr algn="ctr">
              <a:lnSpc>
                <a:spcPct val="102000"/>
              </a:lnSpc>
              <a:spcAft>
                <a:spcPts val="40"/>
              </a:spcAft>
            </a:pPr>
            <a:r>
              <a:rPr sz="756" b="1">
                <a:solidFill>
                  <a:srgbClr val="C4141C"/>
                </a:solidFill>
                <a:latin typeface="Microsoft YaHe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9712" y="4425696"/>
            <a:ext cx="4700016" cy="201168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979" b="1">
                <a:solidFill>
                  <a:srgbClr val="1A202C"/>
                </a:solidFill>
                <a:latin typeface="Microsoft YaHei"/>
              </a:rPr>
              <a:t>缺少规格说明时，协作会失真、复用也很差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864608"/>
            <a:ext cx="5138928" cy="640080"/>
          </a:xfrm>
          <a:prstGeom prst="rect">
            <a:avLst/>
          </a:prstGeom>
          <a:noFill/>
        </p:spPr>
        <p:txBody>
          <a:bodyPr wrap="square" lIns="25603" tIns="25603" rIns="25603" bIns="25603" anchor="t">
            <a:normAutofit lnSpcReduction="10000"/>
          </a:bodyPr>
          <a:lstStyle/>
          <a:p>
            <a:pPr algn="l">
              <a:lnSpc>
                <a:spcPct val="107000"/>
              </a:lnSpc>
              <a:spcAft>
                <a:spcPts val="120"/>
              </a:spcAft>
            </a:pPr>
            <a:r>
              <a:rPr sz="925">
                <a:solidFill>
                  <a:srgbClr val="5F6773"/>
                </a:solidFill>
                <a:latin typeface="Microsoft YaHei"/>
              </a:rPr>
              <a:t>今天让 Agent 改出来了，明天换一个人、换一个模型，可能又从头再猜一遍。没有需求规格，团队难以复盘，也难以让后续实现保持一致。</a:t>
            </a:r>
          </a:p>
          <a:p>
            <a:pPr algn="l">
              <a:lnSpc>
                <a:spcPct val="107000"/>
              </a:lnSpc>
              <a:spcAft>
                <a:spcPts val="120"/>
              </a:spcAft>
            </a:pPr>
            <a:r>
              <a:rPr sz="925">
                <a:solidFill>
                  <a:srgbClr val="C4141C"/>
                </a:solidFill>
                <a:latin typeface="Microsoft YaHei"/>
              </a:rPr>
              <a:t>例子：同一句“支持分页”，A 让 Agent 返回 page/pageSize，B 让 Agent 返回 offset/limit，最后接口风格不统一。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12064" y="5797296"/>
            <a:ext cx="11137392" cy="384048"/>
          </a:xfrm>
          <a:prstGeom prst="roundRect">
            <a:avLst/>
          </a:prstGeom>
          <a:solidFill>
            <a:srgbClr val="FFF9EE"/>
          </a:solidFill>
          <a:ln>
            <a:solidFill>
              <a:srgbClr val="F0D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13232" y="5870448"/>
            <a:ext cx="10698480" cy="164592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732" b="1">
                <a:solidFill>
                  <a:srgbClr val="C4141C"/>
                </a:solidFill>
                <a:latin typeface="Microsoft YaHei"/>
              </a:rPr>
              <a:t>结论：直接 Prompt ≠ 完整需求。真正需要补上的，是“范围、规则、验收标准、风险边界”——这正是后面要引出的 OpenSpec 的价值。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576072"/>
            <a:ext cx="384048" cy="32004"/>
          </a:xfrm>
          <a:prstGeom prst="rect">
            <a:avLst/>
          </a:prstGeom>
          <a:solidFill>
            <a:srgbClr val="C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02920" y="6455664"/>
            <a:ext cx="61264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>
                <a:solidFill>
                  <a:srgbClr val="5C6471"/>
                </a:solidFill>
                <a:latin typeface="Microsoft YaHei"/>
              </a:rPr>
              <a:t>本次目标：带大家入门 AI 辅助研发，把工具真正用起来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42248" y="6455664"/>
            <a:ext cx="1133856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80">
                <a:solidFill>
                  <a:srgbClr val="5C6471"/>
                </a:solidFill>
                <a:latin typeface="Microsoft YaHei"/>
              </a:rPr>
              <a:t>2026 年 5 月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104120" y="6464808"/>
            <a:ext cx="9144" cy="128016"/>
          </a:xfrm>
          <a:prstGeom prst="rect">
            <a:avLst/>
          </a:prstGeom>
          <a:solidFill>
            <a:srgbClr val="D7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9568" y="6382512"/>
            <a:ext cx="266315" cy="201168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0552176" y="6437376"/>
            <a:ext cx="758952" cy="1280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0" b="1">
                <a:solidFill>
                  <a:srgbClr val="1A202C"/>
                </a:solidFill>
                <a:latin typeface="Arial"/>
              </a:rPr>
              <a:t>HUAWEI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064" y="182880"/>
            <a:ext cx="11064240" cy="310896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1775" b="1">
                <a:solidFill>
                  <a:srgbClr val="1A202C"/>
                </a:solidFill>
                <a:latin typeface="Microsoft YaHei"/>
              </a:rPr>
              <a:t>OpenSpec 是什么：把需求变成 Agent 可执行的规格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566928"/>
            <a:ext cx="749808" cy="45720"/>
          </a:xfrm>
          <a:prstGeom prst="rect">
            <a:avLst/>
          </a:prstGeom>
          <a:solidFill>
            <a:srgbClr val="C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12064" y="658368"/>
            <a:ext cx="11064240" cy="201168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923" b="0">
                <a:solidFill>
                  <a:srgbClr val="5F6773"/>
                </a:solidFill>
                <a:latin typeface="Microsoft YaHei"/>
              </a:rPr>
              <a:t>OpenSpec 是面向 AI Coding Assistant 的轻量级 Spec-driven Development 框架：先对齐“要构建什么”，再让 Agent 去实现。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" y="987552"/>
            <a:ext cx="3611880" cy="2066543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115568"/>
            <a:ext cx="3246120" cy="182880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881" b="1">
                <a:solidFill>
                  <a:srgbClr val="1A202C"/>
                </a:solidFill>
                <a:latin typeface="Microsoft YaHei"/>
              </a:rPr>
              <a:t>它解决什么问题？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435608"/>
            <a:ext cx="3108960" cy="1234440"/>
          </a:xfrm>
          <a:prstGeom prst="rect">
            <a:avLst/>
          </a:prstGeom>
          <a:noFill/>
        </p:spPr>
        <p:txBody>
          <a:bodyPr wrap="square" lIns="25603" tIns="25603" rIns="25603" bIns="25603" anchor="t">
            <a:normAutofit/>
          </a:bodyPr>
          <a:lstStyle/>
          <a:p>
            <a:pPr algn="l">
              <a:lnSpc>
                <a:spcPct val="107000"/>
              </a:lnSpc>
              <a:spcAft>
                <a:spcPts val="120"/>
              </a:spcAft>
            </a:pPr>
            <a:r>
              <a:rPr sz="950" b="0">
                <a:solidFill>
                  <a:srgbClr val="5F6773"/>
                </a:solidFill>
                <a:latin typeface="Microsoft YaHei"/>
              </a:rPr>
              <a:t>直接对 Agent 说“帮我实现需求”，容易出现：</a:t>
            </a:r>
          </a:p>
          <a:p>
            <a:pPr algn="l">
              <a:lnSpc>
                <a:spcPct val="107000"/>
              </a:lnSpc>
              <a:spcAft>
                <a:spcPts val="120"/>
              </a:spcAft>
            </a:pPr>
            <a:r>
              <a:rPr sz="925" b="0">
                <a:solidFill>
                  <a:srgbClr val="5F6773"/>
                </a:solidFill>
                <a:latin typeface="Microsoft YaHei"/>
              </a:rPr>
              <a:t>• 需求只在聊天里，换会话就丢</a:t>
            </a:r>
          </a:p>
          <a:p>
            <a:pPr algn="l">
              <a:lnSpc>
                <a:spcPct val="107000"/>
              </a:lnSpc>
              <a:spcAft>
                <a:spcPts val="120"/>
              </a:spcAft>
            </a:pPr>
            <a:r>
              <a:rPr sz="925" b="0">
                <a:solidFill>
                  <a:srgbClr val="5F6773"/>
                </a:solidFill>
                <a:latin typeface="Microsoft YaHei"/>
              </a:rPr>
              <a:t>• Agent 自行脑补边界和验收标准</a:t>
            </a:r>
          </a:p>
          <a:p>
            <a:pPr algn="l">
              <a:lnSpc>
                <a:spcPct val="107000"/>
              </a:lnSpc>
              <a:spcAft>
                <a:spcPts val="120"/>
              </a:spcAft>
            </a:pPr>
            <a:r>
              <a:rPr sz="925" b="0">
                <a:solidFill>
                  <a:srgbClr val="5F6773"/>
                </a:solidFill>
                <a:latin typeface="Microsoft YaHei"/>
              </a:rPr>
              <a:t>• Review 只能看代码，看不到意图</a:t>
            </a:r>
          </a:p>
          <a:p>
            <a:pPr algn="l">
              <a:lnSpc>
                <a:spcPct val="107000"/>
              </a:lnSpc>
              <a:spcAft>
                <a:spcPts val="120"/>
              </a:spcAft>
            </a:pPr>
            <a:r>
              <a:rPr sz="925" b="0">
                <a:solidFill>
                  <a:srgbClr val="5F6773"/>
                </a:solidFill>
                <a:latin typeface="Microsoft YaHei"/>
              </a:rPr>
              <a:t>• 需求、设计、任务、实现难以追溯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551176"/>
            <a:ext cx="3090672" cy="310896"/>
          </a:xfrm>
          <a:prstGeom prst="roundRect">
            <a:avLst/>
          </a:prstGeom>
          <a:solidFill>
            <a:srgbClr val="FFF4F4"/>
          </a:solidFill>
          <a:ln>
            <a:solidFill>
              <a:srgbClr val="EE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2633472"/>
            <a:ext cx="2834640" cy="109728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 fontScale="92500" lnSpcReduction="20000"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669" b="1">
                <a:solidFill>
                  <a:srgbClr val="C4141C"/>
                </a:solidFill>
                <a:latin typeface="Microsoft YaHei"/>
              </a:rPr>
              <a:t>核心：先 Agree，再 Build。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987552"/>
            <a:ext cx="3566160" cy="206654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17136" y="1115568"/>
            <a:ext cx="3200400" cy="182880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881" b="1">
                <a:solidFill>
                  <a:srgbClr val="1A202C"/>
                </a:solidFill>
                <a:latin typeface="Microsoft YaHei"/>
              </a:rPr>
              <a:t>OpenSpec 的 Skill 是什么？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7136" y="1417320"/>
            <a:ext cx="3154680" cy="1207008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925" b="0">
                <a:solidFill>
                  <a:srgbClr val="5F6773"/>
                </a:solidFill>
                <a:latin typeface="Microsoft YaHei"/>
              </a:rPr>
              <a:t>它不是替代 opencode / Cursor / Claude Code 的新 Agent，</a:t>
            </a:r>
          </a:p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925" b="0">
                <a:solidFill>
                  <a:srgbClr val="5F6773"/>
                </a:solidFill>
                <a:latin typeface="Microsoft YaHei"/>
              </a:rPr>
              <a:t>而是把一套“规格驱动开发流程”注入到已有 AI 工具中：</a:t>
            </a:r>
          </a:p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925" b="0">
                <a:solidFill>
                  <a:srgbClr val="5F6773"/>
                </a:solidFill>
                <a:latin typeface="Microsoft YaHei"/>
              </a:rPr>
              <a:t>• Slash Commands：如 /opsx:propose、/opsx:apply、/opsx:archive</a:t>
            </a:r>
          </a:p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925" b="0">
                <a:solidFill>
                  <a:srgbClr val="5F6773"/>
                </a:solidFill>
                <a:latin typeface="Microsoft YaHei"/>
              </a:rPr>
              <a:t>• Skills / Instructions：告诉 AI 如何生成 proposal、spec、design、tasks</a:t>
            </a:r>
          </a:p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925" b="0">
                <a:solidFill>
                  <a:srgbClr val="5F6773"/>
                </a:solidFill>
                <a:latin typeface="Microsoft YaHei"/>
              </a:rPr>
              <a:t>• Project Context：把规格文件放进仓库，成为持久上下文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17136" y="2596896"/>
            <a:ext cx="3145536" cy="292608"/>
          </a:xfrm>
          <a:prstGeom prst="roundRect">
            <a:avLst/>
          </a:prstGeom>
          <a:solidFill>
            <a:srgbClr val="232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54296" y="2670048"/>
            <a:ext cx="2871216" cy="100584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 fontScale="85000" lnSpcReduction="20000"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620" b="0">
                <a:solidFill>
                  <a:srgbClr val="FFFFFF"/>
                </a:solidFill>
                <a:latin typeface="Microsoft YaHei"/>
              </a:rPr>
              <a:t>/opsx:propose 给用户列表接口增加分页能力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987552"/>
            <a:ext cx="3566160" cy="2066543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84464" y="1115568"/>
            <a:ext cx="3182112" cy="182880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881" b="1">
                <a:solidFill>
                  <a:srgbClr val="1A202C"/>
                </a:solidFill>
                <a:latin typeface="Microsoft YaHei"/>
              </a:rPr>
              <a:t>OpenSpec 放在哪里？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1417320"/>
            <a:ext cx="3127248" cy="1133856"/>
          </a:xfrm>
          <a:prstGeom prst="rect">
            <a:avLst/>
          </a:prstGeom>
          <a:noFill/>
        </p:spPr>
        <p:txBody>
          <a:bodyPr wrap="square" lIns="25603" tIns="25603" rIns="25603" bIns="25603" anchor="t">
            <a:normAutofit/>
          </a:bodyPr>
          <a:lstStyle/>
          <a:p>
            <a:pPr algn="l">
              <a:lnSpc>
                <a:spcPct val="107000"/>
              </a:lnSpc>
              <a:spcAft>
                <a:spcPts val="120"/>
              </a:spcAft>
            </a:pPr>
            <a:r>
              <a:rPr sz="930" b="0">
                <a:solidFill>
                  <a:srgbClr val="5F6773"/>
                </a:solidFill>
                <a:latin typeface="Microsoft YaHei"/>
              </a:rPr>
              <a:t>规格文件和代码一起放在仓库中，成为团队共享的“需求事实源”。</a:t>
            </a:r>
          </a:p>
          <a:p>
            <a:pPr algn="l">
              <a:lnSpc>
                <a:spcPct val="107000"/>
              </a:lnSpc>
              <a:spcAft>
                <a:spcPts val="120"/>
              </a:spcAft>
            </a:pPr>
            <a:r>
              <a:rPr sz="925" b="1">
                <a:solidFill>
                  <a:srgbClr val="C4141C"/>
                </a:solidFill>
                <a:latin typeface="Microsoft YaHei"/>
              </a:rPr>
              <a:t>openspec/</a:t>
            </a:r>
          </a:p>
          <a:p>
            <a:pPr algn="l">
              <a:lnSpc>
                <a:spcPct val="107000"/>
              </a:lnSpc>
              <a:spcAft>
                <a:spcPts val="120"/>
              </a:spcAft>
            </a:pPr>
            <a:r>
              <a:rPr sz="880" b="0">
                <a:solidFill>
                  <a:srgbClr val="5F6773"/>
                </a:solidFill>
                <a:latin typeface="Microsoft YaHei"/>
              </a:rPr>
              <a:t>├─ specs/        当前系统能力的长期规格</a:t>
            </a:r>
          </a:p>
          <a:p>
            <a:pPr algn="l">
              <a:lnSpc>
                <a:spcPct val="107000"/>
              </a:lnSpc>
              <a:spcAft>
                <a:spcPts val="120"/>
              </a:spcAft>
            </a:pPr>
            <a:r>
              <a:rPr sz="880" b="0">
                <a:solidFill>
                  <a:srgbClr val="5F6773"/>
                </a:solidFill>
                <a:latin typeface="Microsoft YaHei"/>
              </a:rPr>
              <a:t>├─ changes/      正在进行的变更</a:t>
            </a:r>
          </a:p>
          <a:p>
            <a:pPr algn="l">
              <a:lnSpc>
                <a:spcPct val="107000"/>
              </a:lnSpc>
              <a:spcAft>
                <a:spcPts val="120"/>
              </a:spcAft>
            </a:pPr>
            <a:r>
              <a:rPr sz="880" b="0">
                <a:solidFill>
                  <a:srgbClr val="5F6773"/>
                </a:solidFill>
                <a:latin typeface="Microsoft YaHei"/>
              </a:rPr>
              <a:t>│  └─ add-pagination/</a:t>
            </a:r>
          </a:p>
          <a:p>
            <a:pPr algn="l">
              <a:lnSpc>
                <a:spcPct val="107000"/>
              </a:lnSpc>
              <a:spcAft>
                <a:spcPts val="120"/>
              </a:spcAft>
            </a:pPr>
            <a:r>
              <a:rPr sz="880" b="0">
                <a:solidFill>
                  <a:srgbClr val="5F6773"/>
                </a:solidFill>
                <a:latin typeface="Microsoft YaHei"/>
              </a:rPr>
              <a:t>└─ changes/archive/  已完成变更的历史记录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2660904"/>
            <a:ext cx="3154680" cy="164592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700" b="1">
                <a:solidFill>
                  <a:srgbClr val="C4141C"/>
                </a:solidFill>
                <a:latin typeface="Microsoft YaHei"/>
              </a:rPr>
              <a:t>好处：需求不会随聊天窗口消失。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" y="3246120"/>
            <a:ext cx="11064240" cy="164592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 fontScale="92500" lnSpcReduction="10000"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942" b="1">
                <a:solidFill>
                  <a:srgbClr val="1A202C"/>
                </a:solidFill>
                <a:latin typeface="Microsoft YaHei"/>
              </a:rPr>
              <a:t>四个核心文档：从“为什么做”到“如何实现”</a:t>
            </a:r>
          </a:p>
        </p:txBody>
      </p:sp>
      <p:sp>
        <p:nvSpPr>
          <p:cNvPr id="20" name="Chevron 19"/>
          <p:cNvSpPr/>
          <p:nvPr/>
        </p:nvSpPr>
        <p:spPr>
          <a:xfrm>
            <a:off x="3127248" y="3950208"/>
            <a:ext cx="219456" cy="164592"/>
          </a:xfrm>
          <a:prstGeom prst="chevron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21" name="Chevron 20"/>
          <p:cNvSpPr/>
          <p:nvPr/>
        </p:nvSpPr>
        <p:spPr>
          <a:xfrm>
            <a:off x="5961888" y="3950208"/>
            <a:ext cx="219456" cy="164592"/>
          </a:xfrm>
          <a:prstGeom prst="chevron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22" name="Chevron 21"/>
          <p:cNvSpPr/>
          <p:nvPr/>
        </p:nvSpPr>
        <p:spPr>
          <a:xfrm>
            <a:off x="8778240" y="3950208"/>
            <a:ext cx="219456" cy="164592"/>
          </a:xfrm>
          <a:prstGeom prst="chevron">
            <a:avLst/>
          </a:prstGeom>
          <a:solidFill>
            <a:srgbClr val="E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12064" y="3538728"/>
            <a:ext cx="2487168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24" name="Oval 23"/>
          <p:cNvSpPr/>
          <p:nvPr/>
        </p:nvSpPr>
        <p:spPr>
          <a:xfrm>
            <a:off x="630936" y="3666744"/>
            <a:ext cx="310896" cy="310896"/>
          </a:xfrm>
          <a:prstGeom prst="ellipse">
            <a:avLst/>
          </a:prstGeom>
          <a:solidFill>
            <a:srgbClr val="FFF4F4"/>
          </a:solidFill>
          <a:ln>
            <a:solidFill>
              <a:srgbClr val="ECAC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9224" y="3735324"/>
            <a:ext cx="274320" cy="109728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 fontScale="92500" lnSpcReduction="20000"/>
          </a:bodyPr>
          <a:lstStyle/>
          <a:p>
            <a:pPr algn="ctr">
              <a:lnSpc>
                <a:spcPct val="102000"/>
              </a:lnSpc>
              <a:spcAft>
                <a:spcPts val="40"/>
              </a:spcAft>
            </a:pPr>
            <a:r>
              <a:rPr sz="651" b="1">
                <a:solidFill>
                  <a:srgbClr val="C4141C"/>
                </a:solidFill>
                <a:latin typeface="Microsoft YaHe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4" y="3648456"/>
            <a:ext cx="1847088" cy="164592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768" b="1">
                <a:solidFill>
                  <a:srgbClr val="1A202C"/>
                </a:solidFill>
                <a:latin typeface="Microsoft YaHei"/>
              </a:rPr>
              <a:t>proposal.md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984" y="3858768"/>
            <a:ext cx="1847088" cy="164592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681" b="1">
                <a:solidFill>
                  <a:srgbClr val="C4141C"/>
                </a:solidFill>
                <a:latin typeface="Microsoft YaHei"/>
              </a:rPr>
              <a:t>Why / What / Impact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4123944"/>
            <a:ext cx="2231136" cy="694944"/>
          </a:xfrm>
          <a:prstGeom prst="rect">
            <a:avLst/>
          </a:prstGeom>
          <a:noFill/>
        </p:spPr>
        <p:txBody>
          <a:bodyPr wrap="square" lIns="25603" tIns="25603" rIns="25603" bIns="25603" anchor="t">
            <a:normAutofit/>
          </a:bodyPr>
          <a:lstStyle/>
          <a:p>
            <a:pPr algn="l">
              <a:lnSpc>
                <a:spcPct val="107000"/>
              </a:lnSpc>
              <a:spcAft>
                <a:spcPts val="120"/>
              </a:spcAft>
            </a:pPr>
            <a:r>
              <a:rPr sz="880" b="0">
                <a:solidFill>
                  <a:srgbClr val="5F6773"/>
                </a:solidFill>
                <a:latin typeface="Microsoft YaHei"/>
              </a:rPr>
              <a:t>• 为什么要做这个变更
• 要改变什么能力
• 影响范围与风险提示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29000" y="3538728"/>
            <a:ext cx="2487168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30" name="Oval 29"/>
          <p:cNvSpPr/>
          <p:nvPr/>
        </p:nvSpPr>
        <p:spPr>
          <a:xfrm>
            <a:off x="3547872" y="3666744"/>
            <a:ext cx="310896" cy="310896"/>
          </a:xfrm>
          <a:prstGeom prst="ellipse">
            <a:avLst/>
          </a:prstGeom>
          <a:solidFill>
            <a:srgbClr val="FFF4F4"/>
          </a:solidFill>
          <a:ln>
            <a:solidFill>
              <a:srgbClr val="ECAC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566160" y="3735324"/>
            <a:ext cx="274320" cy="109728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 fontScale="92500" lnSpcReduction="20000"/>
          </a:bodyPr>
          <a:lstStyle/>
          <a:p>
            <a:pPr algn="ctr">
              <a:lnSpc>
                <a:spcPct val="102000"/>
              </a:lnSpc>
              <a:spcAft>
                <a:spcPts val="40"/>
              </a:spcAft>
            </a:pPr>
            <a:r>
              <a:rPr sz="651" b="1">
                <a:solidFill>
                  <a:srgbClr val="C4141C"/>
                </a:solidFill>
                <a:latin typeface="Microsoft YaHe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1920" y="3648456"/>
            <a:ext cx="1847088" cy="164592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768" b="1">
                <a:solidFill>
                  <a:srgbClr val="1A202C"/>
                </a:solidFill>
                <a:latin typeface="Microsoft YaHei"/>
              </a:rPr>
              <a:t>specs/**/*.md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31920" y="3858768"/>
            <a:ext cx="1847088" cy="164592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681" b="1">
                <a:solidFill>
                  <a:srgbClr val="C4141C"/>
                </a:solidFill>
                <a:latin typeface="Microsoft YaHei"/>
              </a:rPr>
              <a:t>Requirements Delta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75304" y="4123944"/>
            <a:ext cx="2231136" cy="694944"/>
          </a:xfrm>
          <a:prstGeom prst="rect">
            <a:avLst/>
          </a:prstGeom>
          <a:noFill/>
        </p:spPr>
        <p:txBody>
          <a:bodyPr wrap="square" lIns="25603" tIns="25603" rIns="25603" bIns="25603" anchor="t">
            <a:normAutofit/>
          </a:bodyPr>
          <a:lstStyle/>
          <a:p>
            <a:pPr algn="l">
              <a:lnSpc>
                <a:spcPct val="107000"/>
              </a:lnSpc>
              <a:spcAft>
                <a:spcPts val="120"/>
              </a:spcAft>
            </a:pPr>
            <a:r>
              <a:rPr sz="880" b="0">
                <a:solidFill>
                  <a:srgbClr val="5F6773"/>
                </a:solidFill>
                <a:latin typeface="Microsoft YaHei"/>
              </a:rPr>
              <a:t>• 用 ADDED / MODIFIED / REMOVED 描述需求变化
• 写清 Scenario / 验收行为
• Review 看意图，不只看代码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91072" y="3538728"/>
            <a:ext cx="2487168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36" name="Oval 35"/>
          <p:cNvSpPr/>
          <p:nvPr/>
        </p:nvSpPr>
        <p:spPr>
          <a:xfrm>
            <a:off x="6409944" y="3666744"/>
            <a:ext cx="310896" cy="310896"/>
          </a:xfrm>
          <a:prstGeom prst="ellipse">
            <a:avLst/>
          </a:prstGeom>
          <a:solidFill>
            <a:srgbClr val="FFF4F4"/>
          </a:solidFill>
          <a:ln>
            <a:solidFill>
              <a:srgbClr val="ECAC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28232" y="3735324"/>
            <a:ext cx="274320" cy="109728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 fontScale="92500" lnSpcReduction="20000"/>
          </a:bodyPr>
          <a:lstStyle/>
          <a:p>
            <a:pPr algn="ctr">
              <a:lnSpc>
                <a:spcPct val="102000"/>
              </a:lnSpc>
              <a:spcAft>
                <a:spcPts val="40"/>
              </a:spcAft>
            </a:pPr>
            <a:r>
              <a:rPr sz="651" b="1">
                <a:solidFill>
                  <a:srgbClr val="C4141C"/>
                </a:solidFill>
                <a:latin typeface="Microsoft YaHei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93992" y="3648456"/>
            <a:ext cx="1847088" cy="164592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768" b="1">
                <a:solidFill>
                  <a:srgbClr val="1A202C"/>
                </a:solidFill>
                <a:latin typeface="Microsoft YaHei"/>
              </a:rPr>
              <a:t>design.md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93992" y="3858768"/>
            <a:ext cx="1847088" cy="164592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681" b="1">
                <a:solidFill>
                  <a:srgbClr val="C4141C"/>
                </a:solidFill>
                <a:latin typeface="Microsoft YaHei"/>
              </a:rPr>
              <a:t>How / Trade-off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37376" y="4123944"/>
            <a:ext cx="2231136" cy="694944"/>
          </a:xfrm>
          <a:prstGeom prst="rect">
            <a:avLst/>
          </a:prstGeom>
          <a:noFill/>
        </p:spPr>
        <p:txBody>
          <a:bodyPr wrap="square" lIns="25603" tIns="25603" rIns="25603" bIns="25603" anchor="t">
            <a:normAutofit/>
          </a:bodyPr>
          <a:lstStyle/>
          <a:p>
            <a:pPr algn="l">
              <a:lnSpc>
                <a:spcPct val="107000"/>
              </a:lnSpc>
              <a:spcAft>
                <a:spcPts val="120"/>
              </a:spcAft>
            </a:pPr>
            <a:r>
              <a:rPr sz="880" b="0">
                <a:solidFill>
                  <a:srgbClr val="5F6773"/>
                </a:solidFill>
                <a:latin typeface="Microsoft YaHei"/>
              </a:rPr>
              <a:t>• 技术方案、接口与数据结构
• 兼容性、风险、备选方案
• 可跳过，但复杂需求很有用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44000" y="3538728"/>
            <a:ext cx="2487168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42" name="Oval 41"/>
          <p:cNvSpPr/>
          <p:nvPr/>
        </p:nvSpPr>
        <p:spPr>
          <a:xfrm>
            <a:off x="9262872" y="3666744"/>
            <a:ext cx="310896" cy="310896"/>
          </a:xfrm>
          <a:prstGeom prst="ellipse">
            <a:avLst/>
          </a:prstGeom>
          <a:solidFill>
            <a:srgbClr val="FFF4F4"/>
          </a:solidFill>
          <a:ln>
            <a:solidFill>
              <a:srgbClr val="ECAC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281160" y="3735324"/>
            <a:ext cx="274320" cy="109728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 fontScale="92500" lnSpcReduction="20000"/>
          </a:bodyPr>
          <a:lstStyle/>
          <a:p>
            <a:pPr algn="ctr">
              <a:lnSpc>
                <a:spcPct val="102000"/>
              </a:lnSpc>
              <a:spcAft>
                <a:spcPts val="40"/>
              </a:spcAft>
            </a:pPr>
            <a:r>
              <a:rPr sz="651" b="1">
                <a:solidFill>
                  <a:srgbClr val="C4141C"/>
                </a:solidFill>
                <a:latin typeface="Microsoft YaHei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46920" y="3648456"/>
            <a:ext cx="1847088" cy="164592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768" b="1">
                <a:solidFill>
                  <a:srgbClr val="1A202C"/>
                </a:solidFill>
                <a:latin typeface="Microsoft YaHei"/>
              </a:rPr>
              <a:t>tasks.md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46920" y="3858768"/>
            <a:ext cx="1847088" cy="164592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681" b="1">
                <a:solidFill>
                  <a:srgbClr val="C4141C"/>
                </a:solidFill>
                <a:latin typeface="Microsoft YaHei"/>
              </a:rPr>
              <a:t>Implementation Checklist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90304" y="4123944"/>
            <a:ext cx="2231136" cy="694944"/>
          </a:xfrm>
          <a:prstGeom prst="rect">
            <a:avLst/>
          </a:prstGeom>
          <a:noFill/>
        </p:spPr>
        <p:txBody>
          <a:bodyPr wrap="square" lIns="25603" tIns="25603" rIns="25603" bIns="25603" anchor="t">
            <a:normAutofit/>
          </a:bodyPr>
          <a:lstStyle/>
          <a:p>
            <a:pPr algn="l">
              <a:lnSpc>
                <a:spcPct val="107000"/>
              </a:lnSpc>
              <a:spcAft>
                <a:spcPts val="120"/>
              </a:spcAft>
            </a:pPr>
            <a:r>
              <a:rPr sz="880" b="0">
                <a:solidFill>
                  <a:srgbClr val="5F6773"/>
                </a:solidFill>
                <a:latin typeface="Microsoft YaHei"/>
              </a:rPr>
              <a:t>• 把设计拆成可执行小任务
• 每项任务可验证、可勾选
• 指导 Agent 按步骤实现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12064" y="5166360"/>
            <a:ext cx="11137392" cy="658368"/>
          </a:xfrm>
          <a:prstGeom prst="roundRect">
            <a:avLst/>
          </a:prstGeom>
          <a:solidFill>
            <a:srgbClr val="FFF4F4"/>
          </a:solidFill>
          <a:ln>
            <a:solidFill>
              <a:srgbClr val="EE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13232" y="5285232"/>
            <a:ext cx="10698480" cy="146304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Autofit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1000" b="1" dirty="0" err="1">
                <a:solidFill>
                  <a:srgbClr val="C4141C"/>
                </a:solidFill>
                <a:latin typeface="Microsoft YaHei"/>
              </a:rPr>
              <a:t>标准流程：proposal</a:t>
            </a:r>
            <a:r>
              <a:rPr sz="1000" b="1" dirty="0">
                <a:solidFill>
                  <a:srgbClr val="C4141C"/>
                </a:solidFill>
                <a:latin typeface="Microsoft YaHei"/>
              </a:rPr>
              <a:t> → specs → design → tasks → implement → archive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3232" y="5559552"/>
            <a:ext cx="10698480" cy="128016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Autofit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900" b="0" dirty="0" err="1">
                <a:solidFill>
                  <a:srgbClr val="3C424E"/>
                </a:solidFill>
                <a:latin typeface="Microsoft YaHei"/>
              </a:rPr>
              <a:t>理解方式：proposal</a:t>
            </a:r>
            <a:r>
              <a:rPr sz="900" b="0" dirty="0">
                <a:solidFill>
                  <a:srgbClr val="3C424E"/>
                </a:solidFill>
                <a:latin typeface="Microsoft YaHei"/>
              </a:rPr>
              <a:t> 说清“</a:t>
            </a:r>
            <a:r>
              <a:rPr sz="900" b="0" dirty="0" err="1">
                <a:solidFill>
                  <a:srgbClr val="3C424E"/>
                </a:solidFill>
                <a:latin typeface="Microsoft YaHei"/>
              </a:rPr>
              <a:t>为什么与做什么</a:t>
            </a:r>
            <a:r>
              <a:rPr sz="900" b="0" dirty="0">
                <a:solidFill>
                  <a:srgbClr val="3C424E"/>
                </a:solidFill>
                <a:latin typeface="Microsoft YaHei"/>
              </a:rPr>
              <a:t>”；specs 规定“</a:t>
            </a:r>
            <a:r>
              <a:rPr sz="900" b="0" dirty="0" err="1">
                <a:solidFill>
                  <a:srgbClr val="3C424E"/>
                </a:solidFill>
                <a:latin typeface="Microsoft YaHei"/>
              </a:rPr>
              <a:t>系统应该表现成什么样</a:t>
            </a:r>
            <a:r>
              <a:rPr sz="900" b="0" dirty="0">
                <a:solidFill>
                  <a:srgbClr val="3C424E"/>
                </a:solidFill>
                <a:latin typeface="Microsoft YaHei"/>
              </a:rPr>
              <a:t>”；design 说明“</a:t>
            </a:r>
            <a:r>
              <a:rPr sz="900" b="0" dirty="0" err="1">
                <a:solidFill>
                  <a:srgbClr val="3C424E"/>
                </a:solidFill>
                <a:latin typeface="Microsoft YaHei"/>
              </a:rPr>
              <a:t>怎么做与权衡</a:t>
            </a:r>
            <a:r>
              <a:rPr sz="900" b="0" dirty="0">
                <a:solidFill>
                  <a:srgbClr val="3C424E"/>
                </a:solidFill>
                <a:latin typeface="Microsoft YaHei"/>
              </a:rPr>
              <a:t>”；tasks </a:t>
            </a:r>
            <a:r>
              <a:rPr sz="900" b="0" dirty="0" err="1">
                <a:solidFill>
                  <a:srgbClr val="3C424E"/>
                </a:solidFill>
                <a:latin typeface="Microsoft YaHei"/>
              </a:rPr>
              <a:t>把它拆成</a:t>
            </a:r>
            <a:r>
              <a:rPr sz="900" b="0" dirty="0">
                <a:solidFill>
                  <a:srgbClr val="3C424E"/>
                </a:solidFill>
                <a:latin typeface="Microsoft YaHei"/>
              </a:rPr>
              <a:t> Agent </a:t>
            </a:r>
            <a:r>
              <a:rPr sz="900" b="0" dirty="0" err="1">
                <a:solidFill>
                  <a:srgbClr val="3C424E"/>
                </a:solidFill>
                <a:latin typeface="Microsoft YaHei"/>
              </a:rPr>
              <a:t>可执行清单</a:t>
            </a:r>
            <a:r>
              <a:rPr sz="900" b="0" dirty="0">
                <a:solidFill>
                  <a:srgbClr val="3C424E"/>
                </a:solidFill>
                <a:latin typeface="Microsoft YaHei"/>
              </a:rPr>
              <a:t>。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2920" y="576072"/>
            <a:ext cx="384048" cy="32004"/>
          </a:xfrm>
          <a:prstGeom prst="rect">
            <a:avLst/>
          </a:prstGeom>
          <a:solidFill>
            <a:srgbClr val="C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02920" y="6455664"/>
            <a:ext cx="61264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>
                <a:solidFill>
                  <a:srgbClr val="5C6471"/>
                </a:solidFill>
                <a:latin typeface="Microsoft YaHei"/>
              </a:rPr>
              <a:t>本次目标：带大家入门 AI 辅助研发，把工具真正用起来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42248" y="6455664"/>
            <a:ext cx="1133856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80">
                <a:solidFill>
                  <a:srgbClr val="5C6471"/>
                </a:solidFill>
                <a:latin typeface="Microsoft YaHei"/>
              </a:rPr>
              <a:t>2026 年 5 月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104120" y="6464808"/>
            <a:ext cx="9144" cy="128016"/>
          </a:xfrm>
          <a:prstGeom prst="rect">
            <a:avLst/>
          </a:prstGeom>
          <a:solidFill>
            <a:srgbClr val="D7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9568" y="6382512"/>
            <a:ext cx="266315" cy="201168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0552176" y="6437376"/>
            <a:ext cx="758952" cy="1280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0" b="1">
                <a:solidFill>
                  <a:srgbClr val="1A202C"/>
                </a:solidFill>
                <a:latin typeface="Arial"/>
              </a:rPr>
              <a:t>HUAWEI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064" y="164592"/>
            <a:ext cx="11155680" cy="292608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1642" b="1">
                <a:solidFill>
                  <a:srgbClr val="1A202C"/>
                </a:solidFill>
                <a:latin typeface="Microsoft YaHei"/>
              </a:rPr>
              <a:t>用 OpenSpec 驱动一次需求开发（上）：探索 → New → Continue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530352"/>
            <a:ext cx="841248" cy="41148"/>
          </a:xfrm>
          <a:prstGeom prst="rect">
            <a:avLst/>
          </a:prstGeom>
          <a:solidFill>
            <a:srgbClr val="C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12064" y="640080"/>
            <a:ext cx="11137392" cy="384048"/>
          </a:xfrm>
          <a:prstGeom prst="roundRect">
            <a:avLst/>
          </a:prstGeom>
          <a:solidFill>
            <a:srgbClr val="FAFBFC"/>
          </a:solidFill>
          <a:ln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94944" y="731520"/>
            <a:ext cx="10789920" cy="146304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657" b="1">
                <a:solidFill>
                  <a:srgbClr val="C4141C"/>
                </a:solidFill>
                <a:latin typeface="Microsoft YaHei"/>
              </a:rPr>
              <a:t>示例需求：给用户列表接口增加分页能力，兼容旧调用，补充单元测试，并说明可能影响哪些文件。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" y="1152144"/>
            <a:ext cx="11137392" cy="15179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7" name="Oval 6"/>
          <p:cNvSpPr/>
          <p:nvPr/>
        </p:nvSpPr>
        <p:spPr>
          <a:xfrm>
            <a:off x="603504" y="1243584"/>
            <a:ext cx="347472" cy="347472"/>
          </a:xfrm>
          <a:prstGeom prst="ellipse">
            <a:avLst/>
          </a:prstGeom>
          <a:solidFill>
            <a:srgbClr val="FFF4F4"/>
          </a:solidFill>
          <a:ln>
            <a:solidFill>
              <a:srgbClr val="ECAC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6364" y="1312164"/>
            <a:ext cx="301752" cy="128016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 fontScale="92500" lnSpcReduction="20000"/>
          </a:bodyPr>
          <a:lstStyle/>
          <a:p>
            <a:pPr algn="ctr">
              <a:lnSpc>
                <a:spcPct val="102000"/>
              </a:lnSpc>
              <a:spcAft>
                <a:spcPts val="40"/>
              </a:spcAft>
            </a:pPr>
            <a:r>
              <a:rPr sz="706" b="1">
                <a:solidFill>
                  <a:srgbClr val="C4141C"/>
                </a:solidFill>
                <a:latin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1243584"/>
            <a:ext cx="10497312" cy="164592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Autofit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1000" b="1" dirty="0" err="1">
                <a:solidFill>
                  <a:srgbClr val="1A202C"/>
                </a:solidFill>
                <a:latin typeface="Microsoft YaHei"/>
              </a:rPr>
              <a:t>探索</a:t>
            </a:r>
            <a:r>
              <a:rPr sz="1000" b="1" dirty="0">
                <a:solidFill>
                  <a:srgbClr val="1A202C"/>
                </a:solidFill>
                <a:latin typeface="Microsoft YaHei"/>
              </a:rPr>
              <a:t> </a:t>
            </a:r>
            <a:r>
              <a:rPr sz="1000" b="1" dirty="0" err="1">
                <a:solidFill>
                  <a:srgbClr val="1A202C"/>
                </a:solidFill>
                <a:latin typeface="Microsoft YaHei"/>
              </a:rPr>
              <a:t>Explore：先把问题问清楚，不急着写代码</a:t>
            </a:r>
            <a:endParaRPr sz="1000" b="1" dirty="0">
              <a:solidFill>
                <a:srgbClr val="1A202C"/>
              </a:solidFill>
              <a:latin typeface="Microsoft YaHe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40080" y="1517904"/>
            <a:ext cx="10881360" cy="201168"/>
          </a:xfrm>
          <a:prstGeom prst="roundRect">
            <a:avLst/>
          </a:prstGeom>
          <a:solidFill>
            <a:srgbClr val="222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544835"/>
            <a:ext cx="10698480" cy="91440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Autofit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800" b="0" dirty="0">
                <a:solidFill>
                  <a:srgbClr val="FFFFFF"/>
                </a:solidFill>
                <a:latin typeface="Microsoft YaHei"/>
              </a:rPr>
              <a:t>/</a:t>
            </a:r>
            <a:r>
              <a:rPr sz="800" b="0" dirty="0" err="1">
                <a:solidFill>
                  <a:srgbClr val="FFFFFF"/>
                </a:solidFill>
                <a:latin typeface="Microsoft YaHei"/>
              </a:rPr>
              <a:t>opsx:explore</a:t>
            </a:r>
            <a:r>
              <a:rPr sz="800" b="0" dirty="0">
                <a:solidFill>
                  <a:srgbClr val="FFFFFF"/>
                </a:solidFill>
                <a:latin typeface="Microsoft YaHei"/>
              </a:rPr>
              <a:t> </a:t>
            </a:r>
            <a:r>
              <a:rPr sz="800" b="0" dirty="0" err="1">
                <a:solidFill>
                  <a:srgbClr val="FFFFFF"/>
                </a:solidFill>
                <a:latin typeface="Microsoft YaHei"/>
              </a:rPr>
              <a:t>用户列表接口需要增加分页能力；先分析现状并列出待确认问题</a:t>
            </a:r>
            <a:endParaRPr sz="800" b="0" dirty="0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" y="1773936"/>
            <a:ext cx="10899648" cy="786383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 lnSpcReduction="10000"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880" b="1">
                <a:solidFill>
                  <a:srgbClr val="C4141C"/>
                </a:solidFill>
                <a:latin typeface="Microsoft YaHei"/>
              </a:rPr>
              <a:t>我们在做什么：</a:t>
            </a:r>
          </a:p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840" b="0">
                <a:solidFill>
                  <a:srgbClr val="5F6773"/>
                </a:solidFill>
                <a:latin typeface="Microsoft YaHei"/>
              </a:rPr>
              <a:t>让 AI 先读代码库、看现有接口设计、找调用链和历史行为，目的是澄清需求、识别歧义、发现风险点。此时不创建正式变更文件，也不修改代码。</a:t>
            </a:r>
          </a:p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880" b="1">
                <a:solidFill>
                  <a:srgbClr val="C4141C"/>
                </a:solidFill>
                <a:latin typeface="Microsoft YaHei"/>
              </a:rPr>
              <a:t>生成了什么：</a:t>
            </a:r>
          </a:p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840" b="0">
                <a:solidFill>
                  <a:srgbClr val="5F6773"/>
                </a:solidFill>
                <a:latin typeface="Microsoft YaHei"/>
              </a:rPr>
              <a:t>一份探索结果或澄清清单，例如：分页参数用 page/pageSize 还是 offset/limit？page 从 0 还是 1 开始？不传分页参数是否保持旧行为？是否需要返回 total？是否影响导出接口和前端调用？</a:t>
            </a:r>
          </a:p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880" b="1">
                <a:solidFill>
                  <a:srgbClr val="C4141C"/>
                </a:solidFill>
                <a:latin typeface="Microsoft YaHei"/>
              </a:rPr>
              <a:t>具体例子：</a:t>
            </a:r>
          </a:p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840" b="0">
                <a:solidFill>
                  <a:srgbClr val="3C424E"/>
                </a:solidFill>
                <a:latin typeface="Microsoft YaHei"/>
              </a:rPr>
              <a:t>它像需求评审前的“白板讨论”：先把坑挖出来，再决定如何建 spec，避免 Agent 一边写一边猜。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" y="2761488"/>
            <a:ext cx="11137392" cy="15179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14" name="Oval 13"/>
          <p:cNvSpPr/>
          <p:nvPr/>
        </p:nvSpPr>
        <p:spPr>
          <a:xfrm>
            <a:off x="603504" y="2852928"/>
            <a:ext cx="347472" cy="347472"/>
          </a:xfrm>
          <a:prstGeom prst="ellipse">
            <a:avLst/>
          </a:prstGeom>
          <a:solidFill>
            <a:srgbClr val="FFF4F4"/>
          </a:solidFill>
          <a:ln>
            <a:solidFill>
              <a:srgbClr val="ECAC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6364" y="2921508"/>
            <a:ext cx="301752" cy="128016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 fontScale="92500" lnSpcReduction="20000"/>
          </a:bodyPr>
          <a:lstStyle/>
          <a:p>
            <a:pPr algn="ctr">
              <a:lnSpc>
                <a:spcPct val="102000"/>
              </a:lnSpc>
              <a:spcAft>
                <a:spcPts val="40"/>
              </a:spcAft>
            </a:pPr>
            <a:r>
              <a:rPr sz="706" b="1">
                <a:solidFill>
                  <a:srgbClr val="C4141C"/>
                </a:solidFill>
                <a:latin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2852928"/>
            <a:ext cx="10497312" cy="164592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Autofit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1000" b="1" dirty="0">
                <a:solidFill>
                  <a:srgbClr val="1A202C"/>
                </a:solidFill>
                <a:latin typeface="Microsoft YaHei"/>
              </a:rPr>
              <a:t>New：创建一个正式变更空间，让需求进入仓库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127248"/>
            <a:ext cx="10881360" cy="201168"/>
          </a:xfrm>
          <a:prstGeom prst="roundRect">
            <a:avLst/>
          </a:prstGeom>
          <a:solidFill>
            <a:srgbClr val="222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3154179"/>
            <a:ext cx="10698480" cy="91440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Autofit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800" b="0" dirty="0">
                <a:solidFill>
                  <a:srgbClr val="FFFFFF"/>
                </a:solidFill>
                <a:latin typeface="Microsoft YaHei"/>
              </a:rPr>
              <a:t>/</a:t>
            </a:r>
            <a:r>
              <a:rPr sz="800" b="0" dirty="0" err="1">
                <a:solidFill>
                  <a:srgbClr val="FFFFFF"/>
                </a:solidFill>
                <a:latin typeface="Microsoft YaHei"/>
              </a:rPr>
              <a:t>opsx:new</a:t>
            </a:r>
            <a:r>
              <a:rPr sz="800" b="0" dirty="0">
                <a:solidFill>
                  <a:srgbClr val="FFFFFF"/>
                </a:solidFill>
                <a:latin typeface="Microsoft YaHei"/>
              </a:rPr>
              <a:t> add-user-list-pagination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383280"/>
            <a:ext cx="10899648" cy="786383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 fontScale="92500" lnSpcReduction="20000"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880" b="1">
                <a:solidFill>
                  <a:srgbClr val="C4141C"/>
                </a:solidFill>
                <a:latin typeface="Microsoft YaHei"/>
              </a:rPr>
              <a:t>我们在做什么：</a:t>
            </a:r>
          </a:p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840" b="0">
                <a:solidFill>
                  <a:srgbClr val="5F6773"/>
                </a:solidFill>
                <a:latin typeface="Microsoft YaHei"/>
              </a:rPr>
              <a:t>当需求方向基本明确后，创建一个新的变更目录，把需求从聊天窗口搬进仓库，让它成为团队共享、可追溯的工作对象。</a:t>
            </a:r>
          </a:p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880" b="1">
                <a:solidFill>
                  <a:srgbClr val="C4141C"/>
                </a:solidFill>
                <a:latin typeface="Microsoft YaHei"/>
              </a:rPr>
              <a:t>生成了什么：</a:t>
            </a:r>
          </a:p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840" b="0">
                <a:solidFill>
                  <a:srgbClr val="5F6773"/>
                </a:solidFill>
                <a:latin typeface="Microsoft YaHei"/>
              </a:rPr>
              <a:t>生成 openspec/changes/add-user-list-pagination/，其中通常包含 proposal.md、design.md、tasks.md，以及 specs/ 目录。proposal 讲“为什么做”；design 讲“怎么做”；tasks 讲“拆成哪些事”；specs 讲“系统行为要变成什么样”。</a:t>
            </a:r>
          </a:p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880" b="1">
                <a:solidFill>
                  <a:srgbClr val="C4141C"/>
                </a:solidFill>
                <a:latin typeface="Microsoft YaHei"/>
              </a:rPr>
              <a:t>具体例子：</a:t>
            </a:r>
          </a:p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840" b="0">
                <a:solidFill>
                  <a:srgbClr val="3C424E"/>
                </a:solidFill>
                <a:latin typeface="Microsoft YaHei"/>
              </a:rPr>
              <a:t>这一步像“立项建文件夹”：从这一刻起，需求不再只是几句 Prompt，而是一个有编号、有文档、有上下文的正式变更。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064" y="4370832"/>
            <a:ext cx="11137392" cy="15179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21" name="Oval 20"/>
          <p:cNvSpPr/>
          <p:nvPr/>
        </p:nvSpPr>
        <p:spPr>
          <a:xfrm>
            <a:off x="603504" y="4462272"/>
            <a:ext cx="347472" cy="347472"/>
          </a:xfrm>
          <a:prstGeom prst="ellipse">
            <a:avLst/>
          </a:prstGeom>
          <a:solidFill>
            <a:srgbClr val="FFF4F4"/>
          </a:solidFill>
          <a:ln>
            <a:solidFill>
              <a:srgbClr val="ECAC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6364" y="4530852"/>
            <a:ext cx="301752" cy="128016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 fontScale="92500" lnSpcReduction="20000"/>
          </a:bodyPr>
          <a:lstStyle/>
          <a:p>
            <a:pPr algn="ctr">
              <a:lnSpc>
                <a:spcPct val="102000"/>
              </a:lnSpc>
              <a:spcAft>
                <a:spcPts val="40"/>
              </a:spcAft>
            </a:pPr>
            <a:r>
              <a:rPr sz="706" b="1">
                <a:solidFill>
                  <a:srgbClr val="C4141C"/>
                </a:solidFill>
                <a:latin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" y="4462272"/>
            <a:ext cx="10497312" cy="164592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Autofit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1000" b="1" dirty="0" err="1">
                <a:solidFill>
                  <a:srgbClr val="1A202C"/>
                </a:solidFill>
                <a:latin typeface="Microsoft YaHei"/>
              </a:rPr>
              <a:t>Continue：继续补全规格，把模糊需求变成清晰要求</a:t>
            </a:r>
            <a:endParaRPr sz="1000" b="1" dirty="0">
              <a:solidFill>
                <a:srgbClr val="1A202C"/>
              </a:solidFill>
              <a:latin typeface="Microsoft YaHei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40080" y="4736592"/>
            <a:ext cx="10881360" cy="201168"/>
          </a:xfrm>
          <a:prstGeom prst="roundRect">
            <a:avLst/>
          </a:prstGeom>
          <a:solidFill>
            <a:srgbClr val="222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4757260"/>
            <a:ext cx="10698480" cy="91440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Autofit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800" b="0" dirty="0">
                <a:solidFill>
                  <a:srgbClr val="FFFFFF"/>
                </a:solidFill>
                <a:latin typeface="Microsoft YaHei"/>
              </a:rPr>
              <a:t>/</a:t>
            </a:r>
            <a:r>
              <a:rPr sz="800" b="0" dirty="0" err="1">
                <a:solidFill>
                  <a:srgbClr val="FFFFFF"/>
                </a:solidFill>
                <a:latin typeface="Microsoft YaHei"/>
              </a:rPr>
              <a:t>opsx:continue</a:t>
            </a:r>
            <a:r>
              <a:rPr sz="800" b="0" dirty="0">
                <a:solidFill>
                  <a:srgbClr val="FFFFFF"/>
                </a:solidFill>
                <a:latin typeface="Microsoft YaHei"/>
              </a:rPr>
              <a:t> </a:t>
            </a:r>
            <a:r>
              <a:rPr sz="800" b="0" dirty="0" err="1">
                <a:solidFill>
                  <a:srgbClr val="FFFFFF"/>
                </a:solidFill>
                <a:latin typeface="Microsoft YaHei"/>
              </a:rPr>
              <a:t>add-user-list-pagination；补充默认值、兼容策略、验收场景和任务拆解</a:t>
            </a:r>
            <a:endParaRPr sz="800" b="0" dirty="0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0080" y="4992624"/>
            <a:ext cx="10899648" cy="786383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 fontScale="92500"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880" b="1">
                <a:solidFill>
                  <a:srgbClr val="C4141C"/>
                </a:solidFill>
                <a:latin typeface="Microsoft YaHei"/>
              </a:rPr>
              <a:t>我们在做什么：</a:t>
            </a:r>
          </a:p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840" b="0">
                <a:solidFill>
                  <a:srgbClr val="5F6773"/>
                </a:solidFill>
                <a:latin typeface="Microsoft YaHei"/>
              </a:rPr>
              <a:t>这一阶段不是让 Agent 立刻写代码，而是继续打磨 proposal、specs、design、tasks，把边界、规则、验收标准、影响范围说完整。</a:t>
            </a:r>
          </a:p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880" b="1">
                <a:solidFill>
                  <a:srgbClr val="C4141C"/>
                </a:solidFill>
                <a:latin typeface="Microsoft YaHei"/>
              </a:rPr>
              <a:t>生成了什么：</a:t>
            </a:r>
          </a:p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840" b="0">
                <a:solidFill>
                  <a:srgbClr val="5F6773"/>
                </a:solidFill>
                <a:latin typeface="Microsoft YaHei"/>
              </a:rPr>
              <a:t>更新后的 proposal 会写清 Why / What / Impact；spec.md 会增加 Scenario，如“未传分页参数时保持旧行为”“传入 page=1,pageSize=20 时返回第一页数据并包含 total”；tasks.md 会拆出 DTO、Service、测试、文档等实现任务。</a:t>
            </a:r>
          </a:p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880" b="1">
                <a:solidFill>
                  <a:srgbClr val="C4141C"/>
                </a:solidFill>
                <a:latin typeface="Microsoft YaHei"/>
              </a:rPr>
              <a:t>具体例子：</a:t>
            </a:r>
          </a:p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840" b="0">
                <a:solidFill>
                  <a:srgbClr val="3C424E"/>
                </a:solidFill>
                <a:latin typeface="Microsoft YaHei"/>
              </a:rPr>
              <a:t>例子：把“支持分页”具体化成“page 默认 1、pageSize 默认 20、最大 100、返回 total、补正常/边界/兼容性测试”。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2064" y="5980176"/>
            <a:ext cx="11137392" cy="219456"/>
          </a:xfrm>
          <a:prstGeom prst="roundRect">
            <a:avLst/>
          </a:prstGeom>
          <a:solidFill>
            <a:srgbClr val="FFF9EE"/>
          </a:solidFill>
          <a:ln>
            <a:solidFill>
              <a:srgbClr val="F0D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13232" y="6021324"/>
            <a:ext cx="10698480" cy="100584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Autofit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800" b="1" dirty="0" err="1">
                <a:solidFill>
                  <a:srgbClr val="C4141C"/>
                </a:solidFill>
                <a:latin typeface="Microsoft YaHei"/>
              </a:rPr>
              <a:t>这一页的关键词：Explore</a:t>
            </a:r>
            <a:r>
              <a:rPr sz="800" b="1" dirty="0">
                <a:solidFill>
                  <a:srgbClr val="C4141C"/>
                </a:solidFill>
                <a:latin typeface="Microsoft YaHei"/>
              </a:rPr>
              <a:t> 负责“</a:t>
            </a:r>
            <a:r>
              <a:rPr sz="800" b="1" dirty="0" err="1">
                <a:solidFill>
                  <a:srgbClr val="C4141C"/>
                </a:solidFill>
                <a:latin typeface="Microsoft YaHei"/>
              </a:rPr>
              <a:t>问清楚</a:t>
            </a:r>
            <a:r>
              <a:rPr sz="800" b="1" dirty="0">
                <a:solidFill>
                  <a:srgbClr val="C4141C"/>
                </a:solidFill>
                <a:latin typeface="Microsoft YaHei"/>
              </a:rPr>
              <a:t>”，New 负责“</a:t>
            </a:r>
            <a:r>
              <a:rPr sz="800" b="1" dirty="0" err="1">
                <a:solidFill>
                  <a:srgbClr val="C4141C"/>
                </a:solidFill>
                <a:latin typeface="Microsoft YaHei"/>
              </a:rPr>
              <a:t>建空间</a:t>
            </a:r>
            <a:r>
              <a:rPr sz="800" b="1" dirty="0">
                <a:solidFill>
                  <a:srgbClr val="C4141C"/>
                </a:solidFill>
                <a:latin typeface="Microsoft YaHei"/>
              </a:rPr>
              <a:t>”，Continue </a:t>
            </a:r>
            <a:r>
              <a:rPr sz="800" b="1" dirty="0" err="1">
                <a:solidFill>
                  <a:srgbClr val="C4141C"/>
                </a:solidFill>
                <a:latin typeface="Microsoft YaHei"/>
              </a:rPr>
              <a:t>负责“把规格补完整</a:t>
            </a:r>
            <a:r>
              <a:rPr sz="800" b="1" dirty="0">
                <a:solidFill>
                  <a:srgbClr val="C4141C"/>
                </a:solidFill>
                <a:latin typeface="Microsoft YaHei"/>
              </a:rPr>
              <a:t>”。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76072"/>
            <a:ext cx="384048" cy="32004"/>
          </a:xfrm>
          <a:prstGeom prst="rect">
            <a:avLst/>
          </a:prstGeom>
          <a:solidFill>
            <a:srgbClr val="C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2920" y="6455664"/>
            <a:ext cx="61264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>
                <a:solidFill>
                  <a:srgbClr val="5C6471"/>
                </a:solidFill>
                <a:latin typeface="Microsoft YaHei"/>
              </a:rPr>
              <a:t>本次目标：带大家入门 AI 辅助研发，把工具真正用起来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42248" y="6455664"/>
            <a:ext cx="1133856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80">
                <a:solidFill>
                  <a:srgbClr val="5C6471"/>
                </a:solidFill>
                <a:latin typeface="Microsoft YaHei"/>
              </a:rPr>
              <a:t>2026 年 5 月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104120" y="6464808"/>
            <a:ext cx="9144" cy="128016"/>
          </a:xfrm>
          <a:prstGeom prst="rect">
            <a:avLst/>
          </a:prstGeom>
          <a:solidFill>
            <a:srgbClr val="D7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9568" y="6382512"/>
            <a:ext cx="266315" cy="20116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552176" y="6437376"/>
            <a:ext cx="758952" cy="1280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0" b="1">
                <a:solidFill>
                  <a:srgbClr val="1A202C"/>
                </a:solidFill>
                <a:latin typeface="Arial"/>
              </a:rPr>
              <a:t>HUAWEI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064" y="164592"/>
            <a:ext cx="11155680" cy="292608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1642" b="1">
                <a:solidFill>
                  <a:srgbClr val="1A202C"/>
                </a:solidFill>
                <a:latin typeface="Microsoft YaHei"/>
              </a:rPr>
              <a:t>用 OpenSpec 驱动一次需求开发（下）：Apply → Verify → Archive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530352"/>
            <a:ext cx="841248" cy="41148"/>
          </a:xfrm>
          <a:prstGeom prst="rect">
            <a:avLst/>
          </a:prstGeom>
          <a:solidFill>
            <a:srgbClr val="C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12064" y="640080"/>
            <a:ext cx="11137392" cy="384048"/>
          </a:xfrm>
          <a:prstGeom prst="roundRect">
            <a:avLst/>
          </a:prstGeom>
          <a:solidFill>
            <a:srgbClr val="FAFBFC"/>
          </a:solidFill>
          <a:ln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94944" y="731520"/>
            <a:ext cx="10789920" cy="146304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657" b="1">
                <a:solidFill>
                  <a:srgbClr val="C4141C"/>
                </a:solidFill>
                <a:latin typeface="Microsoft YaHei"/>
              </a:rPr>
              <a:t>继续沿用示例：add-user-list-pagination —— 即“给用户列表接口增加分页能力并保持兼容”。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" y="1152144"/>
            <a:ext cx="11137392" cy="15179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7" name="Oval 6"/>
          <p:cNvSpPr/>
          <p:nvPr/>
        </p:nvSpPr>
        <p:spPr>
          <a:xfrm>
            <a:off x="603504" y="1243584"/>
            <a:ext cx="347472" cy="347472"/>
          </a:xfrm>
          <a:prstGeom prst="ellipse">
            <a:avLst/>
          </a:prstGeom>
          <a:solidFill>
            <a:srgbClr val="FFF4F4"/>
          </a:solidFill>
          <a:ln>
            <a:solidFill>
              <a:srgbClr val="ECAC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6364" y="1312164"/>
            <a:ext cx="301752" cy="128016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 fontScale="92500" lnSpcReduction="20000"/>
          </a:bodyPr>
          <a:lstStyle/>
          <a:p>
            <a:pPr algn="ctr">
              <a:lnSpc>
                <a:spcPct val="102000"/>
              </a:lnSpc>
              <a:spcAft>
                <a:spcPts val="40"/>
              </a:spcAft>
            </a:pPr>
            <a:r>
              <a:rPr sz="706" b="1">
                <a:solidFill>
                  <a:srgbClr val="C4141C"/>
                </a:solidFill>
                <a:latin typeface="Microsoft YaHe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1243584"/>
            <a:ext cx="10497312" cy="164592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Autofit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1000" b="1" dirty="0" err="1">
                <a:solidFill>
                  <a:srgbClr val="1A202C"/>
                </a:solidFill>
                <a:latin typeface="Microsoft YaHei"/>
              </a:rPr>
              <a:t>Apply：让</a:t>
            </a:r>
            <a:r>
              <a:rPr sz="1000" b="1" dirty="0">
                <a:solidFill>
                  <a:srgbClr val="1A202C"/>
                </a:solidFill>
                <a:latin typeface="Microsoft YaHei"/>
              </a:rPr>
              <a:t> Agent 按 tasks.md </a:t>
            </a:r>
            <a:r>
              <a:rPr sz="1000" b="1" dirty="0" err="1">
                <a:solidFill>
                  <a:srgbClr val="1A202C"/>
                </a:solidFill>
                <a:latin typeface="Microsoft YaHei"/>
              </a:rPr>
              <a:t>去实现，而不是自由发挥</a:t>
            </a:r>
            <a:endParaRPr sz="1000" b="1" dirty="0">
              <a:solidFill>
                <a:srgbClr val="1A202C"/>
              </a:solidFill>
              <a:latin typeface="Microsoft YaHe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40080" y="1517904"/>
            <a:ext cx="10881360" cy="201168"/>
          </a:xfrm>
          <a:prstGeom prst="roundRect">
            <a:avLst/>
          </a:prstGeom>
          <a:solidFill>
            <a:srgbClr val="222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544835"/>
            <a:ext cx="10698480" cy="91440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Autofit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800" b="0" dirty="0">
                <a:solidFill>
                  <a:srgbClr val="FFFFFF"/>
                </a:solidFill>
                <a:latin typeface="Microsoft YaHei"/>
              </a:rPr>
              <a:t>/</a:t>
            </a:r>
            <a:r>
              <a:rPr sz="800" b="0" dirty="0" err="1">
                <a:solidFill>
                  <a:srgbClr val="FFFFFF"/>
                </a:solidFill>
                <a:latin typeface="Microsoft YaHei"/>
              </a:rPr>
              <a:t>opsx:apply</a:t>
            </a:r>
            <a:r>
              <a:rPr sz="800" b="0" dirty="0">
                <a:solidFill>
                  <a:srgbClr val="FFFFFF"/>
                </a:solidFill>
                <a:latin typeface="Microsoft YaHei"/>
              </a:rPr>
              <a:t> add-user-list-pagination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773936"/>
            <a:ext cx="10899648" cy="786383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 lnSpcReduction="10000"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880" b="1">
                <a:solidFill>
                  <a:srgbClr val="C4141C"/>
                </a:solidFill>
                <a:latin typeface="Microsoft YaHei"/>
              </a:rPr>
              <a:t>我们在做什么：</a:t>
            </a:r>
          </a:p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840" b="0">
                <a:solidFill>
                  <a:srgbClr val="5F6773"/>
                </a:solidFill>
                <a:latin typeface="Microsoft YaHei"/>
              </a:rPr>
              <a:t>当规格已经基本确认后，才让 Agent 开始改代码。它会以 tasks.md 为执行清单，按步骤落实 DTO、Controller、Service、测试、文档等改动。</a:t>
            </a:r>
          </a:p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880" b="1">
                <a:solidFill>
                  <a:srgbClr val="C4141C"/>
                </a:solidFill>
                <a:latin typeface="Microsoft YaHei"/>
              </a:rPr>
              <a:t>生成了什么：</a:t>
            </a:r>
          </a:p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840" b="0">
                <a:solidFill>
                  <a:srgbClr val="5F6773"/>
                </a:solidFill>
                <a:latin typeface="Microsoft YaHei"/>
              </a:rPr>
              <a:t>会真正修改代码并产生 diff，例如：UserController.java、UserQueryDTO.java、UserService.java、UserServiceTest.java、docs/api/user-list.md；同时 tasks.md 会从 [ ] 逐项变成 [x]。</a:t>
            </a:r>
          </a:p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880" b="1">
                <a:solidFill>
                  <a:srgbClr val="C4141C"/>
                </a:solidFill>
                <a:latin typeface="Microsoft YaHei"/>
              </a:rPr>
              <a:t>具体例子：</a:t>
            </a:r>
          </a:p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840" b="0">
                <a:solidFill>
                  <a:srgbClr val="3C424E"/>
                </a:solidFill>
                <a:latin typeface="Microsoft YaHei"/>
              </a:rPr>
              <a:t>它像“照着施工图施工”：Agent 干的不是脑补出来的活，而是前面被规格约束过的活。比如先给 DTO 增加 page/pageSize，再补 Service 分页逻辑，再补单测。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" y="2761488"/>
            <a:ext cx="11137392" cy="15179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14" name="Oval 13"/>
          <p:cNvSpPr/>
          <p:nvPr/>
        </p:nvSpPr>
        <p:spPr>
          <a:xfrm>
            <a:off x="603504" y="2852928"/>
            <a:ext cx="347472" cy="347472"/>
          </a:xfrm>
          <a:prstGeom prst="ellipse">
            <a:avLst/>
          </a:prstGeom>
          <a:solidFill>
            <a:srgbClr val="FFF4F4"/>
          </a:solidFill>
          <a:ln>
            <a:solidFill>
              <a:srgbClr val="ECAC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6364" y="2921508"/>
            <a:ext cx="301752" cy="128016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 fontScale="92500" lnSpcReduction="20000"/>
          </a:bodyPr>
          <a:lstStyle/>
          <a:p>
            <a:pPr algn="ctr">
              <a:lnSpc>
                <a:spcPct val="102000"/>
              </a:lnSpc>
              <a:spcAft>
                <a:spcPts val="40"/>
              </a:spcAft>
            </a:pPr>
            <a:r>
              <a:rPr sz="706" b="1">
                <a:solidFill>
                  <a:srgbClr val="C4141C"/>
                </a:solidFill>
                <a:latin typeface="Microsoft YaHe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2852928"/>
            <a:ext cx="10497312" cy="164592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Autofit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1000" b="1" dirty="0" err="1">
                <a:solidFill>
                  <a:srgbClr val="1A202C"/>
                </a:solidFill>
                <a:latin typeface="Microsoft YaHei"/>
              </a:rPr>
              <a:t>验证</a:t>
            </a:r>
            <a:r>
              <a:rPr sz="1000" b="1" dirty="0">
                <a:solidFill>
                  <a:srgbClr val="1A202C"/>
                </a:solidFill>
                <a:latin typeface="Microsoft YaHei"/>
              </a:rPr>
              <a:t> </a:t>
            </a:r>
            <a:r>
              <a:rPr sz="1000" b="1" dirty="0" err="1">
                <a:solidFill>
                  <a:srgbClr val="1A202C"/>
                </a:solidFill>
                <a:latin typeface="Microsoft YaHei"/>
              </a:rPr>
              <a:t>Verify：确认代码、测试和规格是一致的</a:t>
            </a:r>
            <a:endParaRPr sz="1000" b="1" dirty="0">
              <a:solidFill>
                <a:srgbClr val="1A202C"/>
              </a:solidFill>
              <a:latin typeface="Microsoft YaHe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40080" y="3127248"/>
            <a:ext cx="10881360" cy="201168"/>
          </a:xfrm>
          <a:prstGeom prst="roundRect">
            <a:avLst/>
          </a:prstGeom>
          <a:solidFill>
            <a:srgbClr val="222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3160442"/>
            <a:ext cx="10698480" cy="91440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Autofit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800" b="0" dirty="0">
                <a:solidFill>
                  <a:srgbClr val="FFFFFF"/>
                </a:solidFill>
                <a:latin typeface="Microsoft YaHei"/>
              </a:rPr>
              <a:t>/</a:t>
            </a:r>
            <a:r>
              <a:rPr sz="800" b="0" dirty="0" err="1">
                <a:solidFill>
                  <a:srgbClr val="FFFFFF"/>
                </a:solidFill>
                <a:latin typeface="Microsoft YaHei"/>
              </a:rPr>
              <a:t>opsx:verify</a:t>
            </a:r>
            <a:r>
              <a:rPr sz="800" b="0" dirty="0">
                <a:solidFill>
                  <a:srgbClr val="FFFFFF"/>
                </a:solidFill>
                <a:latin typeface="Microsoft YaHei"/>
              </a:rPr>
              <a:t> </a:t>
            </a:r>
            <a:r>
              <a:rPr sz="800" b="0" dirty="0" err="1">
                <a:solidFill>
                  <a:srgbClr val="FFFFFF"/>
                </a:solidFill>
                <a:latin typeface="Microsoft YaHei"/>
              </a:rPr>
              <a:t>add-user-list-pagination；或执行</a:t>
            </a:r>
            <a:r>
              <a:rPr sz="800" b="0" dirty="0">
                <a:solidFill>
                  <a:srgbClr val="FFFFFF"/>
                </a:solidFill>
                <a:latin typeface="Microsoft YaHei"/>
              </a:rPr>
              <a:t> </a:t>
            </a:r>
            <a:r>
              <a:rPr sz="800" b="0" dirty="0" err="1">
                <a:solidFill>
                  <a:srgbClr val="FFFFFF"/>
                </a:solidFill>
                <a:latin typeface="Microsoft YaHei"/>
              </a:rPr>
              <a:t>openspec</a:t>
            </a:r>
            <a:r>
              <a:rPr sz="800" b="0" dirty="0">
                <a:solidFill>
                  <a:srgbClr val="FFFFFF"/>
                </a:solidFill>
                <a:latin typeface="Microsoft YaHei"/>
              </a:rPr>
              <a:t> validate --strict + </a:t>
            </a:r>
            <a:r>
              <a:rPr sz="800" b="0" dirty="0" err="1">
                <a:solidFill>
                  <a:srgbClr val="FFFFFF"/>
                </a:solidFill>
                <a:latin typeface="Microsoft YaHei"/>
              </a:rPr>
              <a:t>mvn</a:t>
            </a:r>
            <a:r>
              <a:rPr sz="800" b="0" dirty="0">
                <a:solidFill>
                  <a:srgbClr val="FFFFFF"/>
                </a:solidFill>
                <a:latin typeface="Microsoft YaHei"/>
              </a:rPr>
              <a:t> 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383280"/>
            <a:ext cx="10899648" cy="786383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 lnSpcReduction="10000"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880" b="1">
                <a:solidFill>
                  <a:srgbClr val="C4141C"/>
                </a:solidFill>
                <a:latin typeface="Microsoft YaHei"/>
              </a:rPr>
              <a:t>我们在做什么：</a:t>
            </a:r>
          </a:p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840" b="0">
                <a:solidFill>
                  <a:srgbClr val="5F6773"/>
                </a:solidFill>
                <a:latin typeface="Microsoft YaHei"/>
              </a:rPr>
              <a:t>验证阶段不是简单看编译是否通过，而是要确认：代码是否实现了 spec？测试是否覆盖了 scenario？改动是否超出了原定范围？是否还存在兼容风险？</a:t>
            </a:r>
          </a:p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880" b="1">
                <a:solidFill>
                  <a:srgbClr val="C4141C"/>
                </a:solidFill>
                <a:latin typeface="Microsoft YaHei"/>
              </a:rPr>
              <a:t>生成了什么：</a:t>
            </a:r>
          </a:p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840" b="0">
                <a:solidFill>
                  <a:srgbClr val="5F6773"/>
                </a:solidFill>
                <a:latin typeface="Microsoft YaHei"/>
              </a:rPr>
              <a:t>会生成一份验证结果：例如 OpenSpec 规格校验通过、UserServiceTest 通过、未传分页参数时旧行为保持兼容、pageSize 超限时有保护逻辑；同时也会暴露问题，如“新增 total 可能影响某些旧调用方反序列化”。</a:t>
            </a:r>
          </a:p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880" b="1">
                <a:solidFill>
                  <a:srgbClr val="C4141C"/>
                </a:solidFill>
                <a:latin typeface="Microsoft YaHei"/>
              </a:rPr>
              <a:t>具体例子：</a:t>
            </a:r>
          </a:p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840" b="0">
                <a:solidFill>
                  <a:srgbClr val="3C424E"/>
                </a:solidFill>
                <a:latin typeface="Microsoft YaHei"/>
              </a:rPr>
              <a:t>它像“验收测试 + 对账”：不是只看“能不能跑”，而是看“是不是按说好的方式在跑”。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064" y="4370832"/>
            <a:ext cx="11137392" cy="15179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21" name="Oval 20"/>
          <p:cNvSpPr/>
          <p:nvPr/>
        </p:nvSpPr>
        <p:spPr>
          <a:xfrm>
            <a:off x="603504" y="4462272"/>
            <a:ext cx="347472" cy="347472"/>
          </a:xfrm>
          <a:prstGeom prst="ellipse">
            <a:avLst/>
          </a:prstGeom>
          <a:solidFill>
            <a:srgbClr val="FFF4F4"/>
          </a:solidFill>
          <a:ln>
            <a:solidFill>
              <a:srgbClr val="ECAC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6364" y="4530852"/>
            <a:ext cx="301752" cy="128016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 fontScale="92500" lnSpcReduction="20000"/>
          </a:bodyPr>
          <a:lstStyle/>
          <a:p>
            <a:pPr algn="ctr">
              <a:lnSpc>
                <a:spcPct val="102000"/>
              </a:lnSpc>
              <a:spcAft>
                <a:spcPts val="40"/>
              </a:spcAft>
            </a:pPr>
            <a:r>
              <a:rPr sz="706" b="1">
                <a:solidFill>
                  <a:srgbClr val="C4141C"/>
                </a:solidFill>
                <a:latin typeface="Microsoft YaHe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" y="4462272"/>
            <a:ext cx="10497312" cy="164592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Autofit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1000" b="1" dirty="0" err="1">
                <a:solidFill>
                  <a:srgbClr val="1A202C"/>
                </a:solidFill>
                <a:latin typeface="Microsoft YaHei"/>
              </a:rPr>
              <a:t>归档</a:t>
            </a:r>
            <a:r>
              <a:rPr sz="1000" b="1" dirty="0">
                <a:solidFill>
                  <a:srgbClr val="1A202C"/>
                </a:solidFill>
                <a:latin typeface="Microsoft YaHei"/>
              </a:rPr>
              <a:t> </a:t>
            </a:r>
            <a:r>
              <a:rPr sz="1000" b="1" dirty="0" err="1">
                <a:solidFill>
                  <a:srgbClr val="1A202C"/>
                </a:solidFill>
                <a:latin typeface="Microsoft YaHei"/>
              </a:rPr>
              <a:t>Archive：把临时变更沉淀为系统事实</a:t>
            </a:r>
            <a:endParaRPr sz="1000" b="1" dirty="0">
              <a:solidFill>
                <a:srgbClr val="1A202C"/>
              </a:solidFill>
              <a:latin typeface="Microsoft YaHei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40080" y="4736592"/>
            <a:ext cx="10881360" cy="201168"/>
          </a:xfrm>
          <a:prstGeom prst="roundRect">
            <a:avLst/>
          </a:prstGeom>
          <a:solidFill>
            <a:srgbClr val="222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4769786"/>
            <a:ext cx="10698480" cy="91440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Autofit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800" b="0" dirty="0">
                <a:solidFill>
                  <a:srgbClr val="FFFFFF"/>
                </a:solidFill>
                <a:latin typeface="Microsoft YaHei"/>
              </a:rPr>
              <a:t>/</a:t>
            </a:r>
            <a:r>
              <a:rPr sz="800" b="0" dirty="0" err="1">
                <a:solidFill>
                  <a:srgbClr val="FFFFFF"/>
                </a:solidFill>
                <a:latin typeface="Microsoft YaHei"/>
              </a:rPr>
              <a:t>opsx:archive</a:t>
            </a:r>
            <a:r>
              <a:rPr sz="800" b="0" dirty="0">
                <a:solidFill>
                  <a:srgbClr val="FFFFFF"/>
                </a:solidFill>
                <a:latin typeface="Microsoft YaHei"/>
              </a:rPr>
              <a:t> add-user-list-pagination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992624"/>
            <a:ext cx="10899648" cy="786383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 lnSpcReduction="10000"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880" b="1">
                <a:solidFill>
                  <a:srgbClr val="C4141C"/>
                </a:solidFill>
                <a:latin typeface="Microsoft YaHei"/>
              </a:rPr>
              <a:t>我们在做什么：</a:t>
            </a:r>
          </a:p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840" b="0">
                <a:solidFill>
                  <a:srgbClr val="5F6773"/>
                </a:solidFill>
                <a:latin typeface="Microsoft YaHei"/>
              </a:rPr>
              <a:t>需求通过 Review 并完成交付后，执行归档。OpenSpec 会把完成的 change 移入 archive，并把临时规格合并到长期 specs 中，形成新的“当前系统事实”。</a:t>
            </a:r>
          </a:p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880" b="1">
                <a:solidFill>
                  <a:srgbClr val="C4141C"/>
                </a:solidFill>
                <a:latin typeface="Microsoft YaHei"/>
              </a:rPr>
              <a:t>生成了什么：</a:t>
            </a:r>
          </a:p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840" b="0">
                <a:solidFill>
                  <a:srgbClr val="5F6773"/>
                </a:solidFill>
                <a:latin typeface="Microsoft YaHei"/>
              </a:rPr>
              <a:t>changes/add-user-list-pagination/ 会变成 changes/archive/2026-05-xx-add-user-list-pagination/；而变更后的行为描述会沉淀到 openspec/specs/user-list/spec.md 中。</a:t>
            </a:r>
          </a:p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880" b="1">
                <a:solidFill>
                  <a:srgbClr val="C4141C"/>
                </a:solidFill>
                <a:latin typeface="Microsoft YaHei"/>
              </a:rPr>
              <a:t>具体例子：</a:t>
            </a:r>
          </a:p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840" b="0">
                <a:solidFill>
                  <a:srgbClr val="3C424E"/>
                </a:solidFill>
                <a:latin typeface="Microsoft YaHei"/>
              </a:rPr>
              <a:t>这一步像“关闭工单并更新系统说明书”：以后再有人问‘用户列表分页为什么这么设计’，不用翻聊天记录，直接看 archive 和 specs 就能追溯。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2064" y="5943600"/>
            <a:ext cx="11137392" cy="256032"/>
          </a:xfrm>
          <a:prstGeom prst="roundRect">
            <a:avLst/>
          </a:prstGeom>
          <a:solidFill>
            <a:srgbClr val="FFF4F4"/>
          </a:solidFill>
          <a:ln>
            <a:solidFill>
              <a:srgbClr val="EE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13232" y="5993892"/>
            <a:ext cx="10698480" cy="118872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Autofit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800" b="1" dirty="0" err="1">
                <a:solidFill>
                  <a:srgbClr val="C4141C"/>
                </a:solidFill>
                <a:latin typeface="Microsoft YaHei"/>
              </a:rPr>
              <a:t>一句话总结：OpenSpec</a:t>
            </a:r>
            <a:r>
              <a:rPr sz="800" b="1" dirty="0">
                <a:solidFill>
                  <a:srgbClr val="C4141C"/>
                </a:solidFill>
                <a:latin typeface="Microsoft YaHei"/>
              </a:rPr>
              <a:t> </a:t>
            </a:r>
            <a:r>
              <a:rPr sz="800" b="1" dirty="0" err="1">
                <a:solidFill>
                  <a:srgbClr val="C4141C"/>
                </a:solidFill>
                <a:latin typeface="Microsoft YaHei"/>
              </a:rPr>
              <a:t>让需求开发从“一句</a:t>
            </a:r>
            <a:r>
              <a:rPr sz="800" b="1" dirty="0">
                <a:solidFill>
                  <a:srgbClr val="C4141C"/>
                </a:solidFill>
                <a:latin typeface="Microsoft YaHei"/>
              </a:rPr>
              <a:t> Prompt </a:t>
            </a:r>
            <a:r>
              <a:rPr sz="800" b="1" dirty="0" err="1">
                <a:solidFill>
                  <a:srgbClr val="C4141C"/>
                </a:solidFill>
                <a:latin typeface="Microsoft YaHei"/>
              </a:rPr>
              <a:t>直接开写</a:t>
            </a:r>
            <a:r>
              <a:rPr sz="800" b="1" dirty="0">
                <a:solidFill>
                  <a:srgbClr val="C4141C"/>
                </a:solidFill>
                <a:latin typeface="Microsoft YaHei"/>
              </a:rPr>
              <a:t>”，</a:t>
            </a:r>
            <a:r>
              <a:rPr sz="800" b="1" dirty="0" err="1">
                <a:solidFill>
                  <a:srgbClr val="C4141C"/>
                </a:solidFill>
                <a:latin typeface="Microsoft YaHei"/>
              </a:rPr>
              <a:t>变成“先探索</a:t>
            </a:r>
            <a:r>
              <a:rPr sz="800" b="1" dirty="0">
                <a:solidFill>
                  <a:srgbClr val="C4141C"/>
                </a:solidFill>
                <a:latin typeface="Microsoft YaHei"/>
              </a:rPr>
              <a:t> → </a:t>
            </a:r>
            <a:r>
              <a:rPr sz="800" b="1" dirty="0" err="1">
                <a:solidFill>
                  <a:srgbClr val="C4141C"/>
                </a:solidFill>
                <a:latin typeface="Microsoft YaHei"/>
              </a:rPr>
              <a:t>建变更</a:t>
            </a:r>
            <a:r>
              <a:rPr sz="800" b="1" dirty="0">
                <a:solidFill>
                  <a:srgbClr val="C4141C"/>
                </a:solidFill>
                <a:latin typeface="Microsoft YaHei"/>
              </a:rPr>
              <a:t> → </a:t>
            </a:r>
            <a:r>
              <a:rPr sz="800" b="1" dirty="0" err="1">
                <a:solidFill>
                  <a:srgbClr val="C4141C"/>
                </a:solidFill>
                <a:latin typeface="Microsoft YaHei"/>
              </a:rPr>
              <a:t>补规格</a:t>
            </a:r>
            <a:r>
              <a:rPr sz="800" b="1" dirty="0">
                <a:solidFill>
                  <a:srgbClr val="C4141C"/>
                </a:solidFill>
                <a:latin typeface="Microsoft YaHei"/>
              </a:rPr>
              <a:t> → </a:t>
            </a:r>
            <a:r>
              <a:rPr sz="800" b="1" dirty="0" err="1">
                <a:solidFill>
                  <a:srgbClr val="C4141C"/>
                </a:solidFill>
                <a:latin typeface="Microsoft YaHei"/>
              </a:rPr>
              <a:t>再实现</a:t>
            </a:r>
            <a:r>
              <a:rPr sz="800" b="1" dirty="0">
                <a:solidFill>
                  <a:srgbClr val="C4141C"/>
                </a:solidFill>
                <a:latin typeface="Microsoft YaHei"/>
              </a:rPr>
              <a:t> → </a:t>
            </a:r>
            <a:r>
              <a:rPr sz="800" b="1" dirty="0" err="1">
                <a:solidFill>
                  <a:srgbClr val="C4141C"/>
                </a:solidFill>
                <a:latin typeface="Microsoft YaHei"/>
              </a:rPr>
              <a:t>再验证</a:t>
            </a:r>
            <a:r>
              <a:rPr sz="800" b="1" dirty="0">
                <a:solidFill>
                  <a:srgbClr val="C4141C"/>
                </a:solidFill>
                <a:latin typeface="Microsoft YaHei"/>
              </a:rPr>
              <a:t> → </a:t>
            </a:r>
            <a:r>
              <a:rPr sz="800" b="1" dirty="0" err="1">
                <a:solidFill>
                  <a:srgbClr val="C4141C"/>
                </a:solidFill>
                <a:latin typeface="Microsoft YaHei"/>
              </a:rPr>
              <a:t>最后沉淀”的闭环</a:t>
            </a:r>
            <a:r>
              <a:rPr sz="800" b="1" dirty="0">
                <a:solidFill>
                  <a:srgbClr val="C4141C"/>
                </a:solidFill>
                <a:latin typeface="Microsoft YaHei"/>
              </a:rPr>
              <a:t>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76072"/>
            <a:ext cx="384048" cy="32004"/>
          </a:xfrm>
          <a:prstGeom prst="rect">
            <a:avLst/>
          </a:prstGeom>
          <a:solidFill>
            <a:srgbClr val="C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2920" y="6455664"/>
            <a:ext cx="61264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>
                <a:solidFill>
                  <a:srgbClr val="5C6471"/>
                </a:solidFill>
                <a:latin typeface="Microsoft YaHei"/>
              </a:rPr>
              <a:t>本次目标：带大家入门 AI 辅助研发，把工具真正用起来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42248" y="6455664"/>
            <a:ext cx="1133856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80">
                <a:solidFill>
                  <a:srgbClr val="5C6471"/>
                </a:solidFill>
                <a:latin typeface="Microsoft YaHei"/>
              </a:rPr>
              <a:t>2026 年 5 月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104120" y="6464808"/>
            <a:ext cx="9144" cy="128016"/>
          </a:xfrm>
          <a:prstGeom prst="rect">
            <a:avLst/>
          </a:prstGeom>
          <a:solidFill>
            <a:srgbClr val="D7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9568" y="6382512"/>
            <a:ext cx="266315" cy="20116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552176" y="6437376"/>
            <a:ext cx="758952" cy="1280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0" b="1">
                <a:solidFill>
                  <a:srgbClr val="1A202C"/>
                </a:solidFill>
                <a:latin typeface="Arial"/>
              </a:rPr>
              <a:t>HUAWEI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86384" y="1609344"/>
            <a:ext cx="1828800" cy="182880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878" b="1">
                <a:solidFill>
                  <a:srgbClr val="C4141C"/>
                </a:solidFill>
                <a:latin typeface="Microsoft YaHei"/>
              </a:rPr>
              <a:t>SECTION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04672" y="1901952"/>
            <a:ext cx="804672" cy="54864"/>
          </a:xfrm>
          <a:prstGeom prst="rect">
            <a:avLst/>
          </a:prstGeom>
          <a:solidFill>
            <a:srgbClr val="C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86384" y="2139696"/>
            <a:ext cx="6766560" cy="749808"/>
          </a:xfrm>
          <a:prstGeom prst="rect">
            <a:avLst/>
          </a:prstGeom>
          <a:noFill/>
        </p:spPr>
        <p:txBody>
          <a:bodyPr wrap="square" lIns="25603" tIns="25603" rIns="25603" bIns="25603" anchor="t">
            <a:normAutofit fontScale="85000" lnSpcReduction="10000"/>
          </a:bodyPr>
          <a:lstStyle/>
          <a:p>
            <a:pPr algn="l">
              <a:lnSpc>
                <a:spcPct val="107000"/>
              </a:lnSpc>
              <a:spcAft>
                <a:spcPts val="120"/>
              </a:spcAft>
            </a:pPr>
            <a:r>
              <a:rPr sz="3100" b="1">
                <a:solidFill>
                  <a:srgbClr val="1A202C"/>
                </a:solidFill>
                <a:latin typeface="Microsoft YaHei"/>
              </a:rPr>
              <a:t>第四部分｜赋能总结：价值、误区与拥抱方式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54096"/>
            <a:ext cx="7863840" cy="310896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1644" b="0">
                <a:solidFill>
                  <a:srgbClr val="5F6773"/>
                </a:solidFill>
                <a:latin typeface="Microsoft YaHei"/>
              </a:rPr>
              <a:t>让 AI 多干活，但别让 AI 独自拍板；让 AI 提效率，但别让 AI 替你负责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49640" y="2011680"/>
            <a:ext cx="411480" cy="164592"/>
          </a:xfrm>
          <a:prstGeom prst="round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549640" y="2606040"/>
            <a:ext cx="685800" cy="164592"/>
          </a:xfrm>
          <a:prstGeom prst="roundRect">
            <a:avLst/>
          </a:prstGeom>
          <a:solidFill>
            <a:srgbClr val="C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549640" y="3200400"/>
            <a:ext cx="1051560" cy="164592"/>
          </a:xfrm>
          <a:prstGeom prst="round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046720" y="4224528"/>
            <a:ext cx="2560320" cy="457200"/>
          </a:xfrm>
          <a:prstGeom prst="roundRect">
            <a:avLst/>
          </a:prstGeom>
          <a:solidFill>
            <a:srgbClr val="FFF4F4"/>
          </a:solidFill>
          <a:ln>
            <a:solidFill>
              <a:srgbClr val="EE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02752" y="4370832"/>
            <a:ext cx="2057400" cy="109728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 fontScale="92500" lnSpcReduction="20000"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638" b="1">
                <a:solidFill>
                  <a:srgbClr val="C4141C"/>
                </a:solidFill>
                <a:latin typeface="Microsoft YaHei"/>
              </a:rPr>
              <a:t>从知识到流程，从工具到方法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55664"/>
            <a:ext cx="61264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>
                <a:solidFill>
                  <a:srgbClr val="5C6471"/>
                </a:solidFill>
                <a:latin typeface="Microsoft YaHei"/>
              </a:rPr>
              <a:t>本次目标：带大家入门 AI 辅助研发，把工具真正用起来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42248" y="6455664"/>
            <a:ext cx="1133856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80">
                <a:solidFill>
                  <a:srgbClr val="5C6471"/>
                </a:solidFill>
                <a:latin typeface="Microsoft YaHei"/>
              </a:rPr>
              <a:t>2026 年 5 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104120" y="6464808"/>
            <a:ext cx="9144" cy="128016"/>
          </a:xfrm>
          <a:prstGeom prst="rect">
            <a:avLst/>
          </a:prstGeom>
          <a:solidFill>
            <a:srgbClr val="D7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9568" y="6382512"/>
            <a:ext cx="266315" cy="201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552176" y="6437376"/>
            <a:ext cx="758952" cy="1280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0" b="1">
                <a:solidFill>
                  <a:srgbClr val="1A202C"/>
                </a:solidFill>
                <a:latin typeface="Arial"/>
              </a:rPr>
              <a:t>HUAWEI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064" y="128016"/>
            <a:ext cx="11064240" cy="292608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1642" b="1" dirty="0" err="1">
                <a:solidFill>
                  <a:srgbClr val="1A202C"/>
                </a:solidFill>
                <a:latin typeface="Microsoft YaHei"/>
              </a:rPr>
              <a:t>如何看待</a:t>
            </a:r>
            <a:r>
              <a:rPr sz="1642" b="1" dirty="0">
                <a:solidFill>
                  <a:srgbClr val="1A202C"/>
                </a:solidFill>
                <a:latin typeface="Microsoft YaHei"/>
              </a:rPr>
              <a:t> AI </a:t>
            </a:r>
            <a:r>
              <a:rPr sz="1642" b="1" dirty="0" err="1">
                <a:solidFill>
                  <a:srgbClr val="1A202C"/>
                </a:solidFill>
                <a:latin typeface="Microsoft YaHei"/>
              </a:rPr>
              <a:t>辅助研发：能力放大器，而不是自动驾驶</a:t>
            </a:r>
            <a:endParaRPr sz="1642" b="1" dirty="0">
              <a:solidFill>
                <a:srgbClr val="1A202C"/>
              </a:solidFill>
              <a:latin typeface="Microsoft YaHe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0352" y="493776"/>
            <a:ext cx="932688" cy="41148"/>
          </a:xfrm>
          <a:prstGeom prst="rect">
            <a:avLst/>
          </a:prstGeom>
          <a:solidFill>
            <a:srgbClr val="C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12064" y="585216"/>
            <a:ext cx="11137392" cy="329184"/>
          </a:xfrm>
          <a:prstGeom prst="roundRect">
            <a:avLst/>
          </a:prstGeom>
          <a:solidFill>
            <a:srgbClr val="FAFBFC"/>
          </a:solidFill>
          <a:ln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658368"/>
            <a:ext cx="10698480" cy="128016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Autofit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1000" b="1" dirty="0" err="1">
                <a:solidFill>
                  <a:srgbClr val="C4141C"/>
                </a:solidFill>
                <a:latin typeface="Microsoft YaHei"/>
              </a:rPr>
              <a:t>核心观点：AI</a:t>
            </a:r>
            <a:r>
              <a:rPr sz="1000" b="1" dirty="0">
                <a:solidFill>
                  <a:srgbClr val="C4141C"/>
                </a:solidFill>
                <a:latin typeface="Microsoft YaHei"/>
              </a:rPr>
              <a:t> 的价值不是替我们“</a:t>
            </a:r>
            <a:r>
              <a:rPr sz="1000" b="1" dirty="0" err="1">
                <a:solidFill>
                  <a:srgbClr val="C4141C"/>
                </a:solidFill>
                <a:latin typeface="Microsoft YaHei"/>
              </a:rPr>
              <a:t>少思考</a:t>
            </a:r>
            <a:r>
              <a:rPr sz="1000" b="1" dirty="0">
                <a:solidFill>
                  <a:srgbClr val="C4141C"/>
                </a:solidFill>
                <a:latin typeface="Microsoft YaHei"/>
              </a:rPr>
              <a:t>”，</a:t>
            </a:r>
            <a:r>
              <a:rPr sz="1000" b="1" dirty="0" err="1">
                <a:solidFill>
                  <a:srgbClr val="C4141C"/>
                </a:solidFill>
                <a:latin typeface="Microsoft YaHei"/>
              </a:rPr>
              <a:t>而是把重复劳动交给机器，把问题定义、方案判断、质量把关留给人</a:t>
            </a:r>
            <a:r>
              <a:rPr sz="1000" b="1" dirty="0">
                <a:solidFill>
                  <a:srgbClr val="C4141C"/>
                </a:solidFill>
                <a:latin typeface="Microsoft YaHei"/>
              </a:rPr>
              <a:t>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" y="1024128"/>
            <a:ext cx="5449824" cy="22311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124712"/>
            <a:ext cx="603504" cy="228600"/>
          </a:xfrm>
          <a:prstGeom prst="roundRect">
            <a:avLst/>
          </a:prstGeom>
          <a:solidFill>
            <a:srgbClr val="FFF4F4"/>
          </a:solidFill>
          <a:ln>
            <a:solidFill>
              <a:srgbClr val="ECAC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8660" y="1175004"/>
            <a:ext cx="457200" cy="91440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Autofit/>
          </a:bodyPr>
          <a:lstStyle/>
          <a:p>
            <a:pPr algn="ctr">
              <a:lnSpc>
                <a:spcPct val="102000"/>
              </a:lnSpc>
              <a:spcAft>
                <a:spcPts val="40"/>
              </a:spcAft>
            </a:pPr>
            <a:r>
              <a:rPr sz="1050" b="1" dirty="0" err="1">
                <a:solidFill>
                  <a:srgbClr val="C4141C"/>
                </a:solidFill>
                <a:latin typeface="Microsoft YaHei"/>
              </a:rPr>
              <a:t>价值</a:t>
            </a:r>
            <a:endParaRPr sz="1050" b="1" dirty="0">
              <a:solidFill>
                <a:srgbClr val="C4141C"/>
              </a:solidFill>
              <a:latin typeface="Microsoft YaHe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53312" y="1115568"/>
            <a:ext cx="4498848" cy="164592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Autofit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1200" b="1" dirty="0">
                <a:solidFill>
                  <a:srgbClr val="1A202C"/>
                </a:solidFill>
                <a:latin typeface="Microsoft YaHei"/>
              </a:rPr>
              <a:t>AI </a:t>
            </a:r>
            <a:r>
              <a:rPr sz="1200" b="1" dirty="0" err="1">
                <a:solidFill>
                  <a:srgbClr val="1A202C"/>
                </a:solidFill>
                <a:latin typeface="Microsoft YaHei"/>
              </a:rPr>
              <a:t>能为研发带来什么</a:t>
            </a:r>
            <a:r>
              <a:rPr sz="1200" b="1" dirty="0">
                <a:solidFill>
                  <a:srgbClr val="1A202C"/>
                </a:solidFill>
                <a:latin typeface="Microsoft YaHei"/>
              </a:rPr>
              <a:t>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542580"/>
            <a:ext cx="5193792" cy="1350932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/>
          </a:bodyPr>
          <a:lstStyle/>
          <a:p>
            <a:pPr algn="l">
              <a:lnSpc>
                <a:spcPct val="150000"/>
              </a:lnSpc>
              <a:spcAft>
                <a:spcPts val="40"/>
              </a:spcAft>
            </a:pPr>
            <a:r>
              <a:rPr sz="1000" b="0" dirty="0">
                <a:solidFill>
                  <a:srgbClr val="5F6773"/>
                </a:solidFill>
                <a:latin typeface="Microsoft YaHei"/>
              </a:rPr>
              <a:t>• </a:t>
            </a:r>
            <a:r>
              <a:rPr sz="1000" b="0" dirty="0" err="1">
                <a:solidFill>
                  <a:srgbClr val="5F6773"/>
                </a:solidFill>
                <a:latin typeface="Microsoft YaHei"/>
              </a:rPr>
              <a:t>降低重复劳动：生成样板代码、补单测、写</a:t>
            </a:r>
            <a:r>
              <a:rPr sz="1000" b="0" dirty="0">
                <a:solidFill>
                  <a:srgbClr val="5F6773"/>
                </a:solidFill>
                <a:latin typeface="Microsoft YaHei"/>
              </a:rPr>
              <a:t> PR </a:t>
            </a:r>
            <a:r>
              <a:rPr sz="1000" b="0" dirty="0" err="1">
                <a:solidFill>
                  <a:srgbClr val="5F6773"/>
                </a:solidFill>
                <a:latin typeface="Microsoft YaHei"/>
              </a:rPr>
              <a:t>描述、整理日志分析</a:t>
            </a:r>
            <a:r>
              <a:rPr sz="1000" b="0" dirty="0">
                <a:solidFill>
                  <a:srgbClr val="5F6773"/>
                </a:solidFill>
                <a:latin typeface="Microsoft YaHei"/>
              </a:rPr>
              <a:t>。</a:t>
            </a:r>
          </a:p>
          <a:p>
            <a:pPr algn="l">
              <a:lnSpc>
                <a:spcPct val="150000"/>
              </a:lnSpc>
              <a:spcAft>
                <a:spcPts val="40"/>
              </a:spcAft>
            </a:pPr>
            <a:r>
              <a:rPr sz="1000" b="0" dirty="0">
                <a:solidFill>
                  <a:srgbClr val="5F6773"/>
                </a:solidFill>
                <a:latin typeface="Microsoft YaHei"/>
              </a:rPr>
              <a:t>• </a:t>
            </a:r>
            <a:r>
              <a:rPr sz="1000" b="0" dirty="0" err="1">
                <a:solidFill>
                  <a:srgbClr val="5F6773"/>
                </a:solidFill>
                <a:latin typeface="Microsoft YaHei"/>
              </a:rPr>
              <a:t>提升理解效率：快速梳理陌生模块职责、核心入口、调用链和风险点</a:t>
            </a:r>
            <a:r>
              <a:rPr sz="1000" b="0" dirty="0">
                <a:solidFill>
                  <a:srgbClr val="5F6773"/>
                </a:solidFill>
                <a:latin typeface="Microsoft YaHei"/>
              </a:rPr>
              <a:t>。</a:t>
            </a:r>
          </a:p>
          <a:p>
            <a:pPr algn="l">
              <a:lnSpc>
                <a:spcPct val="150000"/>
              </a:lnSpc>
              <a:spcAft>
                <a:spcPts val="40"/>
              </a:spcAft>
            </a:pPr>
            <a:r>
              <a:rPr sz="1000" b="0" dirty="0">
                <a:solidFill>
                  <a:srgbClr val="5F6773"/>
                </a:solidFill>
                <a:latin typeface="Microsoft YaHei"/>
              </a:rPr>
              <a:t>• </a:t>
            </a:r>
            <a:r>
              <a:rPr sz="1000" b="0" dirty="0" err="1">
                <a:solidFill>
                  <a:srgbClr val="5F6773"/>
                </a:solidFill>
                <a:latin typeface="Microsoft YaHei"/>
              </a:rPr>
              <a:t>前置质量检查：帮助发现边界条件、异常分支、兼容性影响和测试遗漏</a:t>
            </a:r>
            <a:r>
              <a:rPr sz="1000" b="0" dirty="0">
                <a:solidFill>
                  <a:srgbClr val="5F6773"/>
                </a:solidFill>
                <a:latin typeface="Microsoft YaHei"/>
              </a:rPr>
              <a:t>。</a:t>
            </a:r>
          </a:p>
          <a:p>
            <a:pPr algn="l">
              <a:lnSpc>
                <a:spcPct val="150000"/>
              </a:lnSpc>
              <a:spcAft>
                <a:spcPts val="40"/>
              </a:spcAft>
            </a:pPr>
            <a:r>
              <a:rPr sz="1000" b="0" dirty="0">
                <a:solidFill>
                  <a:srgbClr val="5F6773"/>
                </a:solidFill>
                <a:latin typeface="Microsoft YaHei"/>
              </a:rPr>
              <a:t>• </a:t>
            </a:r>
            <a:r>
              <a:rPr sz="1000" b="0" dirty="0" err="1">
                <a:solidFill>
                  <a:srgbClr val="5F6773"/>
                </a:solidFill>
                <a:latin typeface="Microsoft YaHei"/>
              </a:rPr>
              <a:t>加速需求闭环：从需求澄清、规格生成、任务拆解到实现、验证、Review</a:t>
            </a:r>
            <a:r>
              <a:rPr sz="1000" b="0" dirty="0">
                <a:solidFill>
                  <a:srgbClr val="5F6773"/>
                </a:solidFill>
                <a:latin typeface="Microsoft YaHei"/>
              </a:rPr>
              <a:t> </a:t>
            </a:r>
            <a:r>
              <a:rPr sz="1000" b="0" dirty="0" err="1">
                <a:solidFill>
                  <a:srgbClr val="5F6773"/>
                </a:solidFill>
                <a:latin typeface="Microsoft YaHei"/>
              </a:rPr>
              <a:t>辅助</a:t>
            </a:r>
            <a:r>
              <a:rPr sz="1000" b="0" dirty="0">
                <a:solidFill>
                  <a:srgbClr val="5F6773"/>
                </a:solidFill>
                <a:latin typeface="Microsoft YaHei"/>
              </a:rPr>
              <a:t>。</a:t>
            </a:r>
          </a:p>
          <a:p>
            <a:pPr algn="l">
              <a:lnSpc>
                <a:spcPct val="150000"/>
              </a:lnSpc>
              <a:spcAft>
                <a:spcPts val="40"/>
              </a:spcAft>
            </a:pPr>
            <a:r>
              <a:rPr sz="1000" b="1" dirty="0">
                <a:solidFill>
                  <a:srgbClr val="C4141C"/>
                </a:solidFill>
                <a:latin typeface="Microsoft YaHei"/>
              </a:rPr>
              <a:t>• </a:t>
            </a:r>
            <a:r>
              <a:rPr sz="1000" b="1" dirty="0" err="1">
                <a:solidFill>
                  <a:srgbClr val="C4141C"/>
                </a:solidFill>
                <a:latin typeface="Microsoft YaHei"/>
              </a:rPr>
              <a:t>本质上：把“机械劳动”压缩，让开发者把精力放回问题定义与工程判断</a:t>
            </a:r>
            <a:r>
              <a:rPr sz="1000" b="1" dirty="0">
                <a:solidFill>
                  <a:srgbClr val="C4141C"/>
                </a:solidFill>
                <a:latin typeface="Microsoft YaHei"/>
              </a:rPr>
              <a:t>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024128"/>
            <a:ext cx="5449824" cy="22311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27648" y="1124712"/>
            <a:ext cx="603504" cy="228600"/>
          </a:xfrm>
          <a:prstGeom prst="roundRect">
            <a:avLst/>
          </a:prstGeom>
          <a:solidFill>
            <a:srgbClr val="FFF4F4"/>
          </a:solidFill>
          <a:ln>
            <a:solidFill>
              <a:srgbClr val="ECAC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96228" y="1175004"/>
            <a:ext cx="457200" cy="91440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Autofit/>
          </a:bodyPr>
          <a:lstStyle/>
          <a:p>
            <a:pPr algn="ctr">
              <a:lnSpc>
                <a:spcPct val="102000"/>
              </a:lnSpc>
              <a:spcAft>
                <a:spcPts val="40"/>
              </a:spcAft>
            </a:pPr>
            <a:r>
              <a:rPr sz="1050" b="1" dirty="0" err="1">
                <a:solidFill>
                  <a:srgbClr val="C4141C"/>
                </a:solidFill>
                <a:latin typeface="Microsoft YaHei"/>
              </a:rPr>
              <a:t>误区</a:t>
            </a:r>
            <a:endParaRPr sz="1050" b="1" dirty="0">
              <a:solidFill>
                <a:srgbClr val="C4141C"/>
              </a:solidFill>
              <a:latin typeface="Microsoft YaHe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040880" y="1115568"/>
            <a:ext cx="4498848" cy="164592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Autofit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1200" b="1" dirty="0">
                <a:solidFill>
                  <a:srgbClr val="1A202C"/>
                </a:solidFill>
                <a:latin typeface="Microsoft YaHei"/>
              </a:rPr>
              <a:t>对 AI </a:t>
            </a:r>
            <a:r>
              <a:rPr sz="1200" b="1" dirty="0" err="1">
                <a:solidFill>
                  <a:srgbClr val="1A202C"/>
                </a:solidFill>
                <a:latin typeface="Microsoft YaHei"/>
              </a:rPr>
              <a:t>的常见误区</a:t>
            </a:r>
            <a:endParaRPr sz="1200" b="1" dirty="0">
              <a:solidFill>
                <a:srgbClr val="1A202C"/>
              </a:solidFill>
              <a:latin typeface="Microsoft YaHe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45936" y="1511265"/>
            <a:ext cx="5193792" cy="1755648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/>
          </a:bodyPr>
          <a:lstStyle/>
          <a:p>
            <a:pPr algn="l">
              <a:lnSpc>
                <a:spcPct val="150000"/>
              </a:lnSpc>
              <a:spcAft>
                <a:spcPts val="40"/>
              </a:spcAft>
            </a:pPr>
            <a:r>
              <a:rPr sz="1000" b="0" dirty="0">
                <a:solidFill>
                  <a:srgbClr val="5F6773"/>
                </a:solidFill>
                <a:latin typeface="Microsoft YaHei"/>
              </a:rPr>
              <a:t>• “AI </a:t>
            </a:r>
            <a:r>
              <a:rPr sz="1000" b="0" dirty="0" err="1">
                <a:solidFill>
                  <a:srgbClr val="5F6773"/>
                </a:solidFill>
                <a:latin typeface="Microsoft YaHei"/>
              </a:rPr>
              <a:t>会写代码，所以能替代开发者</a:t>
            </a:r>
            <a:r>
              <a:rPr sz="1000" b="0" dirty="0">
                <a:solidFill>
                  <a:srgbClr val="5F6773"/>
                </a:solidFill>
                <a:latin typeface="Microsoft YaHei"/>
              </a:rPr>
              <a:t>”——</a:t>
            </a:r>
            <a:r>
              <a:rPr sz="1000" b="0" dirty="0" err="1">
                <a:solidFill>
                  <a:srgbClr val="5F6773"/>
                </a:solidFill>
                <a:latin typeface="Microsoft YaHei"/>
              </a:rPr>
              <a:t>错。真正难的是需求、边界、责任和长期维护</a:t>
            </a:r>
            <a:r>
              <a:rPr sz="1000" b="0" dirty="0">
                <a:solidFill>
                  <a:srgbClr val="5F6773"/>
                </a:solidFill>
                <a:latin typeface="Microsoft YaHei"/>
              </a:rPr>
              <a:t>。</a:t>
            </a:r>
          </a:p>
          <a:p>
            <a:pPr algn="l">
              <a:lnSpc>
                <a:spcPct val="150000"/>
              </a:lnSpc>
              <a:spcAft>
                <a:spcPts val="40"/>
              </a:spcAft>
            </a:pPr>
            <a:r>
              <a:rPr sz="1000" b="0" dirty="0">
                <a:solidFill>
                  <a:srgbClr val="5F6773"/>
                </a:solidFill>
                <a:latin typeface="Microsoft YaHei"/>
              </a:rPr>
              <a:t>• “AI </a:t>
            </a:r>
            <a:r>
              <a:rPr sz="1000" b="0" dirty="0" err="1">
                <a:solidFill>
                  <a:srgbClr val="5F6773"/>
                </a:solidFill>
                <a:latin typeface="Microsoft YaHei"/>
              </a:rPr>
              <a:t>说得很自信，所以它一定是对的</a:t>
            </a:r>
            <a:r>
              <a:rPr sz="1000" b="0" dirty="0">
                <a:solidFill>
                  <a:srgbClr val="5F6773"/>
                </a:solidFill>
                <a:latin typeface="Microsoft YaHei"/>
              </a:rPr>
              <a:t>”——</a:t>
            </a:r>
            <a:r>
              <a:rPr sz="1000" b="0" dirty="0" err="1">
                <a:solidFill>
                  <a:srgbClr val="5F6773"/>
                </a:solidFill>
                <a:latin typeface="Microsoft YaHei"/>
              </a:rPr>
              <a:t>错。表达流畅，不代表结论可靠</a:t>
            </a:r>
            <a:r>
              <a:rPr sz="1000" b="0" dirty="0">
                <a:solidFill>
                  <a:srgbClr val="5F6773"/>
                </a:solidFill>
                <a:latin typeface="Microsoft YaHei"/>
              </a:rPr>
              <a:t>。</a:t>
            </a:r>
          </a:p>
          <a:p>
            <a:pPr algn="l">
              <a:lnSpc>
                <a:spcPct val="150000"/>
              </a:lnSpc>
              <a:spcAft>
                <a:spcPts val="40"/>
              </a:spcAft>
            </a:pPr>
            <a:r>
              <a:rPr sz="1000" b="0" dirty="0">
                <a:solidFill>
                  <a:srgbClr val="5F6773"/>
                </a:solidFill>
                <a:latin typeface="Microsoft YaHei"/>
              </a:rPr>
              <a:t>• “</a:t>
            </a:r>
            <a:r>
              <a:rPr sz="1000" b="0" dirty="0" err="1">
                <a:solidFill>
                  <a:srgbClr val="5F6773"/>
                </a:solidFill>
                <a:latin typeface="Microsoft YaHei"/>
              </a:rPr>
              <a:t>上下文越多越好</a:t>
            </a:r>
            <a:r>
              <a:rPr sz="1000" b="0" dirty="0">
                <a:solidFill>
                  <a:srgbClr val="5F6773"/>
                </a:solidFill>
                <a:latin typeface="Microsoft YaHei"/>
              </a:rPr>
              <a:t>”——</a:t>
            </a:r>
            <a:r>
              <a:rPr sz="1000" b="0" dirty="0" err="1">
                <a:solidFill>
                  <a:srgbClr val="5F6773"/>
                </a:solidFill>
                <a:latin typeface="Microsoft YaHei"/>
              </a:rPr>
              <a:t>不一定。关键不是喂得多，而是喂得准、喂得相关</a:t>
            </a:r>
            <a:r>
              <a:rPr sz="1000" b="0" dirty="0">
                <a:solidFill>
                  <a:srgbClr val="5F6773"/>
                </a:solidFill>
                <a:latin typeface="Microsoft YaHei"/>
              </a:rPr>
              <a:t>。</a:t>
            </a:r>
          </a:p>
          <a:p>
            <a:pPr algn="l">
              <a:lnSpc>
                <a:spcPct val="150000"/>
              </a:lnSpc>
              <a:spcAft>
                <a:spcPts val="40"/>
              </a:spcAft>
            </a:pPr>
            <a:r>
              <a:rPr sz="1000" b="0" dirty="0">
                <a:solidFill>
                  <a:srgbClr val="5F6773"/>
                </a:solidFill>
                <a:latin typeface="Microsoft YaHei"/>
              </a:rPr>
              <a:t>• “</a:t>
            </a:r>
            <a:r>
              <a:rPr sz="1000" b="0" dirty="0" err="1">
                <a:solidFill>
                  <a:srgbClr val="5F6773"/>
                </a:solidFill>
                <a:latin typeface="Microsoft YaHei"/>
              </a:rPr>
              <a:t>有了</a:t>
            </a:r>
            <a:r>
              <a:rPr sz="1000" b="0" dirty="0">
                <a:solidFill>
                  <a:srgbClr val="5F6773"/>
                </a:solidFill>
                <a:latin typeface="Microsoft YaHei"/>
              </a:rPr>
              <a:t> Agent </a:t>
            </a:r>
            <a:r>
              <a:rPr sz="1000" b="0" dirty="0" err="1">
                <a:solidFill>
                  <a:srgbClr val="5F6773"/>
                </a:solidFill>
                <a:latin typeface="Microsoft YaHei"/>
              </a:rPr>
              <a:t>就能跳过</a:t>
            </a:r>
            <a:r>
              <a:rPr sz="1000" b="0" dirty="0">
                <a:solidFill>
                  <a:srgbClr val="5F6773"/>
                </a:solidFill>
                <a:latin typeface="Microsoft YaHei"/>
              </a:rPr>
              <a:t> Review”——</a:t>
            </a:r>
            <a:r>
              <a:rPr sz="1000" b="0" dirty="0" err="1">
                <a:solidFill>
                  <a:srgbClr val="5F6773"/>
                </a:solidFill>
                <a:latin typeface="Microsoft YaHei"/>
              </a:rPr>
              <a:t>恰恰相反。Agent</a:t>
            </a:r>
            <a:r>
              <a:rPr sz="1000" b="0" dirty="0">
                <a:solidFill>
                  <a:srgbClr val="5F6773"/>
                </a:solidFill>
                <a:latin typeface="Microsoft YaHei"/>
              </a:rPr>
              <a:t> </a:t>
            </a:r>
            <a:r>
              <a:rPr sz="1000" b="0" dirty="0" err="1">
                <a:solidFill>
                  <a:srgbClr val="5F6773"/>
                </a:solidFill>
                <a:latin typeface="Microsoft YaHei"/>
              </a:rPr>
              <a:t>越能执行，越需要边界、测试和人工验收</a:t>
            </a:r>
            <a:r>
              <a:rPr sz="1000" b="0" dirty="0">
                <a:solidFill>
                  <a:srgbClr val="5F6773"/>
                </a:solidFill>
                <a:latin typeface="Microsoft YaHei"/>
              </a:rPr>
              <a:t>。</a:t>
            </a:r>
          </a:p>
          <a:p>
            <a:pPr algn="l">
              <a:lnSpc>
                <a:spcPct val="150000"/>
              </a:lnSpc>
              <a:spcAft>
                <a:spcPts val="40"/>
              </a:spcAft>
            </a:pPr>
            <a:r>
              <a:rPr sz="1000" b="1" dirty="0">
                <a:solidFill>
                  <a:srgbClr val="C4141C"/>
                </a:solidFill>
                <a:latin typeface="Microsoft YaHei"/>
              </a:rPr>
              <a:t>• </a:t>
            </a:r>
            <a:r>
              <a:rPr sz="1000" b="1" dirty="0" err="1">
                <a:solidFill>
                  <a:srgbClr val="C4141C"/>
                </a:solidFill>
                <a:latin typeface="Microsoft YaHei"/>
              </a:rPr>
              <a:t>一句话：AI</a:t>
            </a:r>
            <a:r>
              <a:rPr sz="1000" b="1" dirty="0">
                <a:solidFill>
                  <a:srgbClr val="C4141C"/>
                </a:solidFill>
                <a:latin typeface="Microsoft YaHei"/>
              </a:rPr>
              <a:t> </a:t>
            </a:r>
            <a:r>
              <a:rPr sz="1000" b="1" dirty="0" err="1">
                <a:solidFill>
                  <a:srgbClr val="C4141C"/>
                </a:solidFill>
                <a:latin typeface="Microsoft YaHei"/>
              </a:rPr>
              <a:t>会替代一部分机械动作，但不会替代工程责任</a:t>
            </a:r>
            <a:r>
              <a:rPr sz="1000" b="1" dirty="0">
                <a:solidFill>
                  <a:srgbClr val="C4141C"/>
                </a:solidFill>
                <a:latin typeface="Microsoft YaHei"/>
              </a:rPr>
              <a:t>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" y="3438144"/>
            <a:ext cx="5449824" cy="22311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40080" y="3538727"/>
            <a:ext cx="603504" cy="228600"/>
          </a:xfrm>
          <a:prstGeom prst="roundRect">
            <a:avLst/>
          </a:prstGeom>
          <a:solidFill>
            <a:srgbClr val="FFF4F4"/>
          </a:solidFill>
          <a:ln>
            <a:solidFill>
              <a:srgbClr val="ECAC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8660" y="3589020"/>
            <a:ext cx="457200" cy="91440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Autofit/>
          </a:bodyPr>
          <a:lstStyle/>
          <a:p>
            <a:pPr algn="ctr">
              <a:lnSpc>
                <a:spcPct val="102000"/>
              </a:lnSpc>
              <a:spcAft>
                <a:spcPts val="40"/>
              </a:spcAft>
            </a:pPr>
            <a:r>
              <a:rPr sz="1050" b="1" dirty="0" err="1">
                <a:solidFill>
                  <a:srgbClr val="C4141C"/>
                </a:solidFill>
                <a:latin typeface="Microsoft YaHei"/>
              </a:rPr>
              <a:t>姿势</a:t>
            </a:r>
            <a:endParaRPr sz="1050" b="1" dirty="0">
              <a:solidFill>
                <a:srgbClr val="C4141C"/>
              </a:solidFill>
              <a:latin typeface="Microsoft YaHe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353312" y="3529584"/>
            <a:ext cx="4498848" cy="164592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Autofit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1200" b="1" dirty="0" err="1">
                <a:solidFill>
                  <a:srgbClr val="1A202C"/>
                </a:solidFill>
                <a:latin typeface="Microsoft YaHei"/>
              </a:rPr>
              <a:t>我们应该如何拥抱</a:t>
            </a:r>
            <a:r>
              <a:rPr sz="1200" b="1" dirty="0">
                <a:solidFill>
                  <a:srgbClr val="1A202C"/>
                </a:solidFill>
                <a:latin typeface="Microsoft YaHei"/>
              </a:rPr>
              <a:t> AI？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881439"/>
            <a:ext cx="5193792" cy="1755648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rmAutofit/>
          </a:bodyPr>
          <a:lstStyle/>
          <a:p>
            <a:pPr algn="l">
              <a:lnSpc>
                <a:spcPct val="150000"/>
              </a:lnSpc>
              <a:spcAft>
                <a:spcPts val="40"/>
              </a:spcAft>
            </a:pPr>
            <a:r>
              <a:rPr sz="1000" b="0" dirty="0">
                <a:solidFill>
                  <a:srgbClr val="5F6773"/>
                </a:solidFill>
                <a:latin typeface="Microsoft YaHei"/>
              </a:rPr>
              <a:t>• 把 AI 当“</a:t>
            </a:r>
            <a:r>
              <a:rPr sz="1000" b="0" dirty="0" err="1">
                <a:solidFill>
                  <a:srgbClr val="5F6773"/>
                </a:solidFill>
                <a:latin typeface="Microsoft YaHei"/>
              </a:rPr>
              <a:t>研发搭子</a:t>
            </a:r>
            <a:r>
              <a:rPr sz="1000" b="0" dirty="0">
                <a:solidFill>
                  <a:srgbClr val="5F6773"/>
                </a:solidFill>
                <a:latin typeface="Microsoft YaHei"/>
              </a:rPr>
              <a:t>”，</a:t>
            </a:r>
            <a:r>
              <a:rPr sz="1000" b="0" dirty="0" err="1">
                <a:solidFill>
                  <a:srgbClr val="5F6773"/>
                </a:solidFill>
                <a:latin typeface="Microsoft YaHei"/>
              </a:rPr>
              <a:t>不是外包团队：你仍然是负责人，方向盘还在你手里</a:t>
            </a:r>
            <a:r>
              <a:rPr sz="1000" b="0" dirty="0">
                <a:solidFill>
                  <a:srgbClr val="5F6773"/>
                </a:solidFill>
                <a:latin typeface="Microsoft YaHei"/>
              </a:rPr>
              <a:t>。</a:t>
            </a:r>
          </a:p>
          <a:p>
            <a:pPr algn="l">
              <a:lnSpc>
                <a:spcPct val="150000"/>
              </a:lnSpc>
              <a:spcAft>
                <a:spcPts val="40"/>
              </a:spcAft>
            </a:pPr>
            <a:r>
              <a:rPr sz="1000" b="0" dirty="0">
                <a:solidFill>
                  <a:srgbClr val="5F6773"/>
                </a:solidFill>
                <a:latin typeface="Microsoft YaHei"/>
              </a:rPr>
              <a:t>• </a:t>
            </a:r>
            <a:r>
              <a:rPr sz="1000" b="0" dirty="0" err="1">
                <a:solidFill>
                  <a:srgbClr val="5F6773"/>
                </a:solidFill>
                <a:latin typeface="Microsoft YaHei"/>
              </a:rPr>
              <a:t>先让</a:t>
            </a:r>
            <a:r>
              <a:rPr sz="1000" b="0" dirty="0">
                <a:solidFill>
                  <a:srgbClr val="5F6773"/>
                </a:solidFill>
                <a:latin typeface="Microsoft YaHei"/>
              </a:rPr>
              <a:t> AI </a:t>
            </a:r>
            <a:r>
              <a:rPr sz="1000" b="0" dirty="0" err="1">
                <a:solidFill>
                  <a:srgbClr val="5F6773"/>
                </a:solidFill>
                <a:latin typeface="Microsoft YaHei"/>
              </a:rPr>
              <a:t>分析和计划，再让它执行：先问理解、影响范围、风险点、测试方案，再改代码</a:t>
            </a:r>
            <a:r>
              <a:rPr sz="1000" b="0" dirty="0">
                <a:solidFill>
                  <a:srgbClr val="5F6773"/>
                </a:solidFill>
                <a:latin typeface="Microsoft YaHei"/>
              </a:rPr>
              <a:t>。</a:t>
            </a:r>
          </a:p>
          <a:p>
            <a:pPr algn="l">
              <a:lnSpc>
                <a:spcPct val="150000"/>
              </a:lnSpc>
              <a:spcAft>
                <a:spcPts val="40"/>
              </a:spcAft>
            </a:pPr>
            <a:r>
              <a:rPr sz="1000" b="0" dirty="0">
                <a:solidFill>
                  <a:srgbClr val="5F6773"/>
                </a:solidFill>
                <a:latin typeface="Microsoft YaHei"/>
              </a:rPr>
              <a:t>• </a:t>
            </a:r>
            <a:r>
              <a:rPr sz="1000" b="0" dirty="0" err="1">
                <a:solidFill>
                  <a:srgbClr val="5F6773"/>
                </a:solidFill>
                <a:latin typeface="Microsoft YaHei"/>
              </a:rPr>
              <a:t>把需求说清楚，把上下文给准确：目标、背景、范围、约束、验收标准，缺一不可</a:t>
            </a:r>
            <a:r>
              <a:rPr sz="1000" b="0" dirty="0">
                <a:solidFill>
                  <a:srgbClr val="5F6773"/>
                </a:solidFill>
                <a:latin typeface="Microsoft YaHei"/>
              </a:rPr>
              <a:t>。</a:t>
            </a:r>
          </a:p>
          <a:p>
            <a:pPr algn="l">
              <a:lnSpc>
                <a:spcPct val="150000"/>
              </a:lnSpc>
              <a:spcAft>
                <a:spcPts val="40"/>
              </a:spcAft>
            </a:pPr>
            <a:r>
              <a:rPr sz="1000" b="0" dirty="0">
                <a:solidFill>
                  <a:srgbClr val="5F6773"/>
                </a:solidFill>
                <a:latin typeface="Microsoft YaHei"/>
              </a:rPr>
              <a:t>• </a:t>
            </a:r>
            <a:r>
              <a:rPr sz="1000" b="0" dirty="0" err="1">
                <a:solidFill>
                  <a:srgbClr val="5F6773"/>
                </a:solidFill>
                <a:latin typeface="Microsoft YaHei"/>
              </a:rPr>
              <a:t>用工程机制驯服</a:t>
            </a:r>
            <a:r>
              <a:rPr sz="1000" b="0" dirty="0">
                <a:solidFill>
                  <a:srgbClr val="5F6773"/>
                </a:solidFill>
                <a:latin typeface="Microsoft YaHei"/>
              </a:rPr>
              <a:t> </a:t>
            </a:r>
            <a:r>
              <a:rPr sz="1000" b="0" dirty="0" err="1">
                <a:solidFill>
                  <a:srgbClr val="5F6773"/>
                </a:solidFill>
                <a:latin typeface="Microsoft YaHei"/>
              </a:rPr>
              <a:t>AI：AGENTS.md、OpenSpec、tasks.md、单测、Lint、Review、Guardrails</a:t>
            </a:r>
            <a:r>
              <a:rPr sz="1000" b="0" dirty="0">
                <a:solidFill>
                  <a:srgbClr val="5F6773"/>
                </a:solidFill>
                <a:latin typeface="Microsoft YaHei"/>
              </a:rPr>
              <a:t>。</a:t>
            </a:r>
          </a:p>
          <a:p>
            <a:pPr algn="l">
              <a:lnSpc>
                <a:spcPct val="150000"/>
              </a:lnSpc>
              <a:spcAft>
                <a:spcPts val="40"/>
              </a:spcAft>
            </a:pPr>
            <a:r>
              <a:rPr sz="1000" b="1" dirty="0">
                <a:solidFill>
                  <a:srgbClr val="C4141C"/>
                </a:solidFill>
                <a:latin typeface="Microsoft YaHei"/>
              </a:rPr>
              <a:t>• </a:t>
            </a:r>
            <a:r>
              <a:rPr sz="1000" b="1" dirty="0" err="1">
                <a:solidFill>
                  <a:srgbClr val="C4141C"/>
                </a:solidFill>
                <a:latin typeface="Microsoft YaHei"/>
              </a:rPr>
              <a:t>真正会用</a:t>
            </a:r>
            <a:r>
              <a:rPr sz="1000" b="1" dirty="0">
                <a:solidFill>
                  <a:srgbClr val="C4141C"/>
                </a:solidFill>
                <a:latin typeface="Microsoft YaHei"/>
              </a:rPr>
              <a:t> AI </a:t>
            </a:r>
            <a:r>
              <a:rPr sz="1000" b="1" dirty="0" err="1">
                <a:solidFill>
                  <a:srgbClr val="C4141C"/>
                </a:solidFill>
                <a:latin typeface="Microsoft YaHei"/>
              </a:rPr>
              <a:t>的开发者，是更会定义问题、组织上下文、验证结果的人</a:t>
            </a:r>
            <a:r>
              <a:rPr sz="1000" b="1" dirty="0">
                <a:solidFill>
                  <a:srgbClr val="C4141C"/>
                </a:solidFill>
                <a:latin typeface="Microsoft YaHei"/>
              </a:rPr>
              <a:t>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3438144"/>
            <a:ext cx="5449824" cy="2231136"/>
          </a:xfrm>
          <a:prstGeom prst="roundRect">
            <a:avLst/>
          </a:prstGeom>
          <a:solidFill>
            <a:srgbClr val="FFF9EE"/>
          </a:solidFill>
          <a:ln w="12700">
            <a:solidFill>
              <a:srgbClr val="F0D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45936" y="3538728"/>
            <a:ext cx="5074920" cy="155448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Autofit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1200" b="1" dirty="0">
                <a:solidFill>
                  <a:srgbClr val="1A202C"/>
                </a:solidFill>
                <a:latin typeface="Microsoft YaHei"/>
              </a:rPr>
              <a:t>AI </a:t>
            </a:r>
            <a:r>
              <a:rPr sz="1200" b="1" dirty="0" err="1">
                <a:solidFill>
                  <a:srgbClr val="1A202C"/>
                </a:solidFill>
                <a:latin typeface="Microsoft YaHei"/>
              </a:rPr>
              <a:t>并不是完全可信正确的</a:t>
            </a:r>
            <a:endParaRPr sz="1200" b="1" dirty="0">
              <a:solidFill>
                <a:srgbClr val="1A202C"/>
              </a:solidFill>
              <a:latin typeface="Microsoft YaHe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345936" y="3878058"/>
            <a:ext cx="5084064" cy="1335024"/>
          </a:xfrm>
          <a:prstGeom prst="rect">
            <a:avLst/>
          </a:prstGeom>
          <a:noFill/>
        </p:spPr>
        <p:txBody>
          <a:bodyPr wrap="square" lIns="25603" tIns="25603" rIns="25603" bIns="25603" anchor="t">
            <a:normAutofit fontScale="92500"/>
          </a:bodyPr>
          <a:lstStyle/>
          <a:p>
            <a:pPr algn="l">
              <a:lnSpc>
                <a:spcPct val="150000"/>
              </a:lnSpc>
              <a:spcAft>
                <a:spcPts val="120"/>
              </a:spcAft>
            </a:pPr>
            <a:r>
              <a:rPr sz="1000" b="1" dirty="0" err="1">
                <a:solidFill>
                  <a:srgbClr val="C4141C"/>
                </a:solidFill>
                <a:latin typeface="Microsoft YaHei"/>
              </a:rPr>
              <a:t>互联网笑话：AI</a:t>
            </a:r>
            <a:r>
              <a:rPr sz="1000" b="1" dirty="0">
                <a:solidFill>
                  <a:srgbClr val="C4141C"/>
                </a:solidFill>
                <a:latin typeface="Microsoft YaHei"/>
              </a:rPr>
              <a:t> </a:t>
            </a:r>
            <a:r>
              <a:rPr sz="1000" b="1" dirty="0" err="1">
                <a:solidFill>
                  <a:srgbClr val="C4141C"/>
                </a:solidFill>
                <a:latin typeface="Microsoft YaHei"/>
              </a:rPr>
              <a:t>有时候像一个刚入职三天、但语气像</a:t>
            </a:r>
            <a:r>
              <a:rPr sz="1000" b="1" dirty="0">
                <a:solidFill>
                  <a:srgbClr val="C4141C"/>
                </a:solidFill>
                <a:latin typeface="Microsoft YaHei"/>
              </a:rPr>
              <a:t> CTO </a:t>
            </a:r>
            <a:r>
              <a:rPr sz="1000" b="1" dirty="0" err="1">
                <a:solidFill>
                  <a:srgbClr val="C4141C"/>
                </a:solidFill>
                <a:latin typeface="Microsoft YaHei"/>
              </a:rPr>
              <a:t>的实习生</a:t>
            </a:r>
            <a:r>
              <a:rPr sz="1000" b="1" dirty="0">
                <a:solidFill>
                  <a:srgbClr val="C4141C"/>
                </a:solidFill>
                <a:latin typeface="Microsoft YaHei"/>
              </a:rPr>
              <a:t>。</a:t>
            </a:r>
          </a:p>
          <a:p>
            <a:pPr algn="l">
              <a:lnSpc>
                <a:spcPct val="150000"/>
              </a:lnSpc>
              <a:spcAft>
                <a:spcPts val="120"/>
              </a:spcAft>
            </a:pPr>
            <a:r>
              <a:rPr sz="1000" b="0" dirty="0" err="1">
                <a:solidFill>
                  <a:srgbClr val="3C424E"/>
                </a:solidFill>
                <a:latin typeface="Microsoft YaHei"/>
              </a:rPr>
              <a:t>另一个经典说法：AI</a:t>
            </a:r>
            <a:r>
              <a:rPr sz="1000" b="0" dirty="0">
                <a:solidFill>
                  <a:srgbClr val="3C424E"/>
                </a:solidFill>
                <a:latin typeface="Microsoft YaHei"/>
              </a:rPr>
              <a:t> </a:t>
            </a:r>
            <a:r>
              <a:rPr sz="1000" b="0" dirty="0" err="1">
                <a:solidFill>
                  <a:srgbClr val="3C424E"/>
                </a:solidFill>
                <a:latin typeface="Microsoft YaHei"/>
              </a:rPr>
              <a:t>最大的问题不是它会错，而是它错的时候也很像对的</a:t>
            </a:r>
            <a:r>
              <a:rPr sz="1000" b="0" dirty="0">
                <a:solidFill>
                  <a:srgbClr val="3C424E"/>
                </a:solidFill>
                <a:latin typeface="Microsoft YaHei"/>
              </a:rPr>
              <a:t>。</a:t>
            </a:r>
          </a:p>
          <a:p>
            <a:pPr algn="l">
              <a:lnSpc>
                <a:spcPct val="150000"/>
              </a:lnSpc>
              <a:spcAft>
                <a:spcPts val="120"/>
              </a:spcAft>
            </a:pPr>
            <a:r>
              <a:rPr sz="1000" b="1" dirty="0" err="1">
                <a:solidFill>
                  <a:srgbClr val="1A202C"/>
                </a:solidFill>
                <a:latin typeface="Microsoft YaHei"/>
              </a:rPr>
              <a:t>因此要记住</a:t>
            </a:r>
            <a:r>
              <a:rPr sz="1000" b="1" dirty="0">
                <a:solidFill>
                  <a:srgbClr val="1A202C"/>
                </a:solidFill>
                <a:latin typeface="Microsoft YaHei"/>
              </a:rPr>
              <a:t>：</a:t>
            </a:r>
          </a:p>
          <a:p>
            <a:pPr algn="l">
              <a:lnSpc>
                <a:spcPct val="150000"/>
              </a:lnSpc>
              <a:spcAft>
                <a:spcPts val="120"/>
              </a:spcAft>
            </a:pPr>
            <a:r>
              <a:rPr sz="1000" b="0" dirty="0">
                <a:solidFill>
                  <a:srgbClr val="5F6773"/>
                </a:solidFill>
                <a:latin typeface="Microsoft YaHei"/>
              </a:rPr>
              <a:t>• AI </a:t>
            </a:r>
            <a:r>
              <a:rPr sz="1000" b="0" dirty="0" err="1">
                <a:solidFill>
                  <a:srgbClr val="5F6773"/>
                </a:solidFill>
                <a:latin typeface="Microsoft YaHei"/>
              </a:rPr>
              <a:t>输出的是建议，不是结论</a:t>
            </a:r>
            <a:endParaRPr sz="1000" b="0" dirty="0">
              <a:solidFill>
                <a:srgbClr val="5F6773"/>
              </a:solidFill>
              <a:latin typeface="Microsoft YaHei"/>
            </a:endParaRPr>
          </a:p>
          <a:p>
            <a:pPr algn="l">
              <a:lnSpc>
                <a:spcPct val="150000"/>
              </a:lnSpc>
              <a:spcAft>
                <a:spcPts val="120"/>
              </a:spcAft>
            </a:pPr>
            <a:r>
              <a:rPr sz="1000" b="0" dirty="0">
                <a:solidFill>
                  <a:srgbClr val="5F6773"/>
                </a:solidFill>
                <a:latin typeface="Microsoft YaHei"/>
              </a:rPr>
              <a:t>• AI </a:t>
            </a:r>
            <a:r>
              <a:rPr sz="1000" b="0" dirty="0" err="1">
                <a:solidFill>
                  <a:srgbClr val="5F6773"/>
                </a:solidFill>
                <a:latin typeface="Microsoft YaHei"/>
              </a:rPr>
              <a:t>生成的是候选方案，不是最终方案</a:t>
            </a:r>
            <a:endParaRPr sz="1000" b="0" dirty="0">
              <a:solidFill>
                <a:srgbClr val="5F6773"/>
              </a:solidFill>
              <a:latin typeface="Microsoft YaHei"/>
            </a:endParaRPr>
          </a:p>
          <a:p>
            <a:pPr algn="l">
              <a:lnSpc>
                <a:spcPct val="150000"/>
              </a:lnSpc>
              <a:spcAft>
                <a:spcPts val="120"/>
              </a:spcAft>
            </a:pPr>
            <a:r>
              <a:rPr sz="1000" b="0" dirty="0">
                <a:solidFill>
                  <a:srgbClr val="5F6773"/>
                </a:solidFill>
                <a:latin typeface="Microsoft YaHei"/>
              </a:rPr>
              <a:t>• AI </a:t>
            </a:r>
            <a:r>
              <a:rPr sz="1000" b="0" dirty="0" err="1">
                <a:solidFill>
                  <a:srgbClr val="5F6773"/>
                </a:solidFill>
                <a:latin typeface="Microsoft YaHei"/>
              </a:rPr>
              <a:t>写出的代码，需要测试、Review</a:t>
            </a:r>
            <a:r>
              <a:rPr sz="1000" b="0" dirty="0">
                <a:solidFill>
                  <a:srgbClr val="5F6773"/>
                </a:solidFill>
                <a:latin typeface="Microsoft YaHei"/>
              </a:rPr>
              <a:t> </a:t>
            </a:r>
            <a:r>
              <a:rPr sz="1000" b="0" dirty="0" err="1">
                <a:solidFill>
                  <a:srgbClr val="5F6773"/>
                </a:solidFill>
                <a:latin typeface="Microsoft YaHei"/>
              </a:rPr>
              <a:t>和人类判断</a:t>
            </a:r>
            <a:endParaRPr sz="1000" b="0" dirty="0">
              <a:solidFill>
                <a:srgbClr val="5F6773"/>
              </a:solidFill>
              <a:latin typeface="Microsoft YaHei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12064" y="5815584"/>
            <a:ext cx="11137392" cy="310896"/>
          </a:xfrm>
          <a:prstGeom prst="roundRect">
            <a:avLst/>
          </a:prstGeom>
          <a:solidFill>
            <a:srgbClr val="FFF4F4"/>
          </a:solidFill>
          <a:ln>
            <a:solidFill>
              <a:srgbClr val="EE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t"/>
          <a:lstStyle/>
          <a:p>
            <a:pPr algn="ctr">
              <a:lnSpc>
                <a:spcPct val="96000"/>
              </a:lnSpc>
              <a:spcAft>
                <a:spcPts val="50"/>
              </a:spcAft>
            </a:pPr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3232" y="5879592"/>
            <a:ext cx="10698480" cy="128016"/>
          </a:xfrm>
          <a:prstGeom prst="rect">
            <a:avLst/>
          </a:prstGeom>
          <a:noFill/>
        </p:spPr>
        <p:txBody>
          <a:bodyPr wrap="square" lIns="16459" tIns="16459" rIns="16459" bIns="16459" anchor="t">
            <a:noAutofit/>
          </a:bodyPr>
          <a:lstStyle/>
          <a:p>
            <a:pPr algn="l">
              <a:lnSpc>
                <a:spcPct val="102000"/>
              </a:lnSpc>
              <a:spcAft>
                <a:spcPts val="40"/>
              </a:spcAft>
            </a:pPr>
            <a:r>
              <a:rPr sz="1000" b="1" dirty="0" err="1">
                <a:solidFill>
                  <a:srgbClr val="C4141C"/>
                </a:solidFill>
                <a:latin typeface="Microsoft YaHei"/>
              </a:rPr>
              <a:t>结论：让</a:t>
            </a:r>
            <a:r>
              <a:rPr sz="1000" b="1" dirty="0">
                <a:solidFill>
                  <a:srgbClr val="C4141C"/>
                </a:solidFill>
                <a:latin typeface="Microsoft YaHei"/>
              </a:rPr>
              <a:t> AI </a:t>
            </a:r>
            <a:r>
              <a:rPr sz="1000" b="1" dirty="0" err="1">
                <a:solidFill>
                  <a:srgbClr val="C4141C"/>
                </a:solidFill>
                <a:latin typeface="Microsoft YaHei"/>
              </a:rPr>
              <a:t>多干活，但别让</a:t>
            </a:r>
            <a:r>
              <a:rPr sz="1000" b="1" dirty="0">
                <a:solidFill>
                  <a:srgbClr val="C4141C"/>
                </a:solidFill>
                <a:latin typeface="Microsoft YaHei"/>
              </a:rPr>
              <a:t> AI </a:t>
            </a:r>
            <a:r>
              <a:rPr sz="1000" b="1" dirty="0" err="1">
                <a:solidFill>
                  <a:srgbClr val="C4141C"/>
                </a:solidFill>
                <a:latin typeface="Microsoft YaHei"/>
              </a:rPr>
              <a:t>独自拍板；让</a:t>
            </a:r>
            <a:r>
              <a:rPr sz="1000" b="1" dirty="0">
                <a:solidFill>
                  <a:srgbClr val="C4141C"/>
                </a:solidFill>
                <a:latin typeface="Microsoft YaHei"/>
              </a:rPr>
              <a:t> AI </a:t>
            </a:r>
            <a:r>
              <a:rPr sz="1000" b="1" dirty="0" err="1">
                <a:solidFill>
                  <a:srgbClr val="C4141C"/>
                </a:solidFill>
                <a:latin typeface="Microsoft YaHei"/>
              </a:rPr>
              <a:t>提效率，但别让</a:t>
            </a:r>
            <a:r>
              <a:rPr sz="1000" b="1" dirty="0">
                <a:solidFill>
                  <a:srgbClr val="C4141C"/>
                </a:solidFill>
                <a:latin typeface="Microsoft YaHei"/>
              </a:rPr>
              <a:t> AI </a:t>
            </a:r>
            <a:r>
              <a:rPr sz="1000" b="1" dirty="0" err="1">
                <a:solidFill>
                  <a:srgbClr val="C4141C"/>
                </a:solidFill>
                <a:latin typeface="Microsoft YaHei"/>
              </a:rPr>
              <a:t>替你负责</a:t>
            </a:r>
            <a:r>
              <a:rPr sz="1000" b="1" dirty="0">
                <a:solidFill>
                  <a:srgbClr val="C4141C"/>
                </a:solidFill>
                <a:latin typeface="Microsoft YaHei"/>
              </a:rPr>
              <a:t>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76072"/>
            <a:ext cx="384048" cy="32004"/>
          </a:xfrm>
          <a:prstGeom prst="rect">
            <a:avLst/>
          </a:prstGeom>
          <a:solidFill>
            <a:srgbClr val="C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6455664"/>
            <a:ext cx="61264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>
                <a:solidFill>
                  <a:srgbClr val="5C6471"/>
                </a:solidFill>
                <a:latin typeface="Microsoft YaHei"/>
              </a:rPr>
              <a:t>本次目标：带大家入门 AI 辅助研发，把工具真正用起来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42248" y="6455664"/>
            <a:ext cx="1133856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80">
                <a:solidFill>
                  <a:srgbClr val="5C6471"/>
                </a:solidFill>
                <a:latin typeface="Microsoft YaHei"/>
              </a:rPr>
              <a:t>2026 年 5 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104120" y="6464808"/>
            <a:ext cx="9144" cy="128016"/>
          </a:xfrm>
          <a:prstGeom prst="rect">
            <a:avLst/>
          </a:prstGeom>
          <a:solidFill>
            <a:srgbClr val="D7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9568" y="6382512"/>
            <a:ext cx="266315" cy="20116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0552176" y="6437376"/>
            <a:ext cx="758952" cy="1280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0" b="1">
                <a:solidFill>
                  <a:srgbClr val="1A202C"/>
                </a:solidFill>
                <a:latin typeface="Arial"/>
              </a:rPr>
              <a:t>HUAWEI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064" y="164592"/>
            <a:ext cx="1106424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A202C"/>
                </a:solidFill>
                <a:latin typeface="Microsoft YaHei"/>
              </a:rPr>
              <a:t>软件开发视角：AI 擅长什么，不适合什么？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548640"/>
            <a:ext cx="932688" cy="45720"/>
          </a:xfrm>
          <a:prstGeom prst="rect">
            <a:avLst/>
          </a:prstGeom>
          <a:solidFill>
            <a:srgbClr val="C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12064" y="658368"/>
            <a:ext cx="10972800" cy="18288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C6471"/>
                </a:solidFill>
                <a:latin typeface="Microsoft YaHei"/>
              </a:rPr>
              <a:t>这一页补充一个使用边界：把 AI 用在它擅长的地方，用工程机制兜住它不适合独立承担的地方。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" y="1060704"/>
            <a:ext cx="5440680" cy="4407408"/>
          </a:xfrm>
          <a:prstGeom prst="roundRect">
            <a:avLst/>
          </a:prstGeom>
          <a:solidFill>
            <a:srgbClr val="F4FBF7"/>
          </a:solidFill>
          <a:ln w="12700">
            <a:solidFill>
              <a:srgbClr val="C1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307592"/>
            <a:ext cx="441655" cy="537667"/>
          </a:xfrm>
          <a:prstGeom prst="roundRect">
            <a:avLst/>
          </a:prstGeom>
          <a:noFill/>
          <a:ln w="17780">
            <a:solidFill>
              <a:srgbClr val="C414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99769" y="1422806"/>
            <a:ext cx="38404" cy="38404"/>
          </a:xfrm>
          <a:prstGeom prst="ellipse">
            <a:avLst/>
          </a:prstGeom>
          <a:solidFill>
            <a:srgbClr val="C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76579" y="1436248"/>
            <a:ext cx="192024" cy="9601"/>
          </a:xfrm>
          <a:prstGeom prst="rect">
            <a:avLst/>
          </a:prstGeom>
          <a:solidFill>
            <a:srgbClr val="C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99769" y="1557223"/>
            <a:ext cx="38404" cy="38404"/>
          </a:xfrm>
          <a:prstGeom prst="ellipse">
            <a:avLst/>
          </a:prstGeom>
          <a:solidFill>
            <a:srgbClr val="C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76579" y="1570664"/>
            <a:ext cx="192024" cy="9601"/>
          </a:xfrm>
          <a:prstGeom prst="rect">
            <a:avLst/>
          </a:prstGeom>
          <a:solidFill>
            <a:srgbClr val="C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99769" y="1691640"/>
            <a:ext cx="38404" cy="38404"/>
          </a:xfrm>
          <a:prstGeom prst="ellipse">
            <a:avLst/>
          </a:prstGeom>
          <a:solidFill>
            <a:srgbClr val="C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76579" y="1705081"/>
            <a:ext cx="192024" cy="9601"/>
          </a:xfrm>
          <a:prstGeom prst="rect">
            <a:avLst/>
          </a:prstGeom>
          <a:solidFill>
            <a:srgbClr val="C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81328" y="1280160"/>
            <a:ext cx="39776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C4141C"/>
                </a:solidFill>
                <a:latin typeface="Microsoft YaHei"/>
              </a:rPr>
              <a:t>AI 擅长做什么？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1627632"/>
            <a:ext cx="4069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1">
                <a:solidFill>
                  <a:srgbClr val="3C424E"/>
                </a:solidFill>
                <a:latin typeface="Microsoft YaHei"/>
              </a:rPr>
              <a:t>适合“有上下文、有规则、可验证”的开发任务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2066543"/>
            <a:ext cx="4754880" cy="2084831"/>
          </a:xfrm>
          <a:prstGeom prst="rect">
            <a:avLst/>
          </a:prstGeom>
          <a:noFill/>
        </p:spPr>
        <p:txBody>
          <a:bodyPr wrap="square" lIns="9144" tIns="0" rIns="9144" bIns="0" anchor="t">
            <a:normAutofit/>
          </a:bodyPr>
          <a:lstStyle/>
          <a:p>
            <a:pPr algn="l">
              <a:lnSpc>
                <a:spcPct val="150000"/>
              </a:lnSpc>
              <a:spcAft>
                <a:spcPts val="100"/>
              </a:spcAft>
            </a:pPr>
            <a:r>
              <a:rPr sz="1000" b="0" dirty="0">
                <a:solidFill>
                  <a:srgbClr val="5C6471"/>
                </a:solidFill>
                <a:latin typeface="Microsoft YaHei"/>
              </a:rPr>
              <a:t>• </a:t>
            </a:r>
            <a:r>
              <a:rPr sz="1000" b="0" dirty="0" err="1">
                <a:solidFill>
                  <a:srgbClr val="5C6471"/>
                </a:solidFill>
                <a:latin typeface="Microsoft YaHei"/>
              </a:rPr>
              <a:t>读懂陌生代码：梳理模块职责、调用链、关键类和潜在风险</a:t>
            </a:r>
            <a:r>
              <a:rPr sz="1000" b="0" dirty="0">
                <a:solidFill>
                  <a:srgbClr val="5C6471"/>
                </a:solidFill>
                <a:latin typeface="Microsoft YaHei"/>
              </a:rPr>
              <a:t>。</a:t>
            </a:r>
          </a:p>
          <a:p>
            <a:pPr algn="l">
              <a:lnSpc>
                <a:spcPct val="150000"/>
              </a:lnSpc>
              <a:spcAft>
                <a:spcPts val="100"/>
              </a:spcAft>
            </a:pPr>
            <a:r>
              <a:rPr sz="1000" b="0" dirty="0">
                <a:solidFill>
                  <a:srgbClr val="5C6471"/>
                </a:solidFill>
                <a:latin typeface="Microsoft YaHei"/>
              </a:rPr>
              <a:t>• </a:t>
            </a:r>
            <a:r>
              <a:rPr sz="1000" b="0" dirty="0" err="1">
                <a:solidFill>
                  <a:srgbClr val="5C6471"/>
                </a:solidFill>
                <a:latin typeface="Microsoft YaHei"/>
              </a:rPr>
              <a:t>生成低风险代码：样板代码、DTO、参数校验、工具函数、适配层</a:t>
            </a:r>
            <a:r>
              <a:rPr sz="1000" b="0" dirty="0">
                <a:solidFill>
                  <a:srgbClr val="5C6471"/>
                </a:solidFill>
                <a:latin typeface="Microsoft YaHei"/>
              </a:rPr>
              <a:t>。</a:t>
            </a:r>
          </a:p>
          <a:p>
            <a:pPr algn="l">
              <a:lnSpc>
                <a:spcPct val="150000"/>
              </a:lnSpc>
              <a:spcAft>
                <a:spcPts val="100"/>
              </a:spcAft>
            </a:pPr>
            <a:r>
              <a:rPr sz="1000" b="0" dirty="0">
                <a:solidFill>
                  <a:srgbClr val="5C6471"/>
                </a:solidFill>
                <a:latin typeface="Microsoft YaHei"/>
              </a:rPr>
              <a:t>• </a:t>
            </a:r>
            <a:r>
              <a:rPr sz="1000" b="0" dirty="0" err="1">
                <a:solidFill>
                  <a:srgbClr val="5C6471"/>
                </a:solidFill>
                <a:latin typeface="Microsoft YaHei"/>
              </a:rPr>
              <a:t>补测试与边界用例：空值、异常、边界、兼容性场景</a:t>
            </a:r>
            <a:r>
              <a:rPr sz="1000" b="0" dirty="0">
                <a:solidFill>
                  <a:srgbClr val="5C6471"/>
                </a:solidFill>
                <a:latin typeface="Microsoft YaHei"/>
              </a:rPr>
              <a:t>。</a:t>
            </a:r>
          </a:p>
          <a:p>
            <a:pPr algn="l">
              <a:lnSpc>
                <a:spcPct val="150000"/>
              </a:lnSpc>
              <a:spcAft>
                <a:spcPts val="100"/>
              </a:spcAft>
            </a:pPr>
            <a:r>
              <a:rPr sz="1000" b="0" dirty="0">
                <a:solidFill>
                  <a:srgbClr val="5C6471"/>
                </a:solidFill>
                <a:latin typeface="Microsoft YaHei"/>
              </a:rPr>
              <a:t>• </a:t>
            </a:r>
            <a:r>
              <a:rPr sz="1000" b="0" dirty="0" err="1">
                <a:solidFill>
                  <a:srgbClr val="5C6471"/>
                </a:solidFill>
                <a:latin typeface="Microsoft YaHei"/>
              </a:rPr>
              <a:t>解释报错和日志：根据堆栈、日志、最近改动定位可能原因</a:t>
            </a:r>
            <a:r>
              <a:rPr sz="1000" b="0" dirty="0">
                <a:solidFill>
                  <a:srgbClr val="5C6471"/>
                </a:solidFill>
                <a:latin typeface="Microsoft YaHei"/>
              </a:rPr>
              <a:t>。</a:t>
            </a:r>
          </a:p>
          <a:p>
            <a:pPr algn="l">
              <a:lnSpc>
                <a:spcPct val="150000"/>
              </a:lnSpc>
              <a:spcAft>
                <a:spcPts val="100"/>
              </a:spcAft>
            </a:pPr>
            <a:r>
              <a:rPr sz="1000" b="0" dirty="0">
                <a:solidFill>
                  <a:srgbClr val="5C6471"/>
                </a:solidFill>
                <a:latin typeface="Microsoft YaHei"/>
              </a:rPr>
              <a:t>• </a:t>
            </a:r>
            <a:r>
              <a:rPr sz="1000" b="0" dirty="0" err="1">
                <a:solidFill>
                  <a:srgbClr val="5C6471"/>
                </a:solidFill>
                <a:latin typeface="Microsoft YaHei"/>
              </a:rPr>
              <a:t>做变更说明：整理影响范围、修改文件、测试结果和</a:t>
            </a:r>
            <a:r>
              <a:rPr sz="1000" b="0" dirty="0">
                <a:solidFill>
                  <a:srgbClr val="5C6471"/>
                </a:solidFill>
                <a:latin typeface="Microsoft YaHei"/>
              </a:rPr>
              <a:t> Review </a:t>
            </a:r>
            <a:r>
              <a:rPr sz="1000" b="0" dirty="0" err="1">
                <a:solidFill>
                  <a:srgbClr val="5C6471"/>
                </a:solidFill>
                <a:latin typeface="Microsoft YaHei"/>
              </a:rPr>
              <a:t>要点</a:t>
            </a:r>
            <a:r>
              <a:rPr sz="1000" b="0" dirty="0">
                <a:solidFill>
                  <a:srgbClr val="5C6471"/>
                </a:solidFill>
                <a:latin typeface="Microsoft YaHei"/>
              </a:rPr>
              <a:t>。</a:t>
            </a:r>
          </a:p>
          <a:p>
            <a:pPr algn="l">
              <a:lnSpc>
                <a:spcPct val="150000"/>
              </a:lnSpc>
              <a:spcAft>
                <a:spcPts val="100"/>
              </a:spcAft>
            </a:pPr>
            <a:r>
              <a:rPr sz="1000" b="0" dirty="0">
                <a:solidFill>
                  <a:srgbClr val="5C6471"/>
                </a:solidFill>
                <a:latin typeface="Microsoft YaHei"/>
              </a:rPr>
              <a:t>• </a:t>
            </a:r>
            <a:r>
              <a:rPr sz="1000" b="0" dirty="0" err="1">
                <a:solidFill>
                  <a:srgbClr val="5C6471"/>
                </a:solidFill>
                <a:latin typeface="Microsoft YaHei"/>
              </a:rPr>
              <a:t>执行“有</a:t>
            </a:r>
            <a:r>
              <a:rPr sz="1000" b="0" dirty="0">
                <a:solidFill>
                  <a:srgbClr val="5C6471"/>
                </a:solidFill>
                <a:latin typeface="Microsoft YaHei"/>
              </a:rPr>
              <a:t> SOP </a:t>
            </a:r>
            <a:r>
              <a:rPr sz="1000" b="0" dirty="0" err="1">
                <a:solidFill>
                  <a:srgbClr val="5C6471"/>
                </a:solidFill>
                <a:latin typeface="Microsoft YaHei"/>
              </a:rPr>
              <a:t>的任务</a:t>
            </a:r>
            <a:r>
              <a:rPr sz="1000" b="0" dirty="0">
                <a:solidFill>
                  <a:srgbClr val="5C6471"/>
                </a:solidFill>
                <a:latin typeface="Microsoft YaHei"/>
              </a:rPr>
              <a:t>”：</a:t>
            </a:r>
            <a:r>
              <a:rPr sz="1000" b="0" dirty="0" err="1">
                <a:solidFill>
                  <a:srgbClr val="5C6471"/>
                </a:solidFill>
                <a:latin typeface="Microsoft YaHei"/>
              </a:rPr>
              <a:t>例如</a:t>
            </a:r>
            <a:r>
              <a:rPr sz="1000" b="0" dirty="0">
                <a:solidFill>
                  <a:srgbClr val="5C6471"/>
                </a:solidFill>
                <a:latin typeface="Microsoft YaHei"/>
              </a:rPr>
              <a:t> PR </a:t>
            </a:r>
            <a:r>
              <a:rPr sz="1000" b="0" dirty="0" err="1">
                <a:solidFill>
                  <a:srgbClr val="5C6471"/>
                </a:solidFill>
                <a:latin typeface="Microsoft YaHei"/>
              </a:rPr>
              <a:t>Review、接口文档初稿、重构建议</a:t>
            </a:r>
            <a:r>
              <a:rPr sz="1000" b="0" dirty="0">
                <a:solidFill>
                  <a:srgbClr val="5C6471"/>
                </a:solidFill>
                <a:latin typeface="Microsoft YaHei"/>
              </a:rPr>
              <a:t>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4315968"/>
            <a:ext cx="47548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1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24128" y="4462272"/>
            <a:ext cx="44074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C4141C"/>
                </a:solidFill>
                <a:latin typeface="Microsoft YaHei"/>
              </a:rPr>
              <a:t>关键词：明确目标 + 准确上下文 + 可运行测试 = AI 更容易稳定产出。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1060704"/>
            <a:ext cx="5440680" cy="4407408"/>
          </a:xfrm>
          <a:prstGeom prst="roundRect">
            <a:avLst/>
          </a:prstGeom>
          <a:solidFill>
            <a:srgbClr val="FFF9EE"/>
          </a:solidFill>
          <a:ln w="12700">
            <a:solidFill>
              <a:srgbClr val="F0D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Isosceles Triangle 18"/>
          <p:cNvSpPr/>
          <p:nvPr/>
        </p:nvSpPr>
        <p:spPr>
          <a:xfrm>
            <a:off x="6510528" y="1298448"/>
            <a:ext cx="537667" cy="499262"/>
          </a:xfrm>
          <a:prstGeom prst="triangle">
            <a:avLst/>
          </a:prstGeom>
          <a:noFill/>
          <a:ln w="19050">
            <a:solidFill>
              <a:srgbClr val="C414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31355" y="1423263"/>
            <a:ext cx="96012" cy="1536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75" b="1">
                <a:solidFill>
                  <a:srgbClr val="C4141C"/>
                </a:solidFill>
                <a:latin typeface="Microsoft YaHei"/>
              </a:rP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68896" y="1280160"/>
            <a:ext cx="39776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C4141C"/>
                </a:solidFill>
                <a:latin typeface="Microsoft YaHei"/>
              </a:rPr>
              <a:t>AI 不适合做什么？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68896" y="1627632"/>
            <a:ext cx="4069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1">
                <a:solidFill>
                  <a:srgbClr val="3C424E"/>
                </a:solidFill>
                <a:latin typeface="Microsoft YaHei"/>
              </a:rPr>
              <a:t>不适合“缺上下文、强决策、高风险、难验证”的事情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8816" y="2066543"/>
            <a:ext cx="4754880" cy="2084831"/>
          </a:xfrm>
          <a:prstGeom prst="rect">
            <a:avLst/>
          </a:prstGeom>
          <a:noFill/>
        </p:spPr>
        <p:txBody>
          <a:bodyPr wrap="square" lIns="9144" tIns="0" rIns="9144" bIns="0" anchor="t">
            <a:normAutofit/>
          </a:bodyPr>
          <a:lstStyle/>
          <a:p>
            <a:pPr algn="l">
              <a:lnSpc>
                <a:spcPct val="150000"/>
              </a:lnSpc>
              <a:spcAft>
                <a:spcPts val="100"/>
              </a:spcAft>
            </a:pPr>
            <a:r>
              <a:rPr sz="1000" b="0" dirty="0">
                <a:solidFill>
                  <a:srgbClr val="5C6471"/>
                </a:solidFill>
                <a:latin typeface="Microsoft YaHei"/>
              </a:rPr>
              <a:t>• </a:t>
            </a:r>
            <a:r>
              <a:rPr sz="1000" b="0" dirty="0" err="1">
                <a:solidFill>
                  <a:srgbClr val="5C6471"/>
                </a:solidFill>
                <a:latin typeface="Microsoft YaHei"/>
              </a:rPr>
              <a:t>独立拍板架构方案：微服务边界、技术选型、长期演进路线</a:t>
            </a:r>
            <a:r>
              <a:rPr sz="1000" b="0" dirty="0">
                <a:solidFill>
                  <a:srgbClr val="5C6471"/>
                </a:solidFill>
                <a:latin typeface="Microsoft YaHei"/>
              </a:rPr>
              <a:t>。</a:t>
            </a:r>
          </a:p>
          <a:p>
            <a:pPr algn="l">
              <a:lnSpc>
                <a:spcPct val="150000"/>
              </a:lnSpc>
              <a:spcAft>
                <a:spcPts val="100"/>
              </a:spcAft>
            </a:pPr>
            <a:r>
              <a:rPr sz="1000" b="0" dirty="0">
                <a:solidFill>
                  <a:srgbClr val="5C6471"/>
                </a:solidFill>
                <a:latin typeface="Microsoft YaHei"/>
              </a:rPr>
              <a:t>• </a:t>
            </a:r>
            <a:r>
              <a:rPr sz="1000" b="0" dirty="0" err="1">
                <a:solidFill>
                  <a:srgbClr val="5C6471"/>
                </a:solidFill>
                <a:latin typeface="Microsoft YaHei"/>
              </a:rPr>
              <a:t>直接修改高风险逻辑：权限、支付、账务、数据删除、生产配置</a:t>
            </a:r>
            <a:r>
              <a:rPr sz="1000" b="0" dirty="0">
                <a:solidFill>
                  <a:srgbClr val="5C6471"/>
                </a:solidFill>
                <a:latin typeface="Microsoft YaHei"/>
              </a:rPr>
              <a:t>。</a:t>
            </a:r>
          </a:p>
          <a:p>
            <a:pPr algn="l">
              <a:lnSpc>
                <a:spcPct val="150000"/>
              </a:lnSpc>
              <a:spcAft>
                <a:spcPts val="100"/>
              </a:spcAft>
            </a:pPr>
            <a:r>
              <a:rPr sz="1000" b="0" dirty="0">
                <a:solidFill>
                  <a:srgbClr val="5C6471"/>
                </a:solidFill>
                <a:latin typeface="Microsoft YaHei"/>
              </a:rPr>
              <a:t>• </a:t>
            </a:r>
            <a:r>
              <a:rPr sz="1000" b="0" dirty="0" err="1">
                <a:solidFill>
                  <a:srgbClr val="5C6471"/>
                </a:solidFill>
                <a:latin typeface="Microsoft YaHei"/>
              </a:rPr>
              <a:t>猜业务隐性规则：租户隔离、历史兼容、审批流程、特殊客户逻辑</a:t>
            </a:r>
            <a:r>
              <a:rPr sz="1000" b="0" dirty="0">
                <a:solidFill>
                  <a:srgbClr val="5C6471"/>
                </a:solidFill>
                <a:latin typeface="Microsoft YaHei"/>
              </a:rPr>
              <a:t>。</a:t>
            </a:r>
          </a:p>
          <a:p>
            <a:pPr algn="l">
              <a:lnSpc>
                <a:spcPct val="150000"/>
              </a:lnSpc>
              <a:spcAft>
                <a:spcPts val="100"/>
              </a:spcAft>
            </a:pPr>
            <a:r>
              <a:rPr sz="1000" b="0" dirty="0">
                <a:solidFill>
                  <a:srgbClr val="5C6471"/>
                </a:solidFill>
                <a:latin typeface="Microsoft YaHei"/>
              </a:rPr>
              <a:t>• </a:t>
            </a:r>
            <a:r>
              <a:rPr sz="1000" b="0" dirty="0" err="1">
                <a:solidFill>
                  <a:srgbClr val="5C6471"/>
                </a:solidFill>
                <a:latin typeface="Microsoft YaHei"/>
              </a:rPr>
              <a:t>无测试地大规模重构：跨模块改动、公共接口行为变化、数据库迁移</a:t>
            </a:r>
            <a:r>
              <a:rPr sz="1000" b="0" dirty="0">
                <a:solidFill>
                  <a:srgbClr val="5C6471"/>
                </a:solidFill>
                <a:latin typeface="Microsoft YaHei"/>
              </a:rPr>
              <a:t>。</a:t>
            </a:r>
          </a:p>
          <a:p>
            <a:pPr algn="l">
              <a:lnSpc>
                <a:spcPct val="150000"/>
              </a:lnSpc>
              <a:spcAft>
                <a:spcPts val="100"/>
              </a:spcAft>
            </a:pPr>
            <a:r>
              <a:rPr sz="1000" b="0" dirty="0">
                <a:solidFill>
                  <a:srgbClr val="5C6471"/>
                </a:solidFill>
                <a:latin typeface="Microsoft YaHei"/>
              </a:rPr>
              <a:t>• </a:t>
            </a:r>
            <a:r>
              <a:rPr sz="1000" b="0" dirty="0" err="1">
                <a:solidFill>
                  <a:srgbClr val="5C6471"/>
                </a:solidFill>
                <a:latin typeface="Microsoft YaHei"/>
              </a:rPr>
              <a:t>代替人工验收：它可以自测，但不能替团队承担上线责任</a:t>
            </a:r>
            <a:r>
              <a:rPr sz="1000" b="0" dirty="0">
                <a:solidFill>
                  <a:srgbClr val="5C6471"/>
                </a:solidFill>
                <a:latin typeface="Microsoft YaHei"/>
              </a:rPr>
              <a:t>。</a:t>
            </a:r>
          </a:p>
          <a:p>
            <a:pPr algn="l">
              <a:lnSpc>
                <a:spcPct val="150000"/>
              </a:lnSpc>
              <a:spcAft>
                <a:spcPts val="100"/>
              </a:spcAft>
            </a:pPr>
            <a:r>
              <a:rPr sz="1000" b="0" dirty="0">
                <a:solidFill>
                  <a:srgbClr val="5C6471"/>
                </a:solidFill>
                <a:latin typeface="Microsoft YaHei"/>
              </a:rPr>
              <a:t>• </a:t>
            </a:r>
            <a:r>
              <a:rPr sz="1000" b="0" dirty="0" err="1">
                <a:solidFill>
                  <a:srgbClr val="5C6471"/>
                </a:solidFill>
                <a:latin typeface="Microsoft YaHei"/>
              </a:rPr>
              <a:t>处理模糊需求直接开写：需求没对齐时，越快越容易跑偏</a:t>
            </a:r>
            <a:r>
              <a:rPr sz="1000" b="0" dirty="0">
                <a:solidFill>
                  <a:srgbClr val="5C6471"/>
                </a:solidFill>
                <a:latin typeface="Microsoft YaHei"/>
              </a:rPr>
              <a:t>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28816" y="4315968"/>
            <a:ext cx="47548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D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11696" y="4462272"/>
            <a:ext cx="44074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 dirty="0" err="1">
                <a:solidFill>
                  <a:srgbClr val="C4141C"/>
                </a:solidFill>
                <a:latin typeface="Microsoft YaHei"/>
              </a:rPr>
              <a:t>关键词：高风险决策必须</a:t>
            </a:r>
            <a:r>
              <a:rPr sz="1019" b="1" dirty="0">
                <a:solidFill>
                  <a:srgbClr val="C4141C"/>
                </a:solidFill>
                <a:latin typeface="Microsoft YaHei"/>
              </a:rPr>
              <a:t> </a:t>
            </a:r>
            <a:r>
              <a:rPr sz="1019" b="1" dirty="0" err="1">
                <a:solidFill>
                  <a:srgbClr val="C4141C"/>
                </a:solidFill>
                <a:latin typeface="Microsoft YaHei"/>
              </a:rPr>
              <a:t>Human-in-the-loop；方向不清先回到需求和方案</a:t>
            </a:r>
            <a:r>
              <a:rPr sz="1019" b="1" dirty="0">
                <a:solidFill>
                  <a:srgbClr val="C4141C"/>
                </a:solidFill>
                <a:latin typeface="Microsoft YaHei"/>
              </a:rPr>
              <a:t>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2064" y="5669280"/>
            <a:ext cx="11137392" cy="493776"/>
          </a:xfrm>
          <a:prstGeom prst="roundRect">
            <a:avLst/>
          </a:prstGeom>
          <a:solidFill>
            <a:srgbClr val="FFF4F4"/>
          </a:solidFill>
          <a:ln w="12700">
            <a:solidFill>
              <a:srgbClr val="EE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5769864"/>
            <a:ext cx="10698480" cy="256032"/>
          </a:xfrm>
          <a:prstGeom prst="rect">
            <a:avLst/>
          </a:prstGeom>
          <a:noFill/>
        </p:spPr>
        <p:txBody>
          <a:bodyPr wrap="square" lIns="9144" tIns="0" rIns="9144" bIns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1" dirty="0" err="1">
                <a:solidFill>
                  <a:srgbClr val="C4141C"/>
                </a:solidFill>
                <a:latin typeface="Microsoft YaHei"/>
              </a:rPr>
              <a:t>使用原则：让</a:t>
            </a:r>
            <a:r>
              <a:rPr sz="1000" b="1" dirty="0">
                <a:solidFill>
                  <a:srgbClr val="C4141C"/>
                </a:solidFill>
                <a:latin typeface="Microsoft YaHei"/>
              </a:rPr>
              <a:t> AI 做“</a:t>
            </a:r>
            <a:r>
              <a:rPr sz="1000" b="1" dirty="0" err="1">
                <a:solidFill>
                  <a:srgbClr val="C4141C"/>
                </a:solidFill>
                <a:latin typeface="Microsoft YaHei"/>
              </a:rPr>
              <a:t>资料整理、代码生成、测试补充、自检说明</a:t>
            </a:r>
            <a:r>
              <a:rPr sz="1000" b="1" dirty="0">
                <a:solidFill>
                  <a:srgbClr val="C4141C"/>
                </a:solidFill>
                <a:latin typeface="Microsoft YaHei"/>
              </a:rPr>
              <a:t>”；</a:t>
            </a:r>
            <a:r>
              <a:rPr sz="1000" b="1" dirty="0" err="1">
                <a:solidFill>
                  <a:srgbClr val="C4141C"/>
                </a:solidFill>
                <a:latin typeface="Microsoft YaHei"/>
              </a:rPr>
              <a:t>让人负责“需求判断、方案取舍、风险验收、最终上线责任</a:t>
            </a:r>
            <a:r>
              <a:rPr sz="1000" b="1" dirty="0">
                <a:solidFill>
                  <a:srgbClr val="C4141C"/>
                </a:solidFill>
                <a:latin typeface="Microsoft YaHei"/>
              </a:rPr>
              <a:t>”。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55664"/>
            <a:ext cx="6126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C6471"/>
                </a:solidFill>
                <a:latin typeface="Microsoft YaHei"/>
              </a:rPr>
              <a:t>本次目标：带大家入门 AI 辅助研发，把工具真正用起来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42248" y="6455664"/>
            <a:ext cx="113385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80" b="0">
                <a:solidFill>
                  <a:srgbClr val="5C6471"/>
                </a:solidFill>
                <a:latin typeface="Microsoft YaHei"/>
              </a:rPr>
              <a:t>2026 年 5 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104120" y="6464808"/>
            <a:ext cx="9144" cy="128016"/>
          </a:xfrm>
          <a:prstGeom prst="rect">
            <a:avLst/>
          </a:prstGeom>
          <a:solidFill>
            <a:srgbClr val="D7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552176" y="6437376"/>
            <a:ext cx="75895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1">
                <a:solidFill>
                  <a:srgbClr val="1A202C"/>
                </a:solidFill>
                <a:latin typeface="Arial"/>
              </a:rPr>
              <a:t>HUAWEI</a:t>
            </a:r>
          </a:p>
        </p:txBody>
      </p:sp>
      <p:pic>
        <p:nvPicPr>
          <p:cNvPr id="32" name="Picture 83" descr="image.png">
            <a:extLst>
              <a:ext uri="{FF2B5EF4-FFF2-40B4-BE49-F238E27FC236}">
                <a16:creationId xmlns:a16="http://schemas.microsoft.com/office/drawing/2014/main" id="{AF87E7C0-301D-1C0C-DF87-513411482C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9568" y="6382512"/>
            <a:ext cx="266315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86384" y="1609344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4141C"/>
                </a:solidFill>
                <a:latin typeface="Microsoft YaHei"/>
              </a:rPr>
              <a:t>SECTION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04672" y="1901952"/>
            <a:ext cx="804672" cy="54864"/>
          </a:xfrm>
          <a:prstGeom prst="rect">
            <a:avLst/>
          </a:prstGeom>
          <a:solidFill>
            <a:srgbClr val="C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86384" y="2139696"/>
            <a:ext cx="6766560" cy="7498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1A202C"/>
                </a:solidFill>
                <a:latin typeface="Microsoft YaHei"/>
              </a:rPr>
              <a:t>第五部分｜AI Agent 协作开发范式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54096"/>
            <a:ext cx="804672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5C6471"/>
                </a:solidFill>
                <a:latin typeface="Microsoft YaHei"/>
              </a:rPr>
              <a:t>从“计划 - 实施 - 验证 - 学习”的四段式，看人与 AI 如何高效协作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49640" y="2011680"/>
            <a:ext cx="411480" cy="164592"/>
          </a:xfrm>
          <a:prstGeom prst="round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549640" y="2606040"/>
            <a:ext cx="685800" cy="164592"/>
          </a:xfrm>
          <a:prstGeom prst="roundRect">
            <a:avLst/>
          </a:prstGeom>
          <a:solidFill>
            <a:srgbClr val="C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549640" y="3200400"/>
            <a:ext cx="1051560" cy="164592"/>
          </a:xfrm>
          <a:prstGeom prst="round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271359" y="4187952"/>
            <a:ext cx="3472841" cy="530352"/>
          </a:xfrm>
          <a:prstGeom prst="roundRect">
            <a:avLst/>
          </a:prstGeom>
          <a:solidFill>
            <a:srgbClr val="FFF4F4"/>
          </a:solidFill>
          <a:ln>
            <a:solidFill>
              <a:srgbClr val="EE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52944" y="4359057"/>
            <a:ext cx="2980944" cy="1631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60" b="1" dirty="0" err="1">
                <a:solidFill>
                  <a:srgbClr val="C4141C"/>
                </a:solidFill>
                <a:latin typeface="Microsoft YaHei"/>
              </a:rPr>
              <a:t>人负责决策与把关，AI</a:t>
            </a:r>
            <a:r>
              <a:rPr sz="1060" b="1" dirty="0">
                <a:solidFill>
                  <a:srgbClr val="C4141C"/>
                </a:solidFill>
                <a:latin typeface="Microsoft YaHei"/>
              </a:rPr>
              <a:t> </a:t>
            </a:r>
            <a:r>
              <a:rPr sz="1060" b="1" dirty="0" err="1">
                <a:solidFill>
                  <a:srgbClr val="C4141C"/>
                </a:solidFill>
                <a:latin typeface="Microsoft YaHei"/>
              </a:rPr>
              <a:t>负责方案、实施与自测</a:t>
            </a:r>
            <a:endParaRPr sz="1060" b="1" dirty="0">
              <a:solidFill>
                <a:srgbClr val="C4141C"/>
              </a:solidFill>
              <a:latin typeface="Microsoft YaHe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55664"/>
            <a:ext cx="6126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C6471"/>
                </a:solidFill>
                <a:latin typeface="Microsoft YaHei"/>
              </a:rPr>
              <a:t>本次目标：带大家入门 AI 辅助研发，把工具真正用起来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42248" y="6455664"/>
            <a:ext cx="113385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80" b="0">
                <a:solidFill>
                  <a:srgbClr val="5C6471"/>
                </a:solidFill>
                <a:latin typeface="Microsoft YaHei"/>
              </a:rPr>
              <a:t>2026 年 5 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104120" y="6464808"/>
            <a:ext cx="9144" cy="128016"/>
          </a:xfrm>
          <a:prstGeom prst="rect">
            <a:avLst/>
          </a:prstGeom>
          <a:solidFill>
            <a:srgbClr val="D7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52176" y="6437376"/>
            <a:ext cx="75895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1">
                <a:solidFill>
                  <a:srgbClr val="1A202C"/>
                </a:solidFill>
                <a:latin typeface="Arial"/>
              </a:rPr>
              <a:t>HUAWEI</a:t>
            </a:r>
          </a:p>
        </p:txBody>
      </p:sp>
      <p:pic>
        <p:nvPicPr>
          <p:cNvPr id="15" name="Picture 83" descr="image.png">
            <a:extLst>
              <a:ext uri="{FF2B5EF4-FFF2-40B4-BE49-F238E27FC236}">
                <a16:creationId xmlns:a16="http://schemas.microsoft.com/office/drawing/2014/main" id="{2F51E98A-C955-7021-68C8-2D7C508F8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9568" y="6382512"/>
            <a:ext cx="266315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064" y="164592"/>
            <a:ext cx="11064240" cy="37548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dirty="0">
                <a:solidFill>
                  <a:srgbClr val="1A202C"/>
                </a:solidFill>
                <a:latin typeface="Microsoft YaHei"/>
              </a:rPr>
              <a:t>AI </a:t>
            </a:r>
            <a:r>
              <a:rPr sz="2200" b="1">
                <a:solidFill>
                  <a:srgbClr val="1A202C"/>
                </a:solidFill>
                <a:latin typeface="Microsoft YaHei"/>
              </a:rPr>
              <a:t>结对编程：</a:t>
            </a:r>
            <a:r>
              <a:rPr sz="2200" b="1" dirty="0" err="1">
                <a:solidFill>
                  <a:srgbClr val="1A202C"/>
                </a:solidFill>
                <a:latin typeface="Microsoft YaHei"/>
              </a:rPr>
              <a:t>计划</a:t>
            </a:r>
            <a:r>
              <a:rPr sz="2200" b="1" dirty="0">
                <a:solidFill>
                  <a:srgbClr val="1A202C"/>
                </a:solidFill>
                <a:latin typeface="Microsoft YaHei"/>
              </a:rPr>
              <a:t> - </a:t>
            </a:r>
            <a:r>
              <a:rPr sz="2200" b="1" dirty="0" err="1">
                <a:solidFill>
                  <a:srgbClr val="1A202C"/>
                </a:solidFill>
                <a:latin typeface="Microsoft YaHei"/>
              </a:rPr>
              <a:t>实施</a:t>
            </a:r>
            <a:r>
              <a:rPr sz="2200" b="1" dirty="0">
                <a:solidFill>
                  <a:srgbClr val="1A202C"/>
                </a:solidFill>
                <a:latin typeface="Microsoft YaHei"/>
              </a:rPr>
              <a:t> - </a:t>
            </a:r>
            <a:r>
              <a:rPr sz="2200" b="1" dirty="0" err="1">
                <a:solidFill>
                  <a:srgbClr val="1A202C"/>
                </a:solidFill>
                <a:latin typeface="Microsoft YaHei"/>
              </a:rPr>
              <a:t>验证</a:t>
            </a:r>
            <a:r>
              <a:rPr sz="2200" b="1" dirty="0">
                <a:solidFill>
                  <a:srgbClr val="1A202C"/>
                </a:solidFill>
                <a:latin typeface="Microsoft YaHei"/>
              </a:rPr>
              <a:t> - </a:t>
            </a:r>
            <a:r>
              <a:rPr sz="2200" b="1" dirty="0" err="1">
                <a:solidFill>
                  <a:srgbClr val="1A202C"/>
                </a:solidFill>
                <a:latin typeface="Microsoft YaHei"/>
              </a:rPr>
              <a:t>学习</a:t>
            </a:r>
            <a:endParaRPr sz="2200" b="1" dirty="0">
              <a:solidFill>
                <a:srgbClr val="1A202C"/>
              </a:solidFill>
              <a:latin typeface="Microsoft YaHe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0352" y="548640"/>
            <a:ext cx="932688" cy="45720"/>
          </a:xfrm>
          <a:prstGeom prst="rect">
            <a:avLst/>
          </a:prstGeom>
          <a:solidFill>
            <a:srgbClr val="C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12064" y="658368"/>
            <a:ext cx="10972800" cy="18288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60" b="0">
                <a:solidFill>
                  <a:srgbClr val="5C6471"/>
                </a:solidFill>
                <a:latin typeface="Microsoft YaHei"/>
              </a:rPr>
              <a:t>这套协作范式强调：人始终承担决策与验收职责，AI 负责需求复述、方案生成、增量实施与自测。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" y="914400"/>
            <a:ext cx="11137392" cy="43891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024128"/>
            <a:ext cx="106984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 dirty="0" err="1">
                <a:solidFill>
                  <a:srgbClr val="C4141C"/>
                </a:solidFill>
                <a:latin typeface="Microsoft YaHei"/>
              </a:rPr>
              <a:t>核心精神：先对齐、再决策、再增量实施、再验证；方向错了回到方案，局部问题走修复小循环</a:t>
            </a:r>
            <a:r>
              <a:rPr sz="1019" b="1" dirty="0">
                <a:solidFill>
                  <a:srgbClr val="C4141C"/>
                </a:solidFill>
                <a:latin typeface="Microsoft YaHei"/>
              </a:rPr>
              <a:t>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" y="1493831"/>
            <a:ext cx="5449824" cy="1325880"/>
          </a:xfrm>
          <a:prstGeom prst="roundRect">
            <a:avLst/>
          </a:prstGeom>
          <a:solidFill>
            <a:srgbClr val="FFF4F4"/>
          </a:solidFill>
          <a:ln w="12700">
            <a:solidFill>
              <a:srgbClr val="EE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6656" y="1640135"/>
            <a:ext cx="508406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202C"/>
                </a:solidFill>
                <a:latin typeface="Microsoft YaHei"/>
              </a:rPr>
              <a:t>阶段 1｜需求理解与任务拆分（对齐）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969319"/>
            <a:ext cx="5065776" cy="850392"/>
          </a:xfrm>
          <a:prstGeom prst="rect">
            <a:avLst/>
          </a:prstGeom>
          <a:noFill/>
        </p:spPr>
        <p:txBody>
          <a:bodyPr wrap="square" lIns="9144" tIns="0" rIns="9144" bIns="0" anchor="t">
            <a:normAutofit/>
          </a:bodyPr>
          <a:lstStyle/>
          <a:p>
            <a:r>
              <a:rPr lang="zh-CN" altLang="en-US" sz="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：提供业务背景、目标、约束条件和优先级，可附带示例或接口定义。</a:t>
            </a:r>
          </a:p>
          <a:p>
            <a:r>
              <a:rPr lang="en-US" altLang="zh-CN" sz="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：进行需求复述、识别歧义，提出分解后的子任务草案，并列出每个子任务的边界、前后依赖、验收标准草稿。</a:t>
            </a:r>
          </a:p>
          <a:p>
            <a:r>
              <a:rPr lang="zh-CN" altLang="en-US" sz="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：确认、调整拆分结构，标注哪些子任务优先实施，明确终止条件（</a:t>
            </a:r>
            <a:r>
              <a:rPr lang="en-US" altLang="zh-CN" sz="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Done criteria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</a:p>
          <a:p>
            <a:pPr lvl="1"/>
            <a:r>
              <a:rPr lang="zh-CN" altLang="en-US" sz="800" i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此处若发现原始需求本身不清，则回到本阶段起点补充信息。</a:t>
            </a:r>
            <a:endParaRPr lang="zh-CN" altLang="en-US" sz="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199632" y="1493831"/>
            <a:ext cx="5449824" cy="1325880"/>
          </a:xfrm>
          <a:prstGeom prst="roundRect">
            <a:avLst/>
          </a:prstGeom>
          <a:solidFill>
            <a:srgbClr val="FFF9EE"/>
          </a:solidFill>
          <a:ln w="12700">
            <a:solidFill>
              <a:srgbClr val="F0D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64224" y="1640135"/>
            <a:ext cx="508406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202C"/>
                </a:solidFill>
                <a:latin typeface="Microsoft YaHei"/>
              </a:rPr>
              <a:t>阶段 2｜方案设计与风险评估（决策核心）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1969319"/>
            <a:ext cx="5065776" cy="1225296"/>
          </a:xfrm>
          <a:prstGeom prst="rect">
            <a:avLst/>
          </a:prstGeom>
          <a:noFill/>
        </p:spPr>
        <p:txBody>
          <a:bodyPr wrap="square" lIns="9144" tIns="0" rIns="9144" bIns="0" anchor="t">
            <a:noAutofit/>
          </a:bodyPr>
          <a:lstStyle/>
          <a:p>
            <a:r>
              <a:rPr lang="en-US" altLang="zh-CN" sz="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：针对当前子任务，生成</a:t>
            </a:r>
            <a:r>
              <a:rPr lang="zh-CN" altLang="en-US" sz="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可选解决方案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（含技术选型、核心流程伪代码 </a:t>
            </a:r>
            <a:r>
              <a:rPr lang="en-US" altLang="zh-CN" sz="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架构草图），并附带：</a:t>
            </a:r>
          </a:p>
          <a:p>
            <a:pPr lvl="1"/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每种方案的优缺点对比</a:t>
            </a:r>
          </a:p>
          <a:p>
            <a:pPr lvl="1"/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关键风险点（安全、性能、兼容性、数据一致性等）</a:t>
            </a:r>
          </a:p>
          <a:p>
            <a:pPr lvl="1"/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待决策事项（需要人拍板的技术取舍、资源权衡）</a:t>
            </a:r>
          </a:p>
          <a:p>
            <a:r>
              <a:rPr lang="zh-CN" altLang="en-US" sz="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：审查方案，关注风险可接受性，对关键决策做出选择，必要时要求 </a:t>
            </a:r>
            <a:r>
              <a:rPr lang="en-US" altLang="zh-CN" sz="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 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修补漏洞或补充备选方案。</a:t>
            </a:r>
          </a:p>
          <a:p>
            <a:pPr lvl="1"/>
            <a:r>
              <a:rPr lang="zh-CN" altLang="en-US" sz="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此处设置硬 </a:t>
            </a:r>
            <a:r>
              <a:rPr lang="en-US" altLang="zh-CN" sz="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Gate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：人明确说“按此方案执行”，</a:t>
            </a:r>
            <a:r>
              <a:rPr lang="en-US" altLang="zh-CN" sz="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 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才能进入下一步。若方案不可行，则循环本阶段。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" y="2907018"/>
            <a:ext cx="5449824" cy="1324800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6656" y="3053323"/>
            <a:ext cx="5084064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altLang="en-US" sz="13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阶段 </a:t>
            </a:r>
            <a:r>
              <a:rPr lang="en-US" altLang="zh-CN" sz="13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3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：验证策略制定（测试先于实施）</a:t>
            </a:r>
            <a:endParaRPr sz="13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76656" y="3382507"/>
            <a:ext cx="5065776" cy="689932"/>
          </a:xfrm>
          <a:prstGeom prst="rect">
            <a:avLst/>
          </a:prstGeom>
          <a:noFill/>
        </p:spPr>
        <p:txBody>
          <a:bodyPr wrap="square" lIns="9144" tIns="0" rIns="9144" bIns="0" anchor="t">
            <a:normAutofit/>
          </a:bodyPr>
          <a:lstStyle/>
          <a:p>
            <a:r>
              <a:rPr lang="en-US" altLang="zh-CN" sz="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：基于已确认的方案，产出</a:t>
            </a:r>
            <a:r>
              <a:rPr lang="zh-CN" altLang="en-US" sz="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可执行的验证策略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，包括：</a:t>
            </a:r>
          </a:p>
          <a:p>
            <a:pPr lvl="1"/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自动化测试用例生成（单元 </a:t>
            </a:r>
            <a:r>
              <a:rPr lang="en-US" altLang="zh-CN" sz="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 </a:t>
            </a:r>
            <a:r>
              <a:rPr lang="en-US" altLang="zh-CN" sz="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端到端）</a:t>
            </a:r>
          </a:p>
          <a:p>
            <a:pPr lvl="1"/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人工验证清单（边界情况、</a:t>
            </a:r>
            <a:r>
              <a:rPr lang="en-US" altLang="zh-CN" sz="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UX 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行为、安全扫描）</a:t>
            </a:r>
          </a:p>
          <a:p>
            <a:pPr lvl="1"/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验证通过的标准（覆盖率阈值、性能基准等）</a:t>
            </a:r>
          </a:p>
          <a:p>
            <a:r>
              <a:rPr lang="zh-CN" altLang="en-US" sz="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：复核验证策略是否覆盖风险点与业务需求，批准后进入实施。</a:t>
            </a:r>
          </a:p>
          <a:p>
            <a:pPr algn="l">
              <a:lnSpc>
                <a:spcPct val="105000"/>
              </a:lnSpc>
              <a:spcAft>
                <a:spcPts val="90"/>
              </a:spcAft>
            </a:pPr>
            <a:endParaRPr sz="800" b="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199632" y="2907018"/>
            <a:ext cx="5449824" cy="1324800"/>
          </a:xfrm>
          <a:prstGeom prst="roundRect">
            <a:avLst/>
          </a:prstGeom>
          <a:solidFill>
            <a:srgbClr val="F4FBF7"/>
          </a:solidFill>
          <a:ln w="12700">
            <a:solidFill>
              <a:srgbClr val="C1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64224" y="3053323"/>
            <a:ext cx="5084064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zh-CN" altLang="en-US" sz="13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阶段 </a:t>
            </a:r>
            <a:r>
              <a:rPr lang="en-US" altLang="zh-CN" sz="13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3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：增量实施与自检（</a:t>
            </a:r>
            <a:r>
              <a:rPr lang="en-US" altLang="zh-CN" sz="13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 </a:t>
            </a:r>
            <a:r>
              <a:rPr lang="zh-CN" altLang="en-US" sz="13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主导，人可随时介入）</a:t>
            </a:r>
          </a:p>
          <a:p>
            <a:pPr algn="l">
              <a:spcAft>
                <a:spcPts val="0"/>
              </a:spcAft>
            </a:pPr>
            <a:endParaRPr sz="1300" b="1" dirty="0">
              <a:solidFill>
                <a:srgbClr val="1A202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64224" y="3336460"/>
            <a:ext cx="5065776" cy="995616"/>
          </a:xfrm>
          <a:prstGeom prst="rect">
            <a:avLst/>
          </a:prstGeom>
          <a:noFill/>
        </p:spPr>
        <p:txBody>
          <a:bodyPr wrap="square" lIns="9144" tIns="0" rIns="9144" bIns="0" anchor="t">
            <a:normAutofit/>
          </a:bodyPr>
          <a:lstStyle/>
          <a:p>
            <a:r>
              <a:rPr lang="en-US" altLang="zh-CN" sz="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：按以下节奏实施：</a:t>
            </a:r>
            <a:endParaRPr lang="en-US" altLang="zh-CN" sz="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生成代码 </a:t>
            </a:r>
            <a:r>
              <a:rPr lang="en-US" altLang="zh-CN" sz="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必要配置；</a:t>
            </a:r>
            <a:endParaRPr lang="en-US" altLang="zh-CN" sz="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立即运行已生成的验证用例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（或快速自检脚本）；</a:t>
            </a:r>
            <a:endParaRPr lang="en-US" altLang="zh-CN" sz="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将运行结果、覆盖率、自查出的问题一并输出</a:t>
            </a:r>
          </a:p>
          <a:p>
            <a:r>
              <a:rPr lang="zh-CN" altLang="en-US" sz="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 </a:t>
            </a:r>
            <a:r>
              <a:rPr lang="en-US" altLang="zh-CN" sz="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 </a:t>
            </a:r>
            <a:r>
              <a:rPr lang="zh-CN" altLang="en-US" sz="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自检发现问题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 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自动尝试修复（设定重试上限），超出能力则暂停并请求人介入。</a:t>
            </a:r>
          </a:p>
          <a:p>
            <a:r>
              <a:rPr lang="zh-CN" altLang="en-US" sz="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：在 </a:t>
            </a:r>
            <a:r>
              <a:rPr lang="en-US" altLang="zh-CN" sz="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 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增量完成一个逻辑单元后，进行</a:t>
            </a:r>
            <a:r>
              <a:rPr lang="zh-CN" altLang="en-US" sz="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快速 </a:t>
            </a:r>
            <a:r>
              <a:rPr lang="en-US" altLang="zh-CN" sz="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review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（可在 </a:t>
            </a:r>
            <a:r>
              <a:rPr lang="en-US" altLang="zh-CN" sz="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IDE 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中查看 </a:t>
            </a:r>
            <a:r>
              <a:rPr lang="en-US" altLang="zh-CN" sz="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diff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），重点检查逻辑正确性、安全性与设计一致性。发现问题即时给出定向反馈，进入“局部修正循环”。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" y="5760720"/>
            <a:ext cx="11137392" cy="475488"/>
          </a:xfrm>
          <a:prstGeom prst="roundRect">
            <a:avLst/>
          </a:prstGeom>
          <a:solidFill>
            <a:srgbClr val="FFF4F4"/>
          </a:solidFill>
          <a:ln w="12700">
            <a:solidFill>
              <a:srgbClr val="EE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5861304"/>
            <a:ext cx="10698480" cy="256032"/>
          </a:xfrm>
          <a:prstGeom prst="rect">
            <a:avLst/>
          </a:prstGeom>
          <a:noFill/>
        </p:spPr>
        <p:txBody>
          <a:bodyPr wrap="square" lIns="9144" tIns="0" rIns="9144" bIns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90"/>
              </a:spcAft>
            </a:pPr>
            <a:r>
              <a:rPr sz="950" b="1">
                <a:solidFill>
                  <a:srgbClr val="C4141C"/>
                </a:solidFill>
                <a:latin typeface="Microsoft YaHei"/>
              </a:rPr>
              <a:t>核心要点：① 人负责决策与验证，AI 负责方案、实施与自测； ② 局部修正循环高效且不丢上下文； ③ 只有方向错误时，才触发大循环回到方案阶段。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55664"/>
            <a:ext cx="6126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C6471"/>
                </a:solidFill>
                <a:latin typeface="Microsoft YaHei"/>
              </a:rPr>
              <a:t>本次目标：带大家入门 AI 辅助研发，把工具真正用起来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42248" y="6455664"/>
            <a:ext cx="113385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80" b="0">
                <a:solidFill>
                  <a:srgbClr val="5C6471"/>
                </a:solidFill>
                <a:latin typeface="Microsoft YaHei"/>
              </a:rPr>
              <a:t>2026 年 5 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104120" y="6464808"/>
            <a:ext cx="9144" cy="128016"/>
          </a:xfrm>
          <a:prstGeom prst="rect">
            <a:avLst/>
          </a:prstGeom>
          <a:solidFill>
            <a:srgbClr val="D7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552176" y="6437376"/>
            <a:ext cx="75895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1">
                <a:solidFill>
                  <a:srgbClr val="1A202C"/>
                </a:solidFill>
                <a:latin typeface="Arial"/>
              </a:rPr>
              <a:t>HUAWEI</a:t>
            </a:r>
          </a:p>
        </p:txBody>
      </p:sp>
      <p:pic>
        <p:nvPicPr>
          <p:cNvPr id="25" name="Picture 83" descr="image.png">
            <a:extLst>
              <a:ext uri="{FF2B5EF4-FFF2-40B4-BE49-F238E27FC236}">
                <a16:creationId xmlns:a16="http://schemas.microsoft.com/office/drawing/2014/main" id="{0B9CF0CC-0C1E-60AD-0666-E033D9D83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9568" y="6382512"/>
            <a:ext cx="266315" cy="201168"/>
          </a:xfrm>
          <a:prstGeom prst="rect">
            <a:avLst/>
          </a:prstGeom>
        </p:spPr>
      </p:pic>
      <p:sp>
        <p:nvSpPr>
          <p:cNvPr id="27" name="Rounded Rectangle 12">
            <a:extLst>
              <a:ext uri="{FF2B5EF4-FFF2-40B4-BE49-F238E27FC236}">
                <a16:creationId xmlns:a16="http://schemas.microsoft.com/office/drawing/2014/main" id="{7766B155-2C66-6345-31F2-067D2E89D231}"/>
              </a:ext>
            </a:extLst>
          </p:cNvPr>
          <p:cNvSpPr/>
          <p:nvPr/>
        </p:nvSpPr>
        <p:spPr>
          <a:xfrm>
            <a:off x="512064" y="4319125"/>
            <a:ext cx="5449824" cy="13248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13">
            <a:extLst>
              <a:ext uri="{FF2B5EF4-FFF2-40B4-BE49-F238E27FC236}">
                <a16:creationId xmlns:a16="http://schemas.microsoft.com/office/drawing/2014/main" id="{317739F5-69DE-5A97-F87A-B30850B8578F}"/>
              </a:ext>
            </a:extLst>
          </p:cNvPr>
          <p:cNvSpPr txBox="1"/>
          <p:nvPr/>
        </p:nvSpPr>
        <p:spPr>
          <a:xfrm>
            <a:off x="676656" y="4465430"/>
            <a:ext cx="5084064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zh-CN" altLang="en-US" sz="13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阶段 </a:t>
            </a:r>
            <a:r>
              <a:rPr lang="en-US" altLang="zh-CN" sz="13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3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：人工验证与决策（门禁）</a:t>
            </a:r>
          </a:p>
          <a:p>
            <a:pPr algn="l">
              <a:spcAft>
                <a:spcPts val="0"/>
              </a:spcAft>
            </a:pPr>
            <a:endParaRPr sz="1300" b="1" dirty="0">
              <a:solidFill>
                <a:srgbClr val="1A202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TextBox 14">
            <a:extLst>
              <a:ext uri="{FF2B5EF4-FFF2-40B4-BE49-F238E27FC236}">
                <a16:creationId xmlns:a16="http://schemas.microsoft.com/office/drawing/2014/main" id="{91E01BAA-57FC-C1DC-5CBC-B2C437DC13AF}"/>
              </a:ext>
            </a:extLst>
          </p:cNvPr>
          <p:cNvSpPr txBox="1"/>
          <p:nvPr/>
        </p:nvSpPr>
        <p:spPr>
          <a:xfrm>
            <a:off x="676656" y="4794614"/>
            <a:ext cx="5065776" cy="689932"/>
          </a:xfrm>
          <a:prstGeom prst="rect">
            <a:avLst/>
          </a:prstGeom>
          <a:noFill/>
        </p:spPr>
        <p:txBody>
          <a:bodyPr wrap="square" lIns="9144" tIns="0" rIns="9144" bIns="0" anchor="t">
            <a:normAutofit/>
          </a:bodyPr>
          <a:lstStyle/>
          <a:p>
            <a:r>
              <a:rPr lang="zh-CN" altLang="en-US" sz="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：运行完整验证套件，结合人工验证清单做验收测试。</a:t>
            </a:r>
          </a:p>
          <a:p>
            <a:pPr lvl="1"/>
            <a:r>
              <a:rPr lang="zh-CN" altLang="en-US" sz="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：子任务完成，打标签，进入下一个子任务。</a:t>
            </a:r>
          </a:p>
          <a:p>
            <a:pPr lvl="1"/>
            <a:r>
              <a:rPr lang="zh-CN" altLang="en-US" sz="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发现问题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：描述错误现象、上下文，反馈给 </a:t>
            </a:r>
            <a:r>
              <a:rPr lang="en-US" altLang="zh-CN" sz="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r>
              <a:rPr lang="en-US" altLang="zh-CN" sz="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：基于反馈进行</a:t>
            </a:r>
            <a:r>
              <a:rPr lang="zh-CN" altLang="en-US" sz="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上下文保留式修正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（不丢失已有方案与已澄清需求），修正后再次经过自检并提交给人验证。此局部循环最多重复 </a:t>
            </a:r>
            <a:r>
              <a:rPr lang="en-US" altLang="zh-CN" sz="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 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次，避免无底循环。若反复不过，上升为方案变更，回退到阶段 </a:t>
            </a:r>
            <a:r>
              <a:rPr lang="en-US" altLang="zh-CN" sz="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重新设计。</a:t>
            </a:r>
          </a:p>
          <a:p>
            <a:pPr algn="l">
              <a:lnSpc>
                <a:spcPct val="105000"/>
              </a:lnSpc>
              <a:spcAft>
                <a:spcPts val="90"/>
              </a:spcAft>
            </a:pPr>
            <a:endParaRPr sz="800" b="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Rounded Rectangle 12">
            <a:extLst>
              <a:ext uri="{FF2B5EF4-FFF2-40B4-BE49-F238E27FC236}">
                <a16:creationId xmlns:a16="http://schemas.microsoft.com/office/drawing/2014/main" id="{3D2C0A27-CE87-224F-0C69-0EC7C55AEB8C}"/>
              </a:ext>
            </a:extLst>
          </p:cNvPr>
          <p:cNvSpPr/>
          <p:nvPr/>
        </p:nvSpPr>
        <p:spPr>
          <a:xfrm>
            <a:off x="6199632" y="4319935"/>
            <a:ext cx="5449824" cy="13248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13">
            <a:extLst>
              <a:ext uri="{FF2B5EF4-FFF2-40B4-BE49-F238E27FC236}">
                <a16:creationId xmlns:a16="http://schemas.microsoft.com/office/drawing/2014/main" id="{92C949AA-48A4-3251-F577-7067A50D884F}"/>
              </a:ext>
            </a:extLst>
          </p:cNvPr>
          <p:cNvSpPr txBox="1"/>
          <p:nvPr/>
        </p:nvSpPr>
        <p:spPr>
          <a:xfrm>
            <a:off x="6364224" y="4466240"/>
            <a:ext cx="5084064" cy="600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zh-CN" altLang="en-US" sz="13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阶段 </a:t>
            </a:r>
            <a:r>
              <a:rPr lang="en-US" altLang="zh-CN" sz="13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3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：闭环与沉淀（持续改进）</a:t>
            </a:r>
          </a:p>
          <a:p>
            <a:endParaRPr lang="zh-CN" altLang="en-US" sz="13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spcAft>
                <a:spcPts val="0"/>
              </a:spcAft>
            </a:pPr>
            <a:endParaRPr sz="1300" b="1" dirty="0">
              <a:solidFill>
                <a:srgbClr val="1A202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TextBox 14">
            <a:extLst>
              <a:ext uri="{FF2B5EF4-FFF2-40B4-BE49-F238E27FC236}">
                <a16:creationId xmlns:a16="http://schemas.microsoft.com/office/drawing/2014/main" id="{130D7C23-A812-6DD2-EF82-4CF9212F82D8}"/>
              </a:ext>
            </a:extLst>
          </p:cNvPr>
          <p:cNvSpPr txBox="1"/>
          <p:nvPr/>
        </p:nvSpPr>
        <p:spPr>
          <a:xfrm>
            <a:off x="6364224" y="4795424"/>
            <a:ext cx="5065776" cy="689932"/>
          </a:xfrm>
          <a:prstGeom prst="rect">
            <a:avLst/>
          </a:prstGeom>
          <a:noFill/>
        </p:spPr>
        <p:txBody>
          <a:bodyPr wrap="square" lIns="9144" tIns="0" rIns="9144" bIns="0" anchor="t">
            <a:normAutofit/>
          </a:bodyPr>
          <a:lstStyle/>
          <a:p>
            <a:r>
              <a:rPr lang="en-US" altLang="zh-CN" sz="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：总结本次子任务中实际遇到的风险、做出的决策、代码中需要注意的设计约束，形成一条</a:t>
            </a:r>
            <a:r>
              <a:rPr lang="zh-CN" altLang="en-US" sz="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开发笔记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，供团队和后续 </a:t>
            </a:r>
            <a:r>
              <a:rPr lang="en-US" altLang="zh-CN" sz="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 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调用时参考。</a:t>
            </a:r>
          </a:p>
          <a:p>
            <a:r>
              <a:rPr lang="zh-CN" altLang="en-US" sz="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：确认归档，必要时补充隐性知识。</a:t>
            </a:r>
          </a:p>
          <a:p>
            <a:pPr algn="l">
              <a:lnSpc>
                <a:spcPct val="105000"/>
              </a:lnSpc>
              <a:spcAft>
                <a:spcPts val="90"/>
              </a:spcAft>
            </a:pPr>
            <a:endParaRPr sz="800" b="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064" y="164592"/>
            <a:ext cx="1106424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dirty="0">
                <a:solidFill>
                  <a:srgbClr val="1A202C"/>
                </a:solidFill>
                <a:latin typeface="Microsoft YaHei"/>
              </a:rPr>
              <a:t>AI Agent </a:t>
            </a:r>
            <a:r>
              <a:rPr sz="2200" b="1" dirty="0" err="1">
                <a:solidFill>
                  <a:srgbClr val="1A202C"/>
                </a:solidFill>
                <a:latin typeface="Microsoft YaHei"/>
              </a:rPr>
              <a:t>协作开发范式｜简洁版流程图</a:t>
            </a:r>
            <a:endParaRPr sz="2200" b="1" dirty="0">
              <a:solidFill>
                <a:srgbClr val="1A202C"/>
              </a:solidFill>
              <a:latin typeface="Microsoft YaHe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0352" y="548640"/>
            <a:ext cx="932688" cy="45720"/>
          </a:xfrm>
          <a:prstGeom prst="rect">
            <a:avLst/>
          </a:prstGeom>
          <a:solidFill>
            <a:srgbClr val="C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12064" y="670894"/>
            <a:ext cx="10972800" cy="18288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C6471"/>
                </a:solidFill>
                <a:latin typeface="Microsoft YaHei"/>
              </a:rPr>
              <a:t>这页用简笔画展示一条最适合日常开发落地的协作主线：对齐 → 方案 → 执行 → 验证，并保留两个反馈回路。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" y="1002082"/>
            <a:ext cx="11137392" cy="498348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32103" y="1066090"/>
            <a:ext cx="115214" cy="115214"/>
          </a:xfrm>
          <a:prstGeom prst="ellipse">
            <a:avLst/>
          </a:prstGeom>
          <a:noFill/>
          <a:ln w="1524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889711" y="1181304"/>
            <a:ext cx="0" cy="131674"/>
          </a:xfrm>
          <a:prstGeom prst="line">
            <a:avLst/>
          </a:prstGeom>
          <a:ln w="15240">
            <a:solidFill>
              <a:srgbClr val="1A20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07415" y="1230682"/>
            <a:ext cx="164592" cy="0"/>
          </a:xfrm>
          <a:prstGeom prst="line">
            <a:avLst/>
          </a:prstGeom>
          <a:ln w="15240">
            <a:solidFill>
              <a:srgbClr val="1A20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815644" y="1312978"/>
            <a:ext cx="74067" cy="106984"/>
          </a:xfrm>
          <a:prstGeom prst="line">
            <a:avLst/>
          </a:prstGeom>
          <a:ln w="15240">
            <a:solidFill>
              <a:srgbClr val="1A20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89711" y="1312978"/>
            <a:ext cx="74066" cy="106984"/>
          </a:xfrm>
          <a:prstGeom prst="line">
            <a:avLst/>
          </a:prstGeom>
          <a:ln w="15240">
            <a:solidFill>
              <a:srgbClr val="1A20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78992" y="1093522"/>
            <a:ext cx="13716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A202C"/>
                </a:solidFill>
                <a:latin typeface="Microsoft YaHei"/>
              </a:rPr>
              <a:t>= 人：决策 / 把关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79038" y="1064261"/>
            <a:ext cx="230428" cy="181051"/>
          </a:xfrm>
          <a:prstGeom prst="roundRect">
            <a:avLst/>
          </a:prstGeom>
          <a:noFill/>
          <a:ln w="15240">
            <a:solidFill>
              <a:srgbClr val="C414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328415" y="1121868"/>
            <a:ext cx="24688" cy="24688"/>
          </a:xfrm>
          <a:prstGeom prst="ellipse">
            <a:avLst/>
          </a:prstGeom>
          <a:solidFill>
            <a:srgbClr val="C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427171" y="1121868"/>
            <a:ext cx="24688" cy="24688"/>
          </a:xfrm>
          <a:prstGeom prst="ellipse">
            <a:avLst/>
          </a:prstGeom>
          <a:solidFill>
            <a:srgbClr val="C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" name="Connector 14"/>
          <p:cNvCxnSpPr/>
          <p:nvPr/>
        </p:nvCxnSpPr>
        <p:spPr>
          <a:xfrm>
            <a:off x="3394252" y="1047802"/>
            <a:ext cx="0" cy="24688"/>
          </a:xfrm>
          <a:prstGeom prst="line">
            <a:avLst/>
          </a:prstGeom>
          <a:ln w="15240">
            <a:solidFill>
              <a:srgbClr val="C414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3377793" y="1031342"/>
            <a:ext cx="32918" cy="32918"/>
          </a:xfrm>
          <a:prstGeom prst="ellipse">
            <a:avLst/>
          </a:prstGeom>
          <a:solidFill>
            <a:srgbClr val="C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7" name="Connector 16"/>
          <p:cNvCxnSpPr/>
          <p:nvPr/>
        </p:nvCxnSpPr>
        <p:spPr>
          <a:xfrm>
            <a:off x="3394252" y="1245312"/>
            <a:ext cx="0" cy="131674"/>
          </a:xfrm>
          <a:prstGeom prst="line">
            <a:avLst/>
          </a:prstGeom>
          <a:ln w="15240">
            <a:solidFill>
              <a:srgbClr val="C414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295497" y="1294690"/>
            <a:ext cx="197511" cy="0"/>
          </a:xfrm>
          <a:prstGeom prst="line">
            <a:avLst/>
          </a:prstGeom>
          <a:ln w="15240">
            <a:solidFill>
              <a:srgbClr val="C414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3320186" y="1376986"/>
            <a:ext cx="74066" cy="82296"/>
          </a:xfrm>
          <a:prstGeom prst="line">
            <a:avLst/>
          </a:prstGeom>
          <a:ln w="15240">
            <a:solidFill>
              <a:srgbClr val="C414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394252" y="1376986"/>
            <a:ext cx="74067" cy="82296"/>
          </a:xfrm>
          <a:prstGeom prst="line">
            <a:avLst/>
          </a:prstGeom>
          <a:ln w="15240">
            <a:solidFill>
              <a:srgbClr val="C414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621024" y="1093522"/>
            <a:ext cx="17830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C4141C"/>
                </a:solidFill>
                <a:latin typeface="Microsoft YaHei"/>
              </a:rPr>
              <a:t>= AI：方案 / 实施 / 自测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181344" y="1194106"/>
            <a:ext cx="65836" cy="65836"/>
          </a:xfrm>
          <a:prstGeom prst="line">
            <a:avLst/>
          </a:prstGeom>
          <a:ln w="20320">
            <a:solidFill>
              <a:srgbClr val="C414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6247180" y="1111810"/>
            <a:ext cx="131674" cy="148132"/>
          </a:xfrm>
          <a:prstGeom prst="line">
            <a:avLst/>
          </a:prstGeom>
          <a:ln w="20320">
            <a:solidFill>
              <a:srgbClr val="C414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400800" y="1093522"/>
            <a:ext cx="41148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C6471"/>
                </a:solidFill>
                <a:latin typeface="Microsoft YaHei"/>
              </a:rPr>
              <a:t>= 通过进入下一步；不通过则走反馈回路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1869384"/>
            <a:ext cx="1828800" cy="969264"/>
          </a:xfrm>
          <a:prstGeom prst="roundRect">
            <a:avLst/>
          </a:prstGeom>
          <a:solidFill>
            <a:srgbClr val="FFF4F4"/>
          </a:solidFill>
          <a:ln w="12700">
            <a:solidFill>
              <a:srgbClr val="EE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28115" y="1979112"/>
            <a:ext cx="96012" cy="96012"/>
          </a:xfrm>
          <a:prstGeom prst="ellipse">
            <a:avLst/>
          </a:prstGeom>
          <a:noFill/>
          <a:ln w="1524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7" name="Connector 26"/>
          <p:cNvCxnSpPr/>
          <p:nvPr/>
        </p:nvCxnSpPr>
        <p:spPr>
          <a:xfrm>
            <a:off x="976121" y="2075124"/>
            <a:ext cx="0" cy="109728"/>
          </a:xfrm>
          <a:prstGeom prst="line">
            <a:avLst/>
          </a:prstGeom>
          <a:ln w="15240">
            <a:solidFill>
              <a:srgbClr val="1A20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07542" y="2116272"/>
            <a:ext cx="137160" cy="0"/>
          </a:xfrm>
          <a:prstGeom prst="line">
            <a:avLst/>
          </a:prstGeom>
          <a:ln w="15240">
            <a:solidFill>
              <a:srgbClr val="1A20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914400" y="2184852"/>
            <a:ext cx="61721" cy="89154"/>
          </a:xfrm>
          <a:prstGeom prst="line">
            <a:avLst/>
          </a:prstGeom>
          <a:ln w="15240">
            <a:solidFill>
              <a:srgbClr val="1A20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76121" y="2184852"/>
            <a:ext cx="61723" cy="89154"/>
          </a:xfrm>
          <a:prstGeom prst="line">
            <a:avLst/>
          </a:prstGeom>
          <a:ln w="15240">
            <a:solidFill>
              <a:srgbClr val="1A20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188719" y="1979112"/>
            <a:ext cx="12252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A202C"/>
                </a:solidFill>
                <a:latin typeface="Microsoft YaHei"/>
              </a:rPr>
              <a:t>1. 人给背景与目标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" y="2326584"/>
            <a:ext cx="1536192" cy="31089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70" b="0" dirty="0" err="1">
                <a:solidFill>
                  <a:srgbClr val="5C6471"/>
                </a:solidFill>
                <a:latin typeface="Microsoft YaHei"/>
              </a:rPr>
              <a:t>提供业务背景、目标、约束</a:t>
            </a:r>
            <a:r>
              <a:rPr sz="770" b="0" dirty="0">
                <a:solidFill>
                  <a:srgbClr val="5C6471"/>
                </a:solidFill>
                <a:latin typeface="Microsoft YaHei"/>
              </a:rPr>
              <a:t>
</a:t>
            </a:r>
            <a:r>
              <a:rPr sz="770" b="0" dirty="0" err="1">
                <a:solidFill>
                  <a:srgbClr val="5C6471"/>
                </a:solidFill>
                <a:latin typeface="Microsoft YaHei"/>
              </a:rPr>
              <a:t>和优先级</a:t>
            </a:r>
            <a:endParaRPr sz="770" b="0" dirty="0">
              <a:solidFill>
                <a:srgbClr val="5C6471"/>
              </a:solidFill>
              <a:latin typeface="Microsoft YaHei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2907792" y="1869384"/>
            <a:ext cx="1828800" cy="969264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3026664" y="1974540"/>
            <a:ext cx="192024" cy="150876"/>
          </a:xfrm>
          <a:prstGeom prst="roundRect">
            <a:avLst/>
          </a:prstGeom>
          <a:noFill/>
          <a:ln w="15240">
            <a:solidFill>
              <a:srgbClr val="C414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3067812" y="2022546"/>
            <a:ext cx="20574" cy="20574"/>
          </a:xfrm>
          <a:prstGeom prst="ellipse">
            <a:avLst/>
          </a:prstGeom>
          <a:solidFill>
            <a:srgbClr val="C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3150108" y="2022546"/>
            <a:ext cx="20574" cy="20574"/>
          </a:xfrm>
          <a:prstGeom prst="ellipse">
            <a:avLst/>
          </a:prstGeom>
          <a:solidFill>
            <a:srgbClr val="C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7" name="Connector 36"/>
          <p:cNvCxnSpPr/>
          <p:nvPr/>
        </p:nvCxnSpPr>
        <p:spPr>
          <a:xfrm>
            <a:off x="3122676" y="1960824"/>
            <a:ext cx="0" cy="20574"/>
          </a:xfrm>
          <a:prstGeom prst="line">
            <a:avLst/>
          </a:prstGeom>
          <a:ln w="15240">
            <a:solidFill>
              <a:srgbClr val="C414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3108960" y="1947108"/>
            <a:ext cx="27432" cy="27432"/>
          </a:xfrm>
          <a:prstGeom prst="ellipse">
            <a:avLst/>
          </a:prstGeom>
          <a:solidFill>
            <a:srgbClr val="C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9" name="Connector 38"/>
          <p:cNvCxnSpPr/>
          <p:nvPr/>
        </p:nvCxnSpPr>
        <p:spPr>
          <a:xfrm>
            <a:off x="3122676" y="2125416"/>
            <a:ext cx="0" cy="109728"/>
          </a:xfrm>
          <a:prstGeom prst="line">
            <a:avLst/>
          </a:prstGeom>
          <a:ln w="15240">
            <a:solidFill>
              <a:srgbClr val="C414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040380" y="2166564"/>
            <a:ext cx="164592" cy="0"/>
          </a:xfrm>
          <a:prstGeom prst="line">
            <a:avLst/>
          </a:prstGeom>
          <a:ln w="15240">
            <a:solidFill>
              <a:srgbClr val="C414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3060954" y="2235144"/>
            <a:ext cx="61722" cy="68580"/>
          </a:xfrm>
          <a:prstGeom prst="line">
            <a:avLst/>
          </a:prstGeom>
          <a:ln w="15240">
            <a:solidFill>
              <a:srgbClr val="C414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3122676" y="2235144"/>
            <a:ext cx="61722" cy="68580"/>
          </a:xfrm>
          <a:prstGeom prst="line">
            <a:avLst/>
          </a:prstGeom>
          <a:ln w="15240">
            <a:solidFill>
              <a:srgbClr val="C414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346704" y="1979112"/>
            <a:ext cx="12252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C4141C"/>
                </a:solidFill>
                <a:latin typeface="Microsoft YaHei"/>
              </a:rPr>
              <a:t>2. AI 复述并拆任务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17520" y="2326584"/>
            <a:ext cx="1536192" cy="31089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70" b="0" dirty="0" err="1">
                <a:solidFill>
                  <a:srgbClr val="5C6471"/>
                </a:solidFill>
                <a:latin typeface="Microsoft YaHei"/>
              </a:rPr>
              <a:t>识别歧义，拆成子任务</a:t>
            </a:r>
            <a:r>
              <a:rPr sz="770" b="0" dirty="0">
                <a:solidFill>
                  <a:srgbClr val="5C6471"/>
                </a:solidFill>
                <a:latin typeface="Microsoft YaHei"/>
              </a:rPr>
              <a:t>
</a:t>
            </a:r>
            <a:r>
              <a:rPr sz="770" b="0" dirty="0" err="1">
                <a:solidFill>
                  <a:srgbClr val="5C6471"/>
                </a:solidFill>
                <a:latin typeface="Microsoft YaHei"/>
              </a:rPr>
              <a:t>列边界与验收草稿</a:t>
            </a:r>
            <a:endParaRPr sz="770" b="0" dirty="0">
              <a:solidFill>
                <a:srgbClr val="5C6471"/>
              </a:solidFill>
              <a:latin typeface="Microsoft YaHei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5065776" y="1869384"/>
            <a:ext cx="1828800" cy="969264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5184648" y="1974540"/>
            <a:ext cx="192024" cy="150876"/>
          </a:xfrm>
          <a:prstGeom prst="roundRect">
            <a:avLst/>
          </a:prstGeom>
          <a:noFill/>
          <a:ln w="15240">
            <a:solidFill>
              <a:srgbClr val="C414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5225796" y="2022546"/>
            <a:ext cx="20574" cy="20574"/>
          </a:xfrm>
          <a:prstGeom prst="ellipse">
            <a:avLst/>
          </a:prstGeom>
          <a:solidFill>
            <a:srgbClr val="C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5308092" y="2022546"/>
            <a:ext cx="20574" cy="20574"/>
          </a:xfrm>
          <a:prstGeom prst="ellipse">
            <a:avLst/>
          </a:prstGeom>
          <a:solidFill>
            <a:srgbClr val="C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9" name="Connector 48"/>
          <p:cNvCxnSpPr/>
          <p:nvPr/>
        </p:nvCxnSpPr>
        <p:spPr>
          <a:xfrm>
            <a:off x="5280659" y="1960824"/>
            <a:ext cx="0" cy="20574"/>
          </a:xfrm>
          <a:prstGeom prst="line">
            <a:avLst/>
          </a:prstGeom>
          <a:ln w="15240">
            <a:solidFill>
              <a:srgbClr val="C414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5266944" y="1947108"/>
            <a:ext cx="27432" cy="27432"/>
          </a:xfrm>
          <a:prstGeom prst="ellipse">
            <a:avLst/>
          </a:prstGeom>
          <a:solidFill>
            <a:srgbClr val="C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1" name="Connector 50"/>
          <p:cNvCxnSpPr/>
          <p:nvPr/>
        </p:nvCxnSpPr>
        <p:spPr>
          <a:xfrm>
            <a:off x="5280659" y="2125416"/>
            <a:ext cx="0" cy="109728"/>
          </a:xfrm>
          <a:prstGeom prst="line">
            <a:avLst/>
          </a:prstGeom>
          <a:ln w="15240">
            <a:solidFill>
              <a:srgbClr val="C414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198364" y="2166564"/>
            <a:ext cx="164591" cy="0"/>
          </a:xfrm>
          <a:prstGeom prst="line">
            <a:avLst/>
          </a:prstGeom>
          <a:ln w="15240">
            <a:solidFill>
              <a:srgbClr val="C414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5218938" y="2235144"/>
            <a:ext cx="61721" cy="68580"/>
          </a:xfrm>
          <a:prstGeom prst="line">
            <a:avLst/>
          </a:prstGeom>
          <a:ln w="15240">
            <a:solidFill>
              <a:srgbClr val="C414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280659" y="2235144"/>
            <a:ext cx="61722" cy="68580"/>
          </a:xfrm>
          <a:prstGeom prst="line">
            <a:avLst/>
          </a:prstGeom>
          <a:ln w="15240">
            <a:solidFill>
              <a:srgbClr val="C414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5504688" y="1979112"/>
            <a:ext cx="1225296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dirty="0">
                <a:solidFill>
                  <a:srgbClr val="C4141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AI </a:t>
            </a:r>
            <a:r>
              <a:rPr sz="1000" b="1" dirty="0" err="1">
                <a:solidFill>
                  <a:srgbClr val="C4141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生成方案</a:t>
            </a:r>
            <a:r>
              <a:rPr lang="zh-CN" altLang="en-US" sz="1000" b="1" dirty="0">
                <a:solidFill>
                  <a:srgbClr val="C4141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、风险、待决策</a:t>
            </a:r>
            <a:endParaRPr sz="1000" b="1" dirty="0">
              <a:solidFill>
                <a:srgbClr val="C4141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5175504" y="2326584"/>
            <a:ext cx="1536192" cy="31089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70" b="0" dirty="0" err="1">
                <a:solidFill>
                  <a:srgbClr val="5C6471"/>
                </a:solidFill>
                <a:latin typeface="Microsoft YaHei"/>
              </a:rPr>
              <a:t>给可选方案、风险、影响范围</a:t>
            </a:r>
            <a:r>
              <a:rPr sz="770" b="0" dirty="0">
                <a:solidFill>
                  <a:srgbClr val="5C6471"/>
                </a:solidFill>
                <a:latin typeface="Microsoft YaHei"/>
              </a:rPr>
              <a:t>
</a:t>
            </a:r>
            <a:r>
              <a:rPr sz="770" b="0" dirty="0" err="1">
                <a:solidFill>
                  <a:srgbClr val="5C6471"/>
                </a:solidFill>
                <a:latin typeface="Microsoft YaHei"/>
              </a:rPr>
              <a:t>和推荐理由</a:t>
            </a:r>
            <a:endParaRPr sz="770" b="0" dirty="0">
              <a:solidFill>
                <a:srgbClr val="5C6471"/>
              </a:solidFill>
              <a:latin typeface="Microsoft YaHei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7223760" y="1869384"/>
            <a:ext cx="1828800" cy="969264"/>
          </a:xfrm>
          <a:prstGeom prst="roundRect">
            <a:avLst/>
          </a:prstGeom>
          <a:solidFill>
            <a:srgbClr val="FFF4F4"/>
          </a:solidFill>
          <a:ln w="12700">
            <a:solidFill>
              <a:srgbClr val="EE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7402067" y="1979112"/>
            <a:ext cx="96012" cy="96012"/>
          </a:xfrm>
          <a:prstGeom prst="ellipse">
            <a:avLst/>
          </a:prstGeom>
          <a:noFill/>
          <a:ln w="1524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9" name="Connector 58"/>
          <p:cNvCxnSpPr/>
          <p:nvPr/>
        </p:nvCxnSpPr>
        <p:spPr>
          <a:xfrm>
            <a:off x="7450073" y="2075124"/>
            <a:ext cx="0" cy="109728"/>
          </a:xfrm>
          <a:prstGeom prst="line">
            <a:avLst/>
          </a:prstGeom>
          <a:ln w="15240">
            <a:solidFill>
              <a:srgbClr val="1A20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7381494" y="2116272"/>
            <a:ext cx="137160" cy="0"/>
          </a:xfrm>
          <a:prstGeom prst="line">
            <a:avLst/>
          </a:prstGeom>
          <a:ln w="15240">
            <a:solidFill>
              <a:srgbClr val="1A20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7388352" y="2184852"/>
            <a:ext cx="61721" cy="89154"/>
          </a:xfrm>
          <a:prstGeom prst="line">
            <a:avLst/>
          </a:prstGeom>
          <a:ln w="15240">
            <a:solidFill>
              <a:srgbClr val="1A20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7450073" y="2184852"/>
            <a:ext cx="61723" cy="89154"/>
          </a:xfrm>
          <a:prstGeom prst="line">
            <a:avLst/>
          </a:prstGeom>
          <a:ln w="15240">
            <a:solidFill>
              <a:srgbClr val="1A20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7662672" y="1979112"/>
            <a:ext cx="12252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A202C"/>
                </a:solidFill>
                <a:latin typeface="Microsoft YaHei"/>
              </a:rPr>
              <a:t>4. 人确认方案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33488" y="2326584"/>
            <a:ext cx="1536192" cy="31089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70" b="0" dirty="0" err="1">
                <a:solidFill>
                  <a:srgbClr val="5C6471"/>
                </a:solidFill>
                <a:latin typeface="Microsoft YaHei"/>
              </a:rPr>
              <a:t>通过则批准；不通过</a:t>
            </a:r>
            <a:r>
              <a:rPr sz="770" b="0" dirty="0">
                <a:solidFill>
                  <a:srgbClr val="5C6471"/>
                </a:solidFill>
                <a:latin typeface="Microsoft YaHei"/>
              </a:rPr>
              <a:t>
</a:t>
            </a:r>
            <a:r>
              <a:rPr sz="770" b="0" dirty="0" err="1">
                <a:solidFill>
                  <a:srgbClr val="5C6471"/>
                </a:solidFill>
                <a:latin typeface="Microsoft YaHei"/>
              </a:rPr>
              <a:t>反馈修改</a:t>
            </a:r>
            <a:endParaRPr sz="770" b="0" dirty="0">
              <a:solidFill>
                <a:srgbClr val="5C6471"/>
              </a:solidFill>
              <a:latin typeface="Microsoft YaHei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1828800" y="3826199"/>
            <a:ext cx="1828800" cy="969264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ounded Rectangle 65"/>
          <p:cNvSpPr/>
          <p:nvPr/>
        </p:nvSpPr>
        <p:spPr>
          <a:xfrm>
            <a:off x="1947672" y="3931355"/>
            <a:ext cx="192024" cy="150876"/>
          </a:xfrm>
          <a:prstGeom prst="roundRect">
            <a:avLst/>
          </a:prstGeom>
          <a:noFill/>
          <a:ln w="15240">
            <a:solidFill>
              <a:srgbClr val="C414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1988820" y="3979361"/>
            <a:ext cx="20574" cy="20574"/>
          </a:xfrm>
          <a:prstGeom prst="ellipse">
            <a:avLst/>
          </a:prstGeom>
          <a:solidFill>
            <a:srgbClr val="C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2071116" y="3979361"/>
            <a:ext cx="20574" cy="20574"/>
          </a:xfrm>
          <a:prstGeom prst="ellipse">
            <a:avLst/>
          </a:prstGeom>
          <a:solidFill>
            <a:srgbClr val="C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9" name="Connector 68"/>
          <p:cNvCxnSpPr/>
          <p:nvPr/>
        </p:nvCxnSpPr>
        <p:spPr>
          <a:xfrm>
            <a:off x="2043684" y="3917639"/>
            <a:ext cx="0" cy="20574"/>
          </a:xfrm>
          <a:prstGeom prst="line">
            <a:avLst/>
          </a:prstGeom>
          <a:ln w="15240">
            <a:solidFill>
              <a:srgbClr val="C414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2029968" y="3903923"/>
            <a:ext cx="27432" cy="27432"/>
          </a:xfrm>
          <a:prstGeom prst="ellipse">
            <a:avLst/>
          </a:prstGeom>
          <a:solidFill>
            <a:srgbClr val="C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1" name="Connector 70"/>
          <p:cNvCxnSpPr/>
          <p:nvPr/>
        </p:nvCxnSpPr>
        <p:spPr>
          <a:xfrm>
            <a:off x="2043684" y="4082231"/>
            <a:ext cx="0" cy="109728"/>
          </a:xfrm>
          <a:prstGeom prst="line">
            <a:avLst/>
          </a:prstGeom>
          <a:ln w="15240">
            <a:solidFill>
              <a:srgbClr val="C414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961388" y="4123379"/>
            <a:ext cx="164592" cy="0"/>
          </a:xfrm>
          <a:prstGeom prst="line">
            <a:avLst/>
          </a:prstGeom>
          <a:ln w="15240">
            <a:solidFill>
              <a:srgbClr val="C414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H="1">
            <a:off x="1981962" y="4191959"/>
            <a:ext cx="61722" cy="68580"/>
          </a:xfrm>
          <a:prstGeom prst="line">
            <a:avLst/>
          </a:prstGeom>
          <a:ln w="15240">
            <a:solidFill>
              <a:srgbClr val="C414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043684" y="4191959"/>
            <a:ext cx="61722" cy="68580"/>
          </a:xfrm>
          <a:prstGeom prst="line">
            <a:avLst/>
          </a:prstGeom>
          <a:ln w="15240">
            <a:solidFill>
              <a:srgbClr val="C414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2267712" y="3935927"/>
            <a:ext cx="12252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1">
                <a:solidFill>
                  <a:srgbClr val="C4141C"/>
                </a:solidFill>
                <a:latin typeface="Microsoft YaHei"/>
              </a:rPr>
              <a:t>5. AI 增量实施 + 自测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938528" y="4283399"/>
            <a:ext cx="1536192" cy="31089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70" b="0">
                <a:solidFill>
                  <a:srgbClr val="5C6471"/>
                </a:solidFill>
                <a:latin typeface="Microsoft YaHei"/>
              </a:rPr>
              <a:t>按批准方案改代码
并运行自测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553712" y="3826199"/>
            <a:ext cx="1828800" cy="969264"/>
          </a:xfrm>
          <a:prstGeom prst="roundRect">
            <a:avLst/>
          </a:prstGeom>
          <a:solidFill>
            <a:srgbClr val="FFF4F4"/>
          </a:solidFill>
          <a:ln w="12700">
            <a:solidFill>
              <a:srgbClr val="EE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4732020" y="3935927"/>
            <a:ext cx="96012" cy="96012"/>
          </a:xfrm>
          <a:prstGeom prst="ellipse">
            <a:avLst/>
          </a:prstGeom>
          <a:noFill/>
          <a:ln w="1524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9" name="Connector 78"/>
          <p:cNvCxnSpPr/>
          <p:nvPr/>
        </p:nvCxnSpPr>
        <p:spPr>
          <a:xfrm>
            <a:off x="4780026" y="4031940"/>
            <a:ext cx="0" cy="109727"/>
          </a:xfrm>
          <a:prstGeom prst="line">
            <a:avLst/>
          </a:prstGeom>
          <a:ln w="15240">
            <a:solidFill>
              <a:srgbClr val="1A20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711446" y="4073088"/>
            <a:ext cx="137160" cy="0"/>
          </a:xfrm>
          <a:prstGeom prst="line">
            <a:avLst/>
          </a:prstGeom>
          <a:ln w="15240">
            <a:solidFill>
              <a:srgbClr val="1A20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H="1">
            <a:off x="4718304" y="4141667"/>
            <a:ext cx="61722" cy="89154"/>
          </a:xfrm>
          <a:prstGeom prst="line">
            <a:avLst/>
          </a:prstGeom>
          <a:ln w="15240">
            <a:solidFill>
              <a:srgbClr val="1A20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4780026" y="4141667"/>
            <a:ext cx="61722" cy="89154"/>
          </a:xfrm>
          <a:prstGeom prst="line">
            <a:avLst/>
          </a:prstGeom>
          <a:ln w="15240">
            <a:solidFill>
              <a:srgbClr val="1A20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4992624" y="3935927"/>
            <a:ext cx="12252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A202C"/>
                </a:solidFill>
                <a:latin typeface="Microsoft YaHei"/>
              </a:rPr>
              <a:t>6. 人验证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663440" y="4283399"/>
            <a:ext cx="1536192" cy="31089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70" b="0" dirty="0" err="1">
                <a:solidFill>
                  <a:srgbClr val="5C6471"/>
                </a:solidFill>
                <a:latin typeface="Microsoft YaHei"/>
              </a:rPr>
              <a:t>看结果是否满足预期</a:t>
            </a:r>
            <a:r>
              <a:rPr sz="770" b="0" dirty="0">
                <a:solidFill>
                  <a:srgbClr val="5C6471"/>
                </a:solidFill>
                <a:latin typeface="Microsoft YaHei"/>
              </a:rPr>
              <a:t>
</a:t>
            </a:r>
            <a:r>
              <a:rPr sz="770" b="0" dirty="0" err="1">
                <a:solidFill>
                  <a:srgbClr val="5C6471"/>
                </a:solidFill>
                <a:latin typeface="Microsoft YaHei"/>
              </a:rPr>
              <a:t>是否可接受</a:t>
            </a:r>
            <a:endParaRPr sz="770" b="0" dirty="0">
              <a:solidFill>
                <a:srgbClr val="5C6471"/>
              </a:solidFill>
              <a:latin typeface="Microsoft YaHei"/>
            </a:endParaRPr>
          </a:p>
        </p:txBody>
      </p:sp>
      <p:sp>
        <p:nvSpPr>
          <p:cNvPr id="85" name="Rounded Rectangle 84"/>
          <p:cNvSpPr/>
          <p:nvPr/>
        </p:nvSpPr>
        <p:spPr>
          <a:xfrm>
            <a:off x="7278624" y="3826199"/>
            <a:ext cx="1828800" cy="969264"/>
          </a:xfrm>
          <a:prstGeom prst="roundRect">
            <a:avLst/>
          </a:prstGeom>
          <a:solidFill>
            <a:srgbClr val="F4FBF7"/>
          </a:solidFill>
          <a:ln w="12700">
            <a:solidFill>
              <a:srgbClr val="C1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6" name="Connector 85"/>
          <p:cNvCxnSpPr/>
          <p:nvPr/>
        </p:nvCxnSpPr>
        <p:spPr>
          <a:xfrm>
            <a:off x="7424927" y="4068515"/>
            <a:ext cx="62180" cy="62180"/>
          </a:xfrm>
          <a:prstGeom prst="line">
            <a:avLst/>
          </a:prstGeom>
          <a:ln w="20320">
            <a:solidFill>
              <a:srgbClr val="C414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7487107" y="3990791"/>
            <a:ext cx="124358" cy="139904"/>
          </a:xfrm>
          <a:prstGeom prst="line">
            <a:avLst/>
          </a:prstGeom>
          <a:ln w="20320">
            <a:solidFill>
              <a:srgbClr val="C414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7717536" y="3935927"/>
            <a:ext cx="12252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A202C"/>
                </a:solidFill>
                <a:latin typeface="Microsoft YaHei"/>
              </a:rPr>
              <a:t>7. 完成 / 沉淀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388352" y="4283399"/>
            <a:ext cx="1536192" cy="31089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70" b="0">
                <a:solidFill>
                  <a:srgbClr val="5C6471"/>
                </a:solidFill>
                <a:latin typeface="Microsoft YaHei"/>
              </a:rPr>
              <a:t>整理结论，沉淀经验到
规则或知识库</a:t>
            </a:r>
          </a:p>
        </p:txBody>
      </p:sp>
      <p:sp>
        <p:nvSpPr>
          <p:cNvPr id="90" name="Chevron 89"/>
          <p:cNvSpPr/>
          <p:nvPr/>
        </p:nvSpPr>
        <p:spPr>
          <a:xfrm>
            <a:off x="2651760" y="2271720"/>
            <a:ext cx="201168" cy="164592"/>
          </a:xfrm>
          <a:prstGeom prst="chevron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Chevron 90"/>
          <p:cNvSpPr/>
          <p:nvPr/>
        </p:nvSpPr>
        <p:spPr>
          <a:xfrm>
            <a:off x="4809744" y="2271720"/>
            <a:ext cx="201168" cy="164592"/>
          </a:xfrm>
          <a:prstGeom prst="chevron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Chevron 91"/>
          <p:cNvSpPr/>
          <p:nvPr/>
        </p:nvSpPr>
        <p:spPr>
          <a:xfrm>
            <a:off x="6967728" y="2271720"/>
            <a:ext cx="201168" cy="164592"/>
          </a:xfrm>
          <a:prstGeom prst="chevron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Down Arrow 92"/>
          <p:cNvSpPr/>
          <p:nvPr/>
        </p:nvSpPr>
        <p:spPr>
          <a:xfrm>
            <a:off x="8028431" y="2966664"/>
            <a:ext cx="182880" cy="457200"/>
          </a:xfrm>
          <a:prstGeom prst="downArrow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Chevron 93"/>
          <p:cNvSpPr/>
          <p:nvPr/>
        </p:nvSpPr>
        <p:spPr>
          <a:xfrm>
            <a:off x="4187952" y="4210248"/>
            <a:ext cx="201168" cy="164592"/>
          </a:xfrm>
          <a:prstGeom prst="chevron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Chevron 94"/>
          <p:cNvSpPr/>
          <p:nvPr/>
        </p:nvSpPr>
        <p:spPr>
          <a:xfrm>
            <a:off x="6912864" y="4210248"/>
            <a:ext cx="201168" cy="164592"/>
          </a:xfrm>
          <a:prstGeom prst="chevron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ounded Rectangle 95"/>
          <p:cNvSpPr/>
          <p:nvPr/>
        </p:nvSpPr>
        <p:spPr>
          <a:xfrm>
            <a:off x="9400032" y="1942536"/>
            <a:ext cx="1883664" cy="493776"/>
          </a:xfrm>
          <a:prstGeom prst="roundRect">
            <a:avLst/>
          </a:prstGeom>
          <a:solidFill>
            <a:srgbClr val="FFF9EE"/>
          </a:solidFill>
          <a:ln w="12700">
            <a:solidFill>
              <a:srgbClr val="F0D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9564624" y="2088840"/>
            <a:ext cx="155448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C4141C"/>
                </a:solidFill>
                <a:latin typeface="Microsoft YaHei"/>
              </a:rPr>
              <a:t>方案不通过 → 反馈修改</a:t>
            </a:r>
          </a:p>
        </p:txBody>
      </p:sp>
      <p:sp>
        <p:nvSpPr>
          <p:cNvPr id="98" name="Left Arrow 97"/>
          <p:cNvSpPr/>
          <p:nvPr/>
        </p:nvSpPr>
        <p:spPr>
          <a:xfrm>
            <a:off x="8412480" y="2052264"/>
            <a:ext cx="658368" cy="201168"/>
          </a:xfrm>
          <a:prstGeom prst="leftArrow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ounded Rectangle 98"/>
          <p:cNvSpPr/>
          <p:nvPr/>
        </p:nvSpPr>
        <p:spPr>
          <a:xfrm>
            <a:off x="9198864" y="3643320"/>
            <a:ext cx="2084831" cy="1097280"/>
          </a:xfrm>
          <a:prstGeom prst="roundRect">
            <a:avLst/>
          </a:prstGeom>
          <a:solidFill>
            <a:srgbClr val="FFF9EE"/>
          </a:solidFill>
          <a:ln w="12700">
            <a:solidFill>
              <a:srgbClr val="F0D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9363456" y="3771336"/>
            <a:ext cx="177393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C4141C"/>
                </a:solidFill>
                <a:latin typeface="Microsoft YaHei"/>
              </a:rPr>
              <a:t>验证后有问题？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363456" y="4027368"/>
            <a:ext cx="1700784" cy="512064"/>
          </a:xfrm>
          <a:prstGeom prst="rect">
            <a:avLst/>
          </a:prstGeom>
          <a:noFill/>
        </p:spPr>
        <p:txBody>
          <a:bodyPr wrap="square" lIns="9144" tIns="0" rIns="9144" bIns="0" anchor="t">
            <a:normAutofit/>
          </a:bodyPr>
          <a:lstStyle/>
          <a:p>
            <a:pPr algn="l">
              <a:lnSpc>
                <a:spcPct val="102000"/>
              </a:lnSpc>
              <a:spcAft>
                <a:spcPts val="80"/>
              </a:spcAft>
            </a:pPr>
            <a:r>
              <a:rPr sz="745" b="0">
                <a:solidFill>
                  <a:srgbClr val="5C6471"/>
                </a:solidFill>
                <a:latin typeface="Microsoft YaHei"/>
              </a:rPr>
              <a:t>• 局部问题：回到“AI 增量实施 + 自测”</a:t>
            </a:r>
          </a:p>
          <a:p>
            <a:pPr algn="l">
              <a:lnSpc>
                <a:spcPct val="102000"/>
              </a:lnSpc>
              <a:spcAft>
                <a:spcPts val="80"/>
              </a:spcAft>
            </a:pPr>
            <a:r>
              <a:rPr sz="745" b="0">
                <a:solidFill>
                  <a:srgbClr val="5C6471"/>
                </a:solidFill>
                <a:latin typeface="Microsoft YaHei"/>
              </a:rPr>
              <a:t>• 方向错了：回到“AI 生成方案”</a:t>
            </a:r>
          </a:p>
        </p:txBody>
      </p:sp>
      <p:sp>
        <p:nvSpPr>
          <p:cNvPr id="102" name="Chevron 101"/>
          <p:cNvSpPr/>
          <p:nvPr/>
        </p:nvSpPr>
        <p:spPr>
          <a:xfrm>
            <a:off x="6565392" y="4210248"/>
            <a:ext cx="201168" cy="164592"/>
          </a:xfrm>
          <a:prstGeom prst="chevron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ight Arrow 102"/>
          <p:cNvSpPr/>
          <p:nvPr/>
        </p:nvSpPr>
        <p:spPr>
          <a:xfrm>
            <a:off x="8375904" y="4082232"/>
            <a:ext cx="493776" cy="164592"/>
          </a:xfrm>
          <a:prstGeom prst="rightArrow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Left Arrow 103"/>
          <p:cNvSpPr/>
          <p:nvPr/>
        </p:nvSpPr>
        <p:spPr>
          <a:xfrm>
            <a:off x="8558784" y="4594296"/>
            <a:ext cx="987552" cy="164592"/>
          </a:xfrm>
          <a:prstGeom prst="leftArrow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Up Arrow 104"/>
          <p:cNvSpPr/>
          <p:nvPr/>
        </p:nvSpPr>
        <p:spPr>
          <a:xfrm>
            <a:off x="9985248" y="3003240"/>
            <a:ext cx="164592" cy="402336"/>
          </a:xfrm>
          <a:prstGeom prst="upArrow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Left Arrow 105"/>
          <p:cNvSpPr/>
          <p:nvPr/>
        </p:nvSpPr>
        <p:spPr>
          <a:xfrm>
            <a:off x="8065008" y="3003240"/>
            <a:ext cx="1901952" cy="164592"/>
          </a:xfrm>
          <a:prstGeom prst="leftArrow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ounded Rectangle 106"/>
          <p:cNvSpPr/>
          <p:nvPr/>
        </p:nvSpPr>
        <p:spPr>
          <a:xfrm>
            <a:off x="512064" y="5409491"/>
            <a:ext cx="11137392" cy="475488"/>
          </a:xfrm>
          <a:prstGeom prst="roundRect">
            <a:avLst/>
          </a:prstGeom>
          <a:solidFill>
            <a:srgbClr val="FFF4F4"/>
          </a:solidFill>
          <a:ln w="12700">
            <a:solidFill>
              <a:srgbClr val="EE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731520" y="5544772"/>
            <a:ext cx="10698480" cy="274320"/>
          </a:xfrm>
          <a:prstGeom prst="rect">
            <a:avLst/>
          </a:prstGeom>
          <a:noFill/>
        </p:spPr>
        <p:txBody>
          <a:bodyPr wrap="square" lIns="9144" tIns="0" rIns="9144" bIns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80"/>
              </a:spcAft>
            </a:pPr>
            <a:r>
              <a:rPr sz="940" b="1" dirty="0" err="1">
                <a:solidFill>
                  <a:srgbClr val="C4141C"/>
                </a:solidFill>
                <a:latin typeface="Microsoft YaHei"/>
              </a:rPr>
              <a:t>这套范式最重要的不是“让</a:t>
            </a:r>
            <a:r>
              <a:rPr sz="940" b="1" dirty="0">
                <a:solidFill>
                  <a:srgbClr val="C4141C"/>
                </a:solidFill>
                <a:latin typeface="Microsoft YaHei"/>
              </a:rPr>
              <a:t> AI </a:t>
            </a:r>
            <a:r>
              <a:rPr sz="940" b="1" dirty="0" err="1">
                <a:solidFill>
                  <a:srgbClr val="C4141C"/>
                </a:solidFill>
                <a:latin typeface="Microsoft YaHei"/>
              </a:rPr>
              <a:t>一次做完</a:t>
            </a:r>
            <a:r>
              <a:rPr sz="940" b="1" dirty="0">
                <a:solidFill>
                  <a:srgbClr val="C4141C"/>
                </a:solidFill>
                <a:latin typeface="Microsoft YaHei"/>
              </a:rPr>
              <a:t>”，</a:t>
            </a:r>
            <a:r>
              <a:rPr sz="940" b="1" dirty="0" err="1">
                <a:solidFill>
                  <a:srgbClr val="C4141C"/>
                </a:solidFill>
                <a:latin typeface="Microsoft YaHei"/>
              </a:rPr>
              <a:t>而是让人与</a:t>
            </a:r>
            <a:r>
              <a:rPr sz="940" b="1" dirty="0">
                <a:solidFill>
                  <a:srgbClr val="C4141C"/>
                </a:solidFill>
                <a:latin typeface="Microsoft YaHei"/>
              </a:rPr>
              <a:t> AI </a:t>
            </a:r>
            <a:r>
              <a:rPr sz="940" b="1" dirty="0" err="1">
                <a:solidFill>
                  <a:srgbClr val="C4141C"/>
                </a:solidFill>
                <a:latin typeface="Microsoft YaHei"/>
              </a:rPr>
              <a:t>形成稳定节奏：先对齐、再决策、再增量实施、再验证，必要时小步回退</a:t>
            </a:r>
            <a:r>
              <a:rPr sz="940" b="1" dirty="0">
                <a:solidFill>
                  <a:srgbClr val="C4141C"/>
                </a:solidFill>
                <a:latin typeface="Microsoft YaHei"/>
              </a:rPr>
              <a:t>。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02920" y="6455664"/>
            <a:ext cx="6126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C6471"/>
                </a:solidFill>
                <a:latin typeface="Microsoft YaHei"/>
              </a:rPr>
              <a:t>本次目标：带大家入门 AI 辅助研发，把工具真正用起来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842248" y="6455664"/>
            <a:ext cx="113385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80" b="0">
                <a:solidFill>
                  <a:srgbClr val="5C6471"/>
                </a:solidFill>
                <a:latin typeface="Microsoft YaHei"/>
              </a:rPr>
              <a:t>2026 年 5 月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0104120" y="6464808"/>
            <a:ext cx="9144" cy="128016"/>
          </a:xfrm>
          <a:prstGeom prst="rect">
            <a:avLst/>
          </a:prstGeom>
          <a:solidFill>
            <a:srgbClr val="D7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10552176" y="6437376"/>
            <a:ext cx="75895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1">
                <a:solidFill>
                  <a:srgbClr val="1A202C"/>
                </a:solidFill>
                <a:latin typeface="Arial"/>
              </a:rPr>
              <a:t>HUAWEI</a:t>
            </a:r>
          </a:p>
        </p:txBody>
      </p:sp>
      <p:pic>
        <p:nvPicPr>
          <p:cNvPr id="113" name="Picture 83" descr="image.png">
            <a:extLst>
              <a:ext uri="{FF2B5EF4-FFF2-40B4-BE49-F238E27FC236}">
                <a16:creationId xmlns:a16="http://schemas.microsoft.com/office/drawing/2014/main" id="{4C1AB346-C5D7-E556-06B5-18888A0DC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9568" y="6382512"/>
            <a:ext cx="266315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04672" y="1389888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C4141C"/>
                </a:solidFill>
                <a:latin typeface="Microsoft YaHei"/>
              </a:rPr>
              <a:t>END / Q&amp;A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19072"/>
            <a:ext cx="786384" cy="54864"/>
          </a:xfrm>
          <a:prstGeom prst="rect">
            <a:avLst/>
          </a:prstGeom>
          <a:solidFill>
            <a:srgbClr val="C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1993392"/>
            <a:ext cx="621792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A202C"/>
                </a:solidFill>
                <a:latin typeface="Microsoft YaHei"/>
              </a:rPr>
              <a:t>谢谢聆听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658368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5C6471"/>
                </a:solidFill>
                <a:latin typeface="Microsoft YaHei"/>
              </a:rPr>
              <a:t>欢迎交流：AI 不是替你负责的人，而是放大你能力的工具。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43800" y="1554480"/>
            <a:ext cx="3657600" cy="2971800"/>
          </a:xfrm>
          <a:prstGeom prst="roundRect">
            <a:avLst/>
          </a:prstGeom>
          <a:solidFill>
            <a:srgbClr val="FAFBFC"/>
          </a:solidFill>
          <a:ln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955279" y="1920240"/>
            <a:ext cx="310896" cy="310896"/>
          </a:xfrm>
          <a:prstGeom prst="ellipse">
            <a:avLst/>
          </a:prstGeom>
          <a:solidFill>
            <a:srgbClr val="FFF4F4"/>
          </a:solidFill>
          <a:ln>
            <a:solidFill>
              <a:srgbClr val="EE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94192" y="1965960"/>
            <a:ext cx="20574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1">
                <a:solidFill>
                  <a:srgbClr val="C4141C"/>
                </a:solidFill>
                <a:latin typeface="Microsoft YaHei"/>
              </a:rPr>
              <a:t>问题 Q</a:t>
            </a:r>
          </a:p>
        </p:txBody>
      </p:sp>
      <p:sp>
        <p:nvSpPr>
          <p:cNvPr id="9" name="Oval 8"/>
          <p:cNvSpPr/>
          <p:nvPr/>
        </p:nvSpPr>
        <p:spPr>
          <a:xfrm>
            <a:off x="7955279" y="2578608"/>
            <a:ext cx="310896" cy="310896"/>
          </a:xfrm>
          <a:prstGeom prst="ellipse">
            <a:avLst/>
          </a:prstGeom>
          <a:solidFill>
            <a:srgbClr val="FFF4F4"/>
          </a:solidFill>
          <a:ln>
            <a:solidFill>
              <a:srgbClr val="EE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94192" y="2624328"/>
            <a:ext cx="20574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1">
                <a:solidFill>
                  <a:srgbClr val="C4141C"/>
                </a:solidFill>
                <a:latin typeface="Microsoft YaHei"/>
              </a:rPr>
              <a:t>交流 A</a:t>
            </a:r>
          </a:p>
        </p:txBody>
      </p:sp>
      <p:sp>
        <p:nvSpPr>
          <p:cNvPr id="11" name="Oval 10"/>
          <p:cNvSpPr/>
          <p:nvPr/>
        </p:nvSpPr>
        <p:spPr>
          <a:xfrm>
            <a:off x="7955279" y="3236976"/>
            <a:ext cx="310896" cy="310896"/>
          </a:xfrm>
          <a:prstGeom prst="ellipse">
            <a:avLst/>
          </a:prstGeom>
          <a:solidFill>
            <a:srgbClr val="FFF4F4"/>
          </a:solidFill>
          <a:ln>
            <a:solidFill>
              <a:srgbClr val="EE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94192" y="3282696"/>
            <a:ext cx="20574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1">
                <a:solidFill>
                  <a:srgbClr val="C4141C"/>
                </a:solidFill>
                <a:latin typeface="Microsoft YaHei"/>
              </a:rPr>
              <a:t>讨论 &amp;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886200"/>
            <a:ext cx="5440680" cy="502920"/>
          </a:xfrm>
          <a:prstGeom prst="roundRect">
            <a:avLst/>
          </a:prstGeom>
          <a:solidFill>
            <a:srgbClr val="FFF4F4"/>
          </a:solidFill>
          <a:ln>
            <a:solidFill>
              <a:srgbClr val="EE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4041648"/>
            <a:ext cx="49834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4141C"/>
                </a:solidFill>
                <a:latin typeface="Microsoft YaHei"/>
              </a:rPr>
              <a:t>“让 AI 多干活，但别让 AI 独自拍板。”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55664"/>
            <a:ext cx="6126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C6471"/>
                </a:solidFill>
                <a:latin typeface="Microsoft YaHei"/>
              </a:rPr>
              <a:t>本次目标：带大家入门 AI 辅助研发，把工具真正用起来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42248" y="6455664"/>
            <a:ext cx="113385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80" b="0">
                <a:solidFill>
                  <a:srgbClr val="5C6471"/>
                </a:solidFill>
                <a:latin typeface="Microsoft YaHei"/>
              </a:rPr>
              <a:t>2026 年 5 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104120" y="6464808"/>
            <a:ext cx="9144" cy="128016"/>
          </a:xfrm>
          <a:prstGeom prst="rect">
            <a:avLst/>
          </a:prstGeom>
          <a:solidFill>
            <a:srgbClr val="D7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52176" y="6437376"/>
            <a:ext cx="75895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1">
                <a:solidFill>
                  <a:srgbClr val="1A202C"/>
                </a:solidFill>
                <a:latin typeface="Arial"/>
              </a:rPr>
              <a:t>HUAWEI</a:t>
            </a:r>
          </a:p>
        </p:txBody>
      </p:sp>
      <p:pic>
        <p:nvPicPr>
          <p:cNvPr id="19" name="Picture 83" descr="image.png">
            <a:extLst>
              <a:ext uri="{FF2B5EF4-FFF2-40B4-BE49-F238E27FC236}">
                <a16:creationId xmlns:a16="http://schemas.microsoft.com/office/drawing/2014/main" id="{03AE8C9C-1290-7C4F-F52D-1F6046AFF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9568" y="6382512"/>
            <a:ext cx="266315" cy="2011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4862</Words>
  <Application>Microsoft Office PowerPoint</Application>
  <PresentationFormat>宽屏</PresentationFormat>
  <Paragraphs>719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0" baseType="lpstr">
      <vt:lpstr>微软雅黑</vt:lpstr>
      <vt:lpstr>微软雅黑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yu cc</cp:lastModifiedBy>
  <cp:revision>30</cp:revision>
  <dcterms:created xsi:type="dcterms:W3CDTF">2013-01-27T09:14:16Z</dcterms:created>
  <dcterms:modified xsi:type="dcterms:W3CDTF">2026-05-13T17:04:55Z</dcterms:modified>
  <cp:category/>
</cp:coreProperties>
</file>